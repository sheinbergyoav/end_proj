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308" r:id="rId5"/>
    <p:sldId id="309" r:id="rId6"/>
    <p:sldId id="310" r:id="rId7"/>
    <p:sldId id="311" r:id="rId8"/>
    <p:sldId id="312" r:id="rId9"/>
    <p:sldId id="313" r:id="rId10"/>
    <p:sldId id="314" r:id="rId11"/>
    <p:sldId id="315"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91"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120"/>
    <p:restoredTop sz="88177" autoAdjust="0"/>
  </p:normalViewPr>
  <p:slideViewPr>
    <p:cSldViewPr snapToGrid="0" snapToObjects="1">
      <p:cViewPr varScale="1">
        <p:scale>
          <a:sx n="56" d="100"/>
          <a:sy n="56" d="100"/>
        </p:scale>
        <p:origin x="1376"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B18C18-3FC3-4062-B290-054553EAF97A}" type="datetimeFigureOut">
              <a:rPr lang="en-IL" smtClean="0"/>
              <a:t>27/09/2026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BA8379-D9C5-4CE3-8B4D-43AFDCD47F13}" type="slidenum">
              <a:rPr lang="en-IL" smtClean="0"/>
              <a:t>‹#›</a:t>
            </a:fld>
            <a:endParaRPr lang="en-IL"/>
          </a:p>
        </p:txBody>
      </p:sp>
    </p:spTree>
    <p:extLst>
      <p:ext uri="{BB962C8B-B14F-4D97-AF65-F5344CB8AC3E}">
        <p14:creationId xmlns:p14="http://schemas.microsoft.com/office/powerpoint/2010/main" val="2452001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rtl="0"/>
                <a:r>
                  <a:rPr lang="en-IL" sz="1200" kern="1200" dirty="0">
                    <a:solidFill>
                      <a:schemeClr val="tx1"/>
                    </a:solidFill>
                    <a:effectLst/>
                    <a:latin typeface="+mn-lt"/>
                    <a:ea typeface="+mn-ea"/>
                    <a:cs typeface="+mn-cs"/>
                  </a:rPr>
                  <a:t>The numbers in the slide are derived from the </a:t>
                </a:r>
                <a:r>
                  <a:rPr lang="en-IL" sz="1200" b="1" kern="1200" dirty="0">
                    <a:solidFill>
                      <a:schemeClr val="tx1"/>
                    </a:solidFill>
                    <a:effectLst/>
                    <a:latin typeface="+mn-lt"/>
                    <a:ea typeface="+mn-ea"/>
                    <a:cs typeface="+mn-cs"/>
                  </a:rPr>
                  <a:t>TinyStories-15M</a:t>
                </a:r>
                <a:r>
                  <a:rPr lang="en-IL" sz="1200" kern="1200" dirty="0">
                    <a:solidFill>
                      <a:schemeClr val="tx1"/>
                    </a:solidFill>
                    <a:effectLst/>
                    <a:latin typeface="+mn-lt"/>
                    <a:ea typeface="+mn-ea"/>
                    <a:cs typeface="+mn-cs"/>
                  </a:rPr>
                  <a:t> architecture and the mathematics of the KV-cache.</a:t>
                </a:r>
              </a:p>
              <a:p>
                <a:pPr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rtl="0"/>
                <a:r>
                  <a:rPr lang="en-IL" sz="1200" b="1" kern="1200" dirty="0">
                    <a:solidFill>
                      <a:schemeClr val="tx1"/>
                    </a:solidFill>
                    <a:effectLst/>
                    <a:latin typeface="+mn-lt"/>
                    <a:ea typeface="+mn-ea"/>
                    <a:cs typeface="+mn-cs"/>
                  </a:rPr>
                  <a:t>1. Model Architecture Parameters (TinyStories-15M)</a:t>
                </a:r>
              </a:p>
              <a:p>
                <a:pPr lvl="0" rtl="0"/>
                <a:r>
                  <a:rPr lang="en-IL" sz="1200" b="1" kern="1200" dirty="0">
                    <a:solidFill>
                      <a:schemeClr val="tx1"/>
                    </a:solidFill>
                    <a:effectLst/>
                    <a:latin typeface="+mn-lt"/>
                    <a:ea typeface="+mn-ea"/>
                    <a:cs typeface="+mn-cs"/>
                  </a:rPr>
                  <a:t>Number of layers (</a:t>
                </a:r>
                <a14:m>
                  <m:oMath xmlns:m="http://schemas.openxmlformats.org/officeDocument/2006/math">
                    <m:r>
                      <a:rPr lang="en-IL" sz="1200" i="1" kern="1200" smtClean="0">
                        <a:solidFill>
                          <a:schemeClr val="tx1"/>
                        </a:solidFill>
                        <a:latin typeface="+mn-lt"/>
                        <a:ea typeface="+mn-ea"/>
                        <a:cs typeface="+mn-cs"/>
                      </a:rPr>
                      <m:t>𝐿</m:t>
                    </m:r>
                  </m:oMath>
                </a14:m>
                <a:r>
                  <a:rPr lang="en-IL" sz="1200" b="1" kern="1200" dirty="0">
                    <a:solidFill>
                      <a:schemeClr val="tx1"/>
                    </a:solidFill>
                    <a:effectLst/>
                    <a:latin typeface="+mn-lt"/>
                    <a:ea typeface="+mn-ea"/>
                    <a:cs typeface="+mn-cs"/>
                  </a:rPr>
                  <a:t>):</a:t>
                </a:r>
                <a:r>
                  <a:rPr lang="en-IL" sz="1200" kern="1200" dirty="0">
                    <a:solidFill>
                      <a:schemeClr val="tx1"/>
                    </a:solidFill>
                    <a:effectLst/>
                    <a:latin typeface="+mn-lt"/>
                    <a:ea typeface="+mn-ea"/>
                    <a:cs typeface="+mn-cs"/>
                  </a:rPr>
                  <a:t> 6</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Hidden dimension (</a:t>
                </a:r>
                <a14:m>
                  <m:oMath xmlns:m="http://schemas.openxmlformats.org/officeDocument/2006/math">
                    <m:sSub>
                      <m:sSubPr>
                        <m:ctrlPr>
                          <a:rPr lang="en-IL" sz="1200" i="1" kern="1200">
                            <a:solidFill>
                              <a:schemeClr val="tx1"/>
                            </a:solidFill>
                            <a:latin typeface="+mn-lt"/>
                            <a:ea typeface="+mn-ea"/>
                            <a:cs typeface="+mn-cs"/>
                          </a:rPr>
                        </m:ctrlPr>
                      </m:sSubPr>
                      <m:e>
                        <m:r>
                          <a:rPr lang="en-IL" sz="1200" i="1" kern="1200">
                            <a:solidFill>
                              <a:schemeClr val="tx1"/>
                            </a:solidFill>
                            <a:latin typeface="+mn-lt"/>
                            <a:ea typeface="+mn-ea"/>
                            <a:cs typeface="+mn-cs"/>
                          </a:rPr>
                          <m:t>𝑑</m:t>
                        </m:r>
                      </m:e>
                      <m:sub>
                        <m:r>
                          <m:rPr>
                            <m:nor/>
                          </m:rPr>
                          <a:rPr lang="en-IL" sz="1200" i="0" kern="1200">
                            <a:solidFill>
                              <a:schemeClr val="tx1"/>
                            </a:solidFill>
                            <a:latin typeface="+mn-lt"/>
                            <a:ea typeface="+mn-ea"/>
                            <a:cs typeface="+mn-cs"/>
                          </a:rPr>
                          <m:t>model</m:t>
                        </m:r>
                      </m:sub>
                    </m:sSub>
                  </m:oMath>
                </a14:m>
                <a:r>
                  <a:rPr lang="en-IL" sz="1200" b="1" kern="1200" dirty="0">
                    <a:solidFill>
                      <a:schemeClr val="tx1"/>
                    </a:solidFill>
                    <a:effectLst/>
                    <a:latin typeface="+mn-lt"/>
                    <a:ea typeface="+mn-ea"/>
                    <a:cs typeface="+mn-cs"/>
                  </a:rPr>
                  <a:t>):</a:t>
                </a:r>
                <a:r>
                  <a:rPr lang="en-IL" sz="1200" kern="1200" dirty="0">
                    <a:solidFill>
                      <a:schemeClr val="tx1"/>
                    </a:solidFill>
                    <a:effectLst/>
                    <a:latin typeface="+mn-lt"/>
                    <a:ea typeface="+mn-ea"/>
                    <a:cs typeface="+mn-cs"/>
                  </a:rPr>
                  <a:t> 288</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Attention heads (</a:t>
                </a:r>
                <a14:m>
                  <m:oMath xmlns:m="http://schemas.openxmlformats.org/officeDocument/2006/math">
                    <m:r>
                      <a:rPr lang="en-IL" sz="1200" i="1" kern="1200" smtClean="0">
                        <a:solidFill>
                          <a:schemeClr val="tx1"/>
                        </a:solidFill>
                        <a:latin typeface="+mn-lt"/>
                        <a:ea typeface="+mn-ea"/>
                        <a:cs typeface="+mn-cs"/>
                      </a:rPr>
                      <m:t>ℎ</m:t>
                    </m:r>
                  </m:oMath>
                </a14:m>
                <a:r>
                  <a:rPr lang="en-IL" sz="1200" b="1" kern="1200" dirty="0">
                    <a:solidFill>
                      <a:schemeClr val="tx1"/>
                    </a:solidFill>
                    <a:effectLst/>
                    <a:latin typeface="+mn-lt"/>
                    <a:ea typeface="+mn-ea"/>
                    <a:cs typeface="+mn-cs"/>
                  </a:rPr>
                  <a:t>):</a:t>
                </a:r>
                <a:r>
                  <a:rPr lang="en-IL" sz="1200" kern="1200" dirty="0">
                    <a:solidFill>
                      <a:schemeClr val="tx1"/>
                    </a:solidFill>
                    <a:effectLst/>
                    <a:latin typeface="+mn-lt"/>
                    <a:ea typeface="+mn-ea"/>
                    <a:cs typeface="+mn-cs"/>
                  </a:rPr>
                  <a:t> 6 (with head dimension </a:t>
                </a:r>
                <a14:m>
                  <m:oMath xmlns:m="http://schemas.openxmlformats.org/officeDocument/2006/math">
                    <m:sSub>
                      <m:sSubPr>
                        <m:ctrlPr>
                          <a:rPr lang="en-IL" sz="1200" i="1" kern="1200">
                            <a:solidFill>
                              <a:schemeClr val="tx1"/>
                            </a:solidFill>
                            <a:latin typeface="+mn-lt"/>
                            <a:ea typeface="+mn-ea"/>
                            <a:cs typeface="+mn-cs"/>
                          </a:rPr>
                        </m:ctrlPr>
                      </m:sSubPr>
                      <m:e>
                        <m:r>
                          <a:rPr lang="en-IL" sz="1200" i="1" kern="1200">
                            <a:solidFill>
                              <a:schemeClr val="tx1"/>
                            </a:solidFill>
                            <a:latin typeface="+mn-lt"/>
                            <a:ea typeface="+mn-ea"/>
                            <a:cs typeface="+mn-cs"/>
                          </a:rPr>
                          <m:t>𝑑</m:t>
                        </m:r>
                      </m:e>
                      <m:sub>
                        <m:r>
                          <a:rPr lang="en-IL" sz="1200" i="1" kern="1200">
                            <a:solidFill>
                              <a:schemeClr val="tx1"/>
                            </a:solidFill>
                            <a:latin typeface="+mn-lt"/>
                            <a:ea typeface="+mn-ea"/>
                            <a:cs typeface="+mn-cs"/>
                          </a:rPr>
                          <m:t>𝑘</m:t>
                        </m:r>
                      </m:sub>
                    </m:sSub>
                    <m:r>
                      <a:rPr lang="en-IL" sz="1200" i="0" kern="1200">
                        <a:solidFill>
                          <a:schemeClr val="tx1"/>
                        </a:solidFill>
                        <a:latin typeface="+mn-lt"/>
                        <a:ea typeface="+mn-ea"/>
                        <a:cs typeface="+mn-cs"/>
                      </a:rPr>
                      <m:t>=288/6=48</m:t>
                    </m:r>
                  </m:oMath>
                </a14:m>
                <a:r>
                  <a:rPr lang="en-IL" sz="1200" kern="1200" dirty="0">
                    <a:solidFill>
                      <a:schemeClr val="tx1"/>
                    </a:solidFill>
                    <a:effectLst/>
                    <a:latin typeface="+mn-lt"/>
                    <a:ea typeface="+mn-ea"/>
                    <a:cs typeface="+mn-cs"/>
                  </a:rPr>
                  <a:t>)</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Data Type (FP32):</a:t>
                </a:r>
                <a:r>
                  <a:rPr lang="en-IL" sz="1200" kern="1200" dirty="0">
                    <a:solidFill>
                      <a:schemeClr val="tx1"/>
                    </a:solidFill>
                    <a:effectLst/>
                    <a:latin typeface="+mn-lt"/>
                    <a:ea typeface="+mn-ea"/>
                    <a:cs typeface="+mn-cs"/>
                  </a:rPr>
                  <a:t> 4 Bytes per value</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rtl="0"/>
                <a:r>
                  <a:rPr lang="en-IL" sz="1200" b="1" kern="1200" dirty="0">
                    <a:solidFill>
                      <a:schemeClr val="tx1"/>
                    </a:solidFill>
                    <a:effectLst/>
                    <a:latin typeface="+mn-lt"/>
                    <a:ea typeface="+mn-ea"/>
                    <a:cs typeface="+mn-cs"/>
                  </a:rPr>
                  <a:t>2. Derivation of 2,304 Bytes per Token</a:t>
                </a:r>
              </a:p>
              <a:p>
                <a:pPr rtl="0"/>
                <a:r>
                  <a:rPr lang="en-IL" sz="1200" kern="1200" dirty="0">
                    <a:solidFill>
                      <a:schemeClr val="tx1"/>
                    </a:solidFill>
                    <a:effectLst/>
                    <a:latin typeface="+mn-lt"/>
                    <a:ea typeface="+mn-ea"/>
                    <a:cs typeface="+mn-cs"/>
                  </a:rPr>
                  <a:t>For each token at each Transformer layer, the model stores one Key vector (</a:t>
                </a:r>
                <a14:m>
                  <m:oMath xmlns:m="http://schemas.openxmlformats.org/officeDocument/2006/math">
                    <m:r>
                      <a:rPr lang="en-IL" sz="1200" i="1" kern="1200" smtClean="0">
                        <a:solidFill>
                          <a:schemeClr val="tx1"/>
                        </a:solidFill>
                        <a:latin typeface="+mn-lt"/>
                        <a:ea typeface="+mn-ea"/>
                        <a:cs typeface="+mn-cs"/>
                      </a:rPr>
                      <m:t>𝐾</m:t>
                    </m:r>
                  </m:oMath>
                </a14:m>
                <a:r>
                  <a:rPr lang="en-IL" sz="1200" kern="1200" dirty="0">
                    <a:solidFill>
                      <a:schemeClr val="tx1"/>
                    </a:solidFill>
                    <a:effectLst/>
                    <a:latin typeface="+mn-lt"/>
                    <a:ea typeface="+mn-ea"/>
                    <a:cs typeface="+mn-cs"/>
                  </a:rPr>
                  <a:t>) and one Value vector (</a:t>
                </a:r>
                <a14:m>
                  <m:oMath xmlns:m="http://schemas.openxmlformats.org/officeDocument/2006/math">
                    <m:r>
                      <a:rPr lang="en-IL" sz="1200" i="1" kern="1200" smtClean="0">
                        <a:solidFill>
                          <a:schemeClr val="tx1"/>
                        </a:solidFill>
                        <a:latin typeface="+mn-lt"/>
                        <a:ea typeface="+mn-ea"/>
                        <a:cs typeface="+mn-cs"/>
                      </a:rPr>
                      <m:t>𝑉</m:t>
                    </m:r>
                  </m:oMath>
                </a14:m>
                <a:r>
                  <a:rPr lang="en-IL" sz="1200" kern="1200" dirty="0">
                    <a:solidFill>
                      <a:schemeClr val="tx1"/>
                    </a:solidFill>
                    <a:effectLst/>
                    <a:latin typeface="+mn-lt"/>
                    <a:ea typeface="+mn-ea"/>
                    <a:cs typeface="+mn-cs"/>
                  </a:rPr>
                  <a:t>):</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kern="1200" dirty="0">
                    <a:solidFill>
                      <a:schemeClr val="tx1"/>
                    </a:solidFill>
                    <a:effectLst/>
                    <a:latin typeface="+mn-lt"/>
                    <a:ea typeface="+mn-ea"/>
                    <a:cs typeface="+mn-cs"/>
                  </a:rPr>
                  <a:t>Elements in </a:t>
                </a:r>
                <a14:m>
                  <m:oMath xmlns:m="http://schemas.openxmlformats.org/officeDocument/2006/math">
                    <m:r>
                      <a:rPr lang="en-IL" sz="1200" i="1" kern="1200" smtClean="0">
                        <a:solidFill>
                          <a:schemeClr val="tx1"/>
                        </a:solidFill>
                        <a:latin typeface="+mn-lt"/>
                        <a:ea typeface="+mn-ea"/>
                        <a:cs typeface="+mn-cs"/>
                      </a:rPr>
                      <m:t>𝐾</m:t>
                    </m:r>
                  </m:oMath>
                </a14:m>
                <a:r>
                  <a:rPr lang="en-IL" sz="1200" kern="1200" dirty="0">
                    <a:solidFill>
                      <a:schemeClr val="tx1"/>
                    </a:solidFill>
                    <a:effectLst/>
                    <a:latin typeface="+mn-lt"/>
                    <a:ea typeface="+mn-ea"/>
                    <a:cs typeface="+mn-cs"/>
                  </a:rPr>
                  <a:t>: </a:t>
                </a:r>
                <a14:m>
                  <m:oMath xmlns:m="http://schemas.openxmlformats.org/officeDocument/2006/math">
                    <m:sSub>
                      <m:sSubPr>
                        <m:ctrlPr>
                          <a:rPr lang="en-IL" sz="1200" i="1" kern="1200">
                            <a:solidFill>
                              <a:schemeClr val="tx1"/>
                            </a:solidFill>
                            <a:latin typeface="+mn-lt"/>
                            <a:ea typeface="+mn-ea"/>
                            <a:cs typeface="+mn-cs"/>
                          </a:rPr>
                        </m:ctrlPr>
                      </m:sSubPr>
                      <m:e>
                        <m:r>
                          <a:rPr lang="en-IL" sz="1200" i="1" kern="1200">
                            <a:solidFill>
                              <a:schemeClr val="tx1"/>
                            </a:solidFill>
                            <a:latin typeface="+mn-lt"/>
                            <a:ea typeface="+mn-ea"/>
                            <a:cs typeface="+mn-cs"/>
                          </a:rPr>
                          <m:t>𝑑</m:t>
                        </m:r>
                      </m:e>
                      <m:sub>
                        <m:r>
                          <m:rPr>
                            <m:nor/>
                          </m:rPr>
                          <a:rPr lang="en-IL" sz="1200" i="0" kern="1200">
                            <a:solidFill>
                              <a:schemeClr val="tx1"/>
                            </a:solidFill>
                            <a:latin typeface="+mn-lt"/>
                            <a:ea typeface="+mn-ea"/>
                            <a:cs typeface="+mn-cs"/>
                          </a:rPr>
                          <m:t>model</m:t>
                        </m:r>
                      </m:sub>
                    </m:sSub>
                    <m:r>
                      <a:rPr lang="en-IL" sz="1200" i="0" kern="1200">
                        <a:solidFill>
                          <a:schemeClr val="tx1"/>
                        </a:solidFill>
                        <a:latin typeface="+mn-lt"/>
                        <a:ea typeface="+mn-ea"/>
                        <a:cs typeface="+mn-cs"/>
                      </a:rPr>
                      <m:t>=288</m:t>
                    </m:r>
                  </m:oMath>
                </a14:m>
                <a:endParaRPr lang="en-IL" sz="1200" kern="1200" dirty="0">
                  <a:solidFill>
                    <a:schemeClr val="tx1"/>
                  </a:solidFill>
                  <a:effectLst/>
                  <a:latin typeface="+mn-lt"/>
                  <a:ea typeface="+mn-ea"/>
                  <a:cs typeface="+mn-cs"/>
                </a:endParaRP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kern="1200" dirty="0">
                    <a:solidFill>
                      <a:schemeClr val="tx1"/>
                    </a:solidFill>
                    <a:effectLst/>
                    <a:latin typeface="+mn-lt"/>
                    <a:ea typeface="+mn-ea"/>
                    <a:cs typeface="+mn-cs"/>
                  </a:rPr>
                  <a:t>Elements in </a:t>
                </a:r>
                <a14:m>
                  <m:oMath xmlns:m="http://schemas.openxmlformats.org/officeDocument/2006/math">
                    <m:r>
                      <a:rPr lang="en-IL" sz="1200" i="1" kern="1200" smtClean="0">
                        <a:solidFill>
                          <a:schemeClr val="tx1"/>
                        </a:solidFill>
                        <a:latin typeface="+mn-lt"/>
                        <a:ea typeface="+mn-ea"/>
                        <a:cs typeface="+mn-cs"/>
                      </a:rPr>
                      <m:t>𝑉</m:t>
                    </m:r>
                  </m:oMath>
                </a14:m>
                <a:r>
                  <a:rPr lang="en-IL" sz="1200" kern="1200" dirty="0">
                    <a:solidFill>
                      <a:schemeClr val="tx1"/>
                    </a:solidFill>
                    <a:effectLst/>
                    <a:latin typeface="+mn-lt"/>
                    <a:ea typeface="+mn-ea"/>
                    <a:cs typeface="+mn-cs"/>
                  </a:rPr>
                  <a:t>: </a:t>
                </a:r>
                <a14:m>
                  <m:oMath xmlns:m="http://schemas.openxmlformats.org/officeDocument/2006/math">
                    <m:sSub>
                      <m:sSubPr>
                        <m:ctrlPr>
                          <a:rPr lang="en-IL" sz="1200" i="1" kern="1200">
                            <a:solidFill>
                              <a:schemeClr val="tx1"/>
                            </a:solidFill>
                            <a:latin typeface="+mn-lt"/>
                            <a:ea typeface="+mn-ea"/>
                            <a:cs typeface="+mn-cs"/>
                          </a:rPr>
                        </m:ctrlPr>
                      </m:sSubPr>
                      <m:e>
                        <m:r>
                          <a:rPr lang="en-IL" sz="1200" i="1" kern="1200">
                            <a:solidFill>
                              <a:schemeClr val="tx1"/>
                            </a:solidFill>
                            <a:latin typeface="+mn-lt"/>
                            <a:ea typeface="+mn-ea"/>
                            <a:cs typeface="+mn-cs"/>
                          </a:rPr>
                          <m:t>𝑑</m:t>
                        </m:r>
                      </m:e>
                      <m:sub>
                        <m:r>
                          <m:rPr>
                            <m:nor/>
                          </m:rPr>
                          <a:rPr lang="en-IL" sz="1200" i="0" kern="1200">
                            <a:solidFill>
                              <a:schemeClr val="tx1"/>
                            </a:solidFill>
                            <a:latin typeface="+mn-lt"/>
                            <a:ea typeface="+mn-ea"/>
                            <a:cs typeface="+mn-cs"/>
                          </a:rPr>
                          <m:t>model</m:t>
                        </m:r>
                      </m:sub>
                    </m:sSub>
                    <m:r>
                      <a:rPr lang="en-IL" sz="1200" i="0" kern="1200">
                        <a:solidFill>
                          <a:schemeClr val="tx1"/>
                        </a:solidFill>
                        <a:latin typeface="+mn-lt"/>
                        <a:ea typeface="+mn-ea"/>
                        <a:cs typeface="+mn-cs"/>
                      </a:rPr>
                      <m:t>=288</m:t>
                    </m:r>
                  </m:oMath>
                </a14:m>
                <a:endParaRPr lang="en-IL" sz="1200" kern="1200" dirty="0">
                  <a:solidFill>
                    <a:schemeClr val="tx1"/>
                  </a:solidFill>
                  <a:effectLst/>
                  <a:latin typeface="+mn-lt"/>
                  <a:ea typeface="+mn-ea"/>
                  <a:cs typeface="+mn-cs"/>
                </a:endParaRP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Total FP32 elements per layer per token:</a:t>
                </a:r>
                <a:endParaRPr lang="en-IL" sz="1200" kern="1200" dirty="0">
                  <a:solidFill>
                    <a:schemeClr val="tx1"/>
                  </a:solidFill>
                  <a:effectLst/>
                  <a:latin typeface="+mn-lt"/>
                  <a:ea typeface="+mn-ea"/>
                  <a:cs typeface="+mn-cs"/>
                </a:endParaRP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14:m>
                  <m:oMathPara xmlns:m="http://schemas.openxmlformats.org/officeDocument/2006/math">
                    <m:oMath>
                      <m:r>
                        <a:rPr lang="en-IL" sz="1200" kern="1200" smtClean="0">
                          <a:solidFill>
                            <a:schemeClr val="tx1"/>
                          </a:solidFill>
                          <a:latin typeface="+mn-lt"/>
                          <a:ea typeface="+mn-ea"/>
                          <a:cs typeface="+mn-cs"/>
                        </a:rPr>
                        <m:t>288</m:t>
                      </m:r>
                      <m:r>
                        <a:rPr lang="en-IL" sz="1200" i="0" kern="1200">
                          <a:solidFill>
                            <a:schemeClr val="tx1"/>
                          </a:solidFill>
                          <a:latin typeface="+mn-lt"/>
                          <a:ea typeface="+mn-ea"/>
                          <a:cs typeface="+mn-cs"/>
                        </a:rPr>
                        <m:t>+288=576</m:t>
                      </m:r>
                      <m:r>
                        <m:rPr>
                          <m:nor/>
                        </m:rPr>
                        <a:rPr lang="en-IL" sz="1200" i="0" kern="1200">
                          <a:solidFill>
                            <a:schemeClr val="tx1"/>
                          </a:solidFill>
                          <a:latin typeface="+mn-lt"/>
                          <a:ea typeface="+mn-ea"/>
                          <a:cs typeface="+mn-cs"/>
                        </a:rPr>
                        <m:t> elements</m:t>
                      </m:r>
                    </m:oMath>
                  </m:oMathPara>
                </a14:m>
                <a:endParaRPr lang="en-IL" sz="1200" kern="1200" dirty="0">
                  <a:solidFill>
                    <a:schemeClr val="tx1"/>
                  </a:solidFill>
                  <a:effectLst/>
                  <a:latin typeface="+mn-lt"/>
                  <a:ea typeface="+mn-ea"/>
                  <a:cs typeface="+mn-cs"/>
                </a:endParaRPr>
              </a:p>
              <a:p>
                <a:pPr rtl="0"/>
                <a:r>
                  <a:rPr lang="en-IL" sz="1200" kern="1200" dirty="0">
                    <a:solidFill>
                      <a:schemeClr val="tx1"/>
                    </a:solidFill>
                    <a:effectLst/>
                    <a:latin typeface="+mn-lt"/>
                    <a:ea typeface="+mn-ea"/>
                    <a:cs typeface="+mn-cs"/>
                  </a:rPr>
                  <a:t>Converting this to bytes:</a:t>
                </a:r>
              </a:p>
              <a:p>
                <a:pPr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rtl="0"/>
                <a14:m>
                  <m:oMathPara xmlns:m="http://schemas.openxmlformats.org/officeDocument/2006/math">
                    <m:oMath>
                      <m:r>
                        <a:rPr lang="en-IL" sz="1200" kern="1200" smtClean="0">
                          <a:solidFill>
                            <a:schemeClr val="tx1"/>
                          </a:solidFill>
                          <a:latin typeface="+mn-lt"/>
                          <a:ea typeface="+mn-ea"/>
                          <a:cs typeface="+mn-cs"/>
                        </a:rPr>
                        <m:t>576</m:t>
                      </m:r>
                      <m:r>
                        <m:rPr>
                          <m:nor/>
                        </m:rPr>
                        <a:rPr lang="en-IL" sz="1200" i="0" kern="1200">
                          <a:solidFill>
                            <a:schemeClr val="tx1"/>
                          </a:solidFill>
                          <a:latin typeface="+mn-lt"/>
                          <a:ea typeface="+mn-ea"/>
                          <a:cs typeface="+mn-cs"/>
                        </a:rPr>
                        <m:t> elements</m:t>
                      </m:r>
                      <m:r>
                        <a:rPr lang="en-IL" sz="1200" i="0" kern="1200">
                          <a:solidFill>
                            <a:schemeClr val="tx1"/>
                          </a:solidFill>
                          <a:latin typeface="+mn-lt"/>
                          <a:ea typeface="+mn-ea"/>
                          <a:cs typeface="+mn-cs"/>
                        </a:rPr>
                        <m:t>×4</m:t>
                      </m:r>
                      <m:r>
                        <m:rPr>
                          <m:nor/>
                        </m:rPr>
                        <a:rPr lang="en-IL" sz="1200" i="0" kern="1200">
                          <a:solidFill>
                            <a:schemeClr val="tx1"/>
                          </a:solidFill>
                          <a:latin typeface="+mn-lt"/>
                          <a:ea typeface="+mn-ea"/>
                          <a:cs typeface="+mn-cs"/>
                        </a:rPr>
                        <m:t> Bytes/element</m:t>
                      </m:r>
                      <m:r>
                        <a:rPr lang="en-IL" sz="1200" i="0" kern="1200">
                          <a:solidFill>
                            <a:schemeClr val="tx1"/>
                          </a:solidFill>
                          <a:latin typeface="+mn-lt"/>
                          <a:ea typeface="+mn-ea"/>
                          <a:cs typeface="+mn-cs"/>
                        </a:rPr>
                        <m:t>=</m:t>
                      </m:r>
                      <m:r>
                        <a:rPr lang="en-IL" sz="1200" b="1" i="0" kern="1200">
                          <a:solidFill>
                            <a:schemeClr val="tx1"/>
                          </a:solidFill>
                          <a:latin typeface="+mn-lt"/>
                          <a:ea typeface="+mn-ea"/>
                          <a:cs typeface="+mn-cs"/>
                        </a:rPr>
                        <m:t>𝟐</m:t>
                      </m:r>
                      <m:r>
                        <a:rPr lang="en-IL" sz="1200" b="0" i="0" kern="1200">
                          <a:solidFill>
                            <a:schemeClr val="tx1"/>
                          </a:solidFill>
                          <a:latin typeface="+mn-lt"/>
                          <a:ea typeface="+mn-ea"/>
                          <a:cs typeface="+mn-cs"/>
                        </a:rPr>
                        <m:t>,</m:t>
                      </m:r>
                      <m:r>
                        <a:rPr lang="en-IL" sz="1200" b="1" i="0" kern="1200">
                          <a:solidFill>
                            <a:schemeClr val="tx1"/>
                          </a:solidFill>
                          <a:latin typeface="+mn-lt"/>
                          <a:ea typeface="+mn-ea"/>
                          <a:cs typeface="+mn-cs"/>
                        </a:rPr>
                        <m:t>𝟑𝟎𝟒</m:t>
                      </m:r>
                      <m:r>
                        <m:rPr>
                          <m:nor/>
                        </m:rPr>
                        <a:rPr lang="en-IL" sz="1200" b="0" i="0" kern="1200">
                          <a:solidFill>
                            <a:schemeClr val="tx1"/>
                          </a:solidFill>
                          <a:latin typeface="+mn-lt"/>
                          <a:ea typeface="+mn-ea"/>
                          <a:cs typeface="+mn-cs"/>
                        </a:rPr>
                        <m:t> Bytes per token (per layer)</m:t>
                      </m:r>
                    </m:oMath>
                  </m:oMathPara>
                </a14:m>
                <a:endParaRPr lang="en-IL" sz="1200" kern="1200" dirty="0">
                  <a:solidFill>
                    <a:schemeClr val="tx1"/>
                  </a:solidFill>
                  <a:effectLst/>
                  <a:latin typeface="+mn-lt"/>
                  <a:ea typeface="+mn-ea"/>
                  <a:cs typeface="+mn-cs"/>
                </a:endParaRPr>
              </a:p>
              <a:p>
                <a:pPr rtl="0"/>
                <a:r>
                  <a:rPr lang="en-IL" sz="1200" i="1" kern="1200" dirty="0">
                    <a:solidFill>
                      <a:schemeClr val="tx1"/>
                    </a:solidFill>
                    <a:effectLst/>
                    <a:latin typeface="+mn-lt"/>
                    <a:ea typeface="+mn-ea"/>
                    <a:cs typeface="+mn-cs"/>
                  </a:rPr>
                  <a:t>(Note: Bullet 2 in the slide text states "across 6 layers", but </a:t>
                </a:r>
                <a14:m>
                  <m:oMath xmlns:m="http://schemas.openxmlformats.org/officeDocument/2006/math">
                    <m:r>
                      <a:rPr lang="en-IL" sz="1200" kern="1200" smtClean="0">
                        <a:solidFill>
                          <a:schemeClr val="tx1"/>
                        </a:solidFill>
                        <a:latin typeface="+mn-lt"/>
                        <a:ea typeface="+mn-ea"/>
                        <a:cs typeface="+mn-cs"/>
                      </a:rPr>
                      <m:t>2</m:t>
                    </m:r>
                    <m:r>
                      <a:rPr lang="en-IL" sz="1200" i="0" kern="1200">
                        <a:solidFill>
                          <a:schemeClr val="tx1"/>
                        </a:solidFill>
                        <a:latin typeface="+mn-lt"/>
                        <a:ea typeface="+mn-ea"/>
                        <a:cs typeface="+mn-cs"/>
                      </a:rPr>
                      <m:t>,304</m:t>
                    </m:r>
                    <m:r>
                      <m:rPr>
                        <m:nor/>
                      </m:rPr>
                      <a:rPr lang="en-IL" sz="1200" i="0" kern="1200">
                        <a:solidFill>
                          <a:schemeClr val="tx1"/>
                        </a:solidFill>
                        <a:latin typeface="+mn-lt"/>
                        <a:ea typeface="+mn-ea"/>
                        <a:cs typeface="+mn-cs"/>
                      </a:rPr>
                      <m:t> Bytes</m:t>
                    </m:r>
                  </m:oMath>
                </a14:m>
                <a:r>
                  <a:rPr lang="en-IL" sz="1200" i="1" kern="1200" dirty="0">
                    <a:solidFill>
                      <a:schemeClr val="tx1"/>
                    </a:solidFill>
                    <a:effectLst/>
                    <a:latin typeface="+mn-lt"/>
                    <a:ea typeface="+mn-ea"/>
                    <a:cs typeface="+mn-cs"/>
                  </a:rPr>
                  <a:t>is mathematically the size for </a:t>
                </a:r>
                <a:r>
                  <a:rPr lang="en-IL" sz="1200" b="1" i="1" kern="1200" dirty="0">
                    <a:solidFill>
                      <a:schemeClr val="tx1"/>
                    </a:solidFill>
                    <a:effectLst/>
                    <a:latin typeface="+mn-lt"/>
                    <a:ea typeface="+mn-ea"/>
                    <a:cs typeface="+mn-cs"/>
                  </a:rPr>
                  <a:t>1 layer</a:t>
                </a:r>
                <a:r>
                  <a:rPr lang="en-IL" sz="1200" i="1" kern="1200" dirty="0">
                    <a:solidFill>
                      <a:schemeClr val="tx1"/>
                    </a:solidFill>
                    <a:effectLst/>
                    <a:latin typeface="+mn-lt"/>
                    <a:ea typeface="+mn-ea"/>
                    <a:cs typeface="+mn-cs"/>
                  </a:rPr>
                  <a:t>. As shown in the next step, the factor of 6 layers is applied to reach the 3.38 MB figure).</a:t>
                </a:r>
                <a:endParaRPr lang="en-IL" sz="1200" kern="1200" dirty="0">
                  <a:solidFill>
                    <a:schemeClr val="tx1"/>
                  </a:solidFill>
                  <a:effectLst/>
                  <a:latin typeface="+mn-lt"/>
                  <a:ea typeface="+mn-ea"/>
                  <a:cs typeface="+mn-cs"/>
                </a:endParaRPr>
              </a:p>
              <a:p>
                <a:pPr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rtl="0"/>
                <a:r>
                  <a:rPr lang="en-IL" sz="1200" b="1" kern="1200" dirty="0">
                    <a:solidFill>
                      <a:schemeClr val="tx1"/>
                    </a:solidFill>
                    <a:effectLst/>
                    <a:latin typeface="+mn-lt"/>
                    <a:ea typeface="+mn-ea"/>
                    <a:cs typeface="+mn-cs"/>
                  </a:rPr>
                  <a:t>3. Derivation of 3.38 MB (for 256 Tokens)</a:t>
                </a:r>
              </a:p>
              <a:p>
                <a:pPr rtl="0"/>
                <a:r>
                  <a:rPr lang="en-IL" sz="1200" kern="1200" dirty="0">
                    <a:solidFill>
                      <a:schemeClr val="tx1"/>
                    </a:solidFill>
                    <a:effectLst/>
                    <a:latin typeface="+mn-lt"/>
                    <a:ea typeface="+mn-ea"/>
                    <a:cs typeface="+mn-cs"/>
                  </a:rPr>
                  <a:t>To get the total uncompressed KV-cache for a context window of </a:t>
                </a:r>
                <a14:m>
                  <m:oMath xmlns:m="http://schemas.openxmlformats.org/officeDocument/2006/math">
                    <m:r>
                      <a:rPr lang="en-IL" sz="1200" i="1" kern="1200" smtClean="0">
                        <a:solidFill>
                          <a:schemeClr val="tx1"/>
                        </a:solidFill>
                        <a:latin typeface="+mn-lt"/>
                        <a:ea typeface="+mn-ea"/>
                        <a:cs typeface="+mn-cs"/>
                      </a:rPr>
                      <m:t>𝑁</m:t>
                    </m:r>
                    <m:r>
                      <a:rPr lang="en-IL" sz="1200" i="0" kern="1200">
                        <a:solidFill>
                          <a:schemeClr val="tx1"/>
                        </a:solidFill>
                        <a:latin typeface="+mn-lt"/>
                        <a:ea typeface="+mn-ea"/>
                        <a:cs typeface="+mn-cs"/>
                      </a:rPr>
                      <m:t>=256</m:t>
                    </m:r>
                  </m:oMath>
                </a14:m>
                <a:r>
                  <a:rPr lang="en-IL" sz="1200" kern="1200" dirty="0">
                    <a:solidFill>
                      <a:schemeClr val="tx1"/>
                    </a:solidFill>
                    <a:effectLst/>
                    <a:latin typeface="+mn-lt"/>
                    <a:ea typeface="+mn-ea"/>
                    <a:cs typeface="+mn-cs"/>
                  </a:rPr>
                  <a:t>tokens across all </a:t>
                </a:r>
                <a14:m>
                  <m:oMath xmlns:m="http://schemas.openxmlformats.org/officeDocument/2006/math">
                    <m:r>
                      <a:rPr lang="en-IL" sz="1200" i="1" kern="1200" smtClean="0">
                        <a:solidFill>
                          <a:schemeClr val="tx1"/>
                        </a:solidFill>
                        <a:latin typeface="+mn-lt"/>
                        <a:ea typeface="+mn-ea"/>
                        <a:cs typeface="+mn-cs"/>
                      </a:rPr>
                      <m:t>𝐿</m:t>
                    </m:r>
                    <m:r>
                      <a:rPr lang="en-IL" sz="1200" i="0" kern="1200">
                        <a:solidFill>
                          <a:schemeClr val="tx1"/>
                        </a:solidFill>
                        <a:latin typeface="+mn-lt"/>
                        <a:ea typeface="+mn-ea"/>
                        <a:cs typeface="+mn-cs"/>
                      </a:rPr>
                      <m:t>=6</m:t>
                    </m:r>
                  </m:oMath>
                </a14:m>
                <a:r>
                  <a:rPr lang="en-IL" sz="1200" kern="1200" dirty="0">
                    <a:solidFill>
                      <a:schemeClr val="tx1"/>
                    </a:solidFill>
                    <a:effectLst/>
                    <a:latin typeface="+mn-lt"/>
                    <a:ea typeface="+mn-ea"/>
                    <a:cs typeface="+mn-cs"/>
                  </a:rPr>
                  <a:t>layers:</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Bytes per token across all 6 layers:</a:t>
                </a:r>
                <a:endParaRPr lang="en-IL" sz="1200" kern="1200" dirty="0">
                  <a:solidFill>
                    <a:schemeClr val="tx1"/>
                  </a:solidFill>
                  <a:effectLst/>
                  <a:latin typeface="+mn-lt"/>
                  <a:ea typeface="+mn-ea"/>
                  <a:cs typeface="+mn-cs"/>
                </a:endParaRP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14:m>
                  <m:oMathPara xmlns:m="http://schemas.openxmlformats.org/officeDocument/2006/math">
                    <m:oMath>
                      <m:r>
                        <a:rPr lang="en-IL" sz="1200" kern="1200" smtClean="0">
                          <a:solidFill>
                            <a:schemeClr val="tx1"/>
                          </a:solidFill>
                          <a:latin typeface="+mn-lt"/>
                          <a:ea typeface="+mn-ea"/>
                          <a:cs typeface="+mn-cs"/>
                        </a:rPr>
                        <m:t>2</m:t>
                      </m:r>
                      <m:r>
                        <a:rPr lang="en-IL" sz="1200" i="0" kern="1200">
                          <a:solidFill>
                            <a:schemeClr val="tx1"/>
                          </a:solidFill>
                          <a:latin typeface="+mn-lt"/>
                          <a:ea typeface="+mn-ea"/>
                          <a:cs typeface="+mn-cs"/>
                        </a:rPr>
                        <m:t>,304</m:t>
                      </m:r>
                      <m:r>
                        <m:rPr>
                          <m:nor/>
                        </m:rPr>
                        <a:rPr lang="en-IL" sz="1200" i="0" kern="1200">
                          <a:solidFill>
                            <a:schemeClr val="tx1"/>
                          </a:solidFill>
                          <a:latin typeface="+mn-lt"/>
                          <a:ea typeface="+mn-ea"/>
                          <a:cs typeface="+mn-cs"/>
                        </a:rPr>
                        <m:t> Bytes/layer</m:t>
                      </m:r>
                      <m:r>
                        <a:rPr lang="en-IL" sz="1200" i="0" kern="1200">
                          <a:solidFill>
                            <a:schemeClr val="tx1"/>
                          </a:solidFill>
                          <a:latin typeface="+mn-lt"/>
                          <a:ea typeface="+mn-ea"/>
                          <a:cs typeface="+mn-cs"/>
                        </a:rPr>
                        <m:t>×6</m:t>
                      </m:r>
                      <m:r>
                        <m:rPr>
                          <m:nor/>
                        </m:rPr>
                        <a:rPr lang="en-IL" sz="1200" i="0" kern="1200">
                          <a:solidFill>
                            <a:schemeClr val="tx1"/>
                          </a:solidFill>
                          <a:latin typeface="+mn-lt"/>
                          <a:ea typeface="+mn-ea"/>
                          <a:cs typeface="+mn-cs"/>
                        </a:rPr>
                        <m:t> layers</m:t>
                      </m:r>
                      <m:r>
                        <a:rPr lang="en-IL" sz="1200" i="0" kern="1200">
                          <a:solidFill>
                            <a:schemeClr val="tx1"/>
                          </a:solidFill>
                          <a:latin typeface="+mn-lt"/>
                          <a:ea typeface="+mn-ea"/>
                          <a:cs typeface="+mn-cs"/>
                        </a:rPr>
                        <m:t>=13,824</m:t>
                      </m:r>
                      <m:r>
                        <m:rPr>
                          <m:nor/>
                        </m:rPr>
                        <a:rPr lang="en-IL" sz="1200" i="0" kern="1200">
                          <a:solidFill>
                            <a:schemeClr val="tx1"/>
                          </a:solidFill>
                          <a:latin typeface="+mn-lt"/>
                          <a:ea typeface="+mn-ea"/>
                          <a:cs typeface="+mn-cs"/>
                        </a:rPr>
                        <m:t> Bytes/token</m:t>
                      </m:r>
                    </m:oMath>
                  </m:oMathPara>
                </a14:m>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Total bytes for 256 tokens:</a:t>
                </a:r>
                <a:endParaRPr lang="en-IL" sz="1200" kern="1200" dirty="0">
                  <a:solidFill>
                    <a:schemeClr val="tx1"/>
                  </a:solidFill>
                  <a:effectLst/>
                  <a:latin typeface="+mn-lt"/>
                  <a:ea typeface="+mn-ea"/>
                  <a:cs typeface="+mn-cs"/>
                </a:endParaRP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14:m>
                  <m:oMathPara xmlns:m="http://schemas.openxmlformats.org/officeDocument/2006/math">
                    <m:oMath>
                      <m:r>
                        <a:rPr lang="en-IL" sz="1200" kern="1200" smtClean="0">
                          <a:solidFill>
                            <a:schemeClr val="tx1"/>
                          </a:solidFill>
                          <a:latin typeface="+mn-lt"/>
                          <a:ea typeface="+mn-ea"/>
                          <a:cs typeface="+mn-cs"/>
                        </a:rPr>
                        <m:t>13</m:t>
                      </m:r>
                      <m:r>
                        <a:rPr lang="en-IL" sz="1200" i="0" kern="1200">
                          <a:solidFill>
                            <a:schemeClr val="tx1"/>
                          </a:solidFill>
                          <a:latin typeface="+mn-lt"/>
                          <a:ea typeface="+mn-ea"/>
                          <a:cs typeface="+mn-cs"/>
                        </a:rPr>
                        <m:t>,824</m:t>
                      </m:r>
                      <m:r>
                        <m:rPr>
                          <m:nor/>
                        </m:rPr>
                        <a:rPr lang="en-IL" sz="1200" i="0" kern="1200">
                          <a:solidFill>
                            <a:schemeClr val="tx1"/>
                          </a:solidFill>
                          <a:latin typeface="+mn-lt"/>
                          <a:ea typeface="+mn-ea"/>
                          <a:cs typeface="+mn-cs"/>
                        </a:rPr>
                        <m:t> Bytes/token</m:t>
                      </m:r>
                      <m:r>
                        <a:rPr lang="en-IL" sz="1200" i="0" kern="1200">
                          <a:solidFill>
                            <a:schemeClr val="tx1"/>
                          </a:solidFill>
                          <a:latin typeface="+mn-lt"/>
                          <a:ea typeface="+mn-ea"/>
                          <a:cs typeface="+mn-cs"/>
                        </a:rPr>
                        <m:t>×256</m:t>
                      </m:r>
                      <m:r>
                        <m:rPr>
                          <m:nor/>
                        </m:rPr>
                        <a:rPr lang="en-IL" sz="1200" i="0" kern="1200">
                          <a:solidFill>
                            <a:schemeClr val="tx1"/>
                          </a:solidFill>
                          <a:latin typeface="+mn-lt"/>
                          <a:ea typeface="+mn-ea"/>
                          <a:cs typeface="+mn-cs"/>
                        </a:rPr>
                        <m:t> tokens</m:t>
                      </m:r>
                      <m:r>
                        <a:rPr lang="en-IL" sz="1200" i="0" kern="1200">
                          <a:solidFill>
                            <a:schemeClr val="tx1"/>
                          </a:solidFill>
                          <a:latin typeface="+mn-lt"/>
                          <a:ea typeface="+mn-ea"/>
                          <a:cs typeface="+mn-cs"/>
                        </a:rPr>
                        <m:t>=3,538,944</m:t>
                      </m:r>
                      <m:r>
                        <m:rPr>
                          <m:nor/>
                        </m:rPr>
                        <a:rPr lang="en-IL" sz="1200" i="0" kern="1200">
                          <a:solidFill>
                            <a:schemeClr val="tx1"/>
                          </a:solidFill>
                          <a:latin typeface="+mn-lt"/>
                          <a:ea typeface="+mn-ea"/>
                          <a:cs typeface="+mn-cs"/>
                        </a:rPr>
                        <m:t> Bytes</m:t>
                      </m:r>
                    </m:oMath>
                  </m:oMathPara>
                </a14:m>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Convert to Megabytes (binary </a:t>
                </a:r>
                <a14:m>
                  <m:oMath xmlns:m="http://schemas.openxmlformats.org/officeDocument/2006/math">
                    <m:r>
                      <m:rPr>
                        <m:nor/>
                      </m:rPr>
                      <a:rPr lang="en-IL" sz="1200" i="0" kern="1200" smtClean="0">
                        <a:solidFill>
                          <a:schemeClr val="tx1"/>
                        </a:solidFill>
                        <a:latin typeface="+mn-lt"/>
                        <a:ea typeface="+mn-ea"/>
                        <a:cs typeface="+mn-cs"/>
                      </a:rPr>
                      <m:t>MiB</m:t>
                    </m:r>
                  </m:oMath>
                </a14:m>
                <a:r>
                  <a:rPr lang="en-IL" sz="1200" b="1" kern="1200" dirty="0">
                    <a:solidFill>
                      <a:schemeClr val="tx1"/>
                    </a:solidFill>
                    <a:effectLst/>
                    <a:latin typeface="+mn-lt"/>
                    <a:ea typeface="+mn-ea"/>
                    <a:cs typeface="+mn-cs"/>
                  </a:rPr>
                  <a:t>):</a:t>
                </a:r>
                <a:endParaRPr lang="en-IL" sz="1200" kern="1200" dirty="0">
                  <a:solidFill>
                    <a:schemeClr val="tx1"/>
                  </a:solidFill>
                  <a:effectLst/>
                  <a:latin typeface="+mn-lt"/>
                  <a:ea typeface="+mn-ea"/>
                  <a:cs typeface="+mn-cs"/>
                </a:endParaRP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14:m>
                  <m:oMathPara xmlns:m="http://schemas.openxmlformats.org/officeDocument/2006/math">
                    <m:oMath>
                      <m:f>
                        <m:fPr>
                          <m:ctrlPr>
                            <a:rPr lang="en-IL" sz="1200" kern="1200">
                              <a:solidFill>
                                <a:schemeClr val="tx1"/>
                              </a:solidFill>
                              <a:latin typeface="+mn-lt"/>
                              <a:ea typeface="+mn-ea"/>
                              <a:cs typeface="+mn-cs"/>
                            </a:rPr>
                          </m:ctrlPr>
                        </m:fPr>
                        <m:num>
                          <m:r>
                            <a:rPr lang="en-IL" sz="1200" kern="1200">
                              <a:solidFill>
                                <a:schemeClr val="tx1"/>
                              </a:solidFill>
                              <a:latin typeface="+mn-lt"/>
                              <a:ea typeface="+mn-ea"/>
                              <a:cs typeface="+mn-cs"/>
                            </a:rPr>
                            <m:t>3</m:t>
                          </m:r>
                          <m:r>
                            <a:rPr lang="en-IL" sz="1200" i="0" kern="1200">
                              <a:solidFill>
                                <a:schemeClr val="tx1"/>
                              </a:solidFill>
                              <a:latin typeface="+mn-lt"/>
                              <a:ea typeface="+mn-ea"/>
                              <a:cs typeface="+mn-cs"/>
                            </a:rPr>
                            <m:t>,538,944</m:t>
                          </m:r>
                          <m:r>
                            <m:rPr>
                              <m:nor/>
                            </m:rPr>
                            <a:rPr lang="en-IL" sz="1200" i="0" kern="1200">
                              <a:solidFill>
                                <a:schemeClr val="tx1"/>
                              </a:solidFill>
                              <a:latin typeface="+mn-lt"/>
                              <a:ea typeface="+mn-ea"/>
                              <a:cs typeface="+mn-cs"/>
                            </a:rPr>
                            <m:t> Bytes</m:t>
                          </m:r>
                        </m:num>
                        <m:den>
                          <m:r>
                            <a:rPr lang="en-IL" sz="1200" i="0" kern="1200">
                              <a:solidFill>
                                <a:schemeClr val="tx1"/>
                              </a:solidFill>
                              <a:latin typeface="+mn-lt"/>
                              <a:ea typeface="+mn-ea"/>
                              <a:cs typeface="+mn-cs"/>
                            </a:rPr>
                            <m:t>1024×1024</m:t>
                          </m:r>
                        </m:den>
                      </m:f>
                      <m:r>
                        <a:rPr lang="en-IL" sz="1200" i="0" kern="1200">
                          <a:solidFill>
                            <a:schemeClr val="tx1"/>
                          </a:solidFill>
                          <a:latin typeface="+mn-lt"/>
                          <a:ea typeface="+mn-ea"/>
                          <a:cs typeface="+mn-cs"/>
                        </a:rPr>
                        <m:t>=</m:t>
                      </m:r>
                      <m:f>
                        <m:fPr>
                          <m:ctrlPr>
                            <a:rPr lang="en-IL" sz="1200" i="0" kern="1200">
                              <a:solidFill>
                                <a:schemeClr val="tx1"/>
                              </a:solidFill>
                              <a:latin typeface="+mn-lt"/>
                              <a:ea typeface="+mn-ea"/>
                              <a:cs typeface="+mn-cs"/>
                            </a:rPr>
                          </m:ctrlPr>
                        </m:fPr>
                        <m:num>
                          <m:r>
                            <a:rPr lang="en-IL" sz="1200" i="0" kern="1200">
                              <a:solidFill>
                                <a:schemeClr val="tx1"/>
                              </a:solidFill>
                              <a:latin typeface="+mn-lt"/>
                              <a:ea typeface="+mn-ea"/>
                              <a:cs typeface="+mn-cs"/>
                            </a:rPr>
                            <m:t>3,538,944</m:t>
                          </m:r>
                        </m:num>
                        <m:den>
                          <m:r>
                            <a:rPr lang="en-IL" sz="1200" i="0" kern="1200">
                              <a:solidFill>
                                <a:schemeClr val="tx1"/>
                              </a:solidFill>
                              <a:latin typeface="+mn-lt"/>
                              <a:ea typeface="+mn-ea"/>
                              <a:cs typeface="+mn-cs"/>
                            </a:rPr>
                            <m:t>1,048,576</m:t>
                          </m:r>
                        </m:den>
                      </m:f>
                      <m:r>
                        <a:rPr lang="en-IL" sz="1200" i="0" kern="1200">
                          <a:solidFill>
                            <a:schemeClr val="tx1"/>
                          </a:solidFill>
                          <a:latin typeface="+mn-lt"/>
                          <a:ea typeface="+mn-ea"/>
                          <a:cs typeface="+mn-cs"/>
                        </a:rPr>
                        <m:t>=3.375</m:t>
                      </m:r>
                      <m:r>
                        <m:rPr>
                          <m:nor/>
                        </m:rPr>
                        <a:rPr lang="en-IL" sz="1200" i="0" kern="1200">
                          <a:solidFill>
                            <a:schemeClr val="tx1"/>
                          </a:solidFill>
                          <a:latin typeface="+mn-lt"/>
                          <a:ea typeface="+mn-ea"/>
                          <a:cs typeface="+mn-cs"/>
                        </a:rPr>
                        <m:t> MiB</m:t>
                      </m:r>
                      <m:r>
                        <a:rPr lang="en-IL" sz="1200" i="0" kern="1200">
                          <a:solidFill>
                            <a:schemeClr val="tx1"/>
                          </a:solidFill>
                          <a:latin typeface="+mn-lt"/>
                          <a:ea typeface="+mn-ea"/>
                          <a:cs typeface="+mn-cs"/>
                        </a:rPr>
                        <m:t>≈</m:t>
                      </m:r>
                      <m:r>
                        <a:rPr lang="en-IL" sz="1200" b="1" i="0" kern="1200">
                          <a:solidFill>
                            <a:schemeClr val="tx1"/>
                          </a:solidFill>
                          <a:latin typeface="+mn-lt"/>
                          <a:ea typeface="+mn-ea"/>
                          <a:cs typeface="+mn-cs"/>
                        </a:rPr>
                        <m:t>𝟑</m:t>
                      </m:r>
                      <m:r>
                        <a:rPr lang="en-IL" sz="1200" b="0" i="0" kern="1200">
                          <a:solidFill>
                            <a:schemeClr val="tx1"/>
                          </a:solidFill>
                          <a:latin typeface="+mn-lt"/>
                          <a:ea typeface="+mn-ea"/>
                          <a:cs typeface="+mn-cs"/>
                        </a:rPr>
                        <m:t>.</m:t>
                      </m:r>
                      <m:r>
                        <a:rPr lang="en-IL" sz="1200" b="1" i="0" kern="1200">
                          <a:solidFill>
                            <a:schemeClr val="tx1"/>
                          </a:solidFill>
                          <a:latin typeface="+mn-lt"/>
                          <a:ea typeface="+mn-ea"/>
                          <a:cs typeface="+mn-cs"/>
                        </a:rPr>
                        <m:t>𝟑𝟖</m:t>
                      </m:r>
                      <m:r>
                        <m:rPr>
                          <m:nor/>
                        </m:rPr>
                        <a:rPr lang="en-IL" sz="1200" b="0" i="0" kern="1200">
                          <a:solidFill>
                            <a:schemeClr val="tx1"/>
                          </a:solidFill>
                          <a:latin typeface="+mn-lt"/>
                          <a:ea typeface="+mn-ea"/>
                          <a:cs typeface="+mn-cs"/>
                        </a:rPr>
                        <m:t> MB</m:t>
                      </m:r>
                    </m:oMath>
                  </m:oMathPara>
                </a14:m>
                <a:endParaRPr lang="en-IL" sz="1200" kern="1200" dirty="0">
                  <a:solidFill>
                    <a:schemeClr val="tx1"/>
                  </a:solidFill>
                  <a:effectLst/>
                  <a:latin typeface="+mn-lt"/>
                  <a:ea typeface="+mn-ea"/>
                  <a:cs typeface="+mn-cs"/>
                </a:endParaRPr>
              </a:p>
              <a:p>
                <a:pPr rtl="0"/>
                <a:r>
                  <a:rPr lang="en-IL" sz="1200" b="1" kern="1200" dirty="0">
                    <a:solidFill>
                      <a:schemeClr val="tx1"/>
                    </a:solidFill>
                    <a:effectLst/>
                    <a:latin typeface="+mn-lt"/>
                    <a:ea typeface="+mn-ea"/>
                    <a:cs typeface="+mn-cs"/>
                  </a:rPr>
                  <a:t>4. Derivation of 384 Bytes/Token and 0.56 MB (</a:t>
                </a:r>
                <a:r>
                  <a:rPr lang="en-IL" sz="1200" b="1" kern="1200" dirty="0" err="1">
                    <a:solidFill>
                      <a:schemeClr val="tx1"/>
                    </a:solidFill>
                    <a:effectLst/>
                    <a:latin typeface="+mn-lt"/>
                    <a:ea typeface="+mn-ea"/>
                    <a:cs typeface="+mn-cs"/>
                  </a:rPr>
                  <a:t>TurboQuant</a:t>
                </a:r>
                <a:r>
                  <a:rPr lang="en-IL" sz="1200" b="1" kern="1200" dirty="0">
                    <a:solidFill>
                      <a:schemeClr val="tx1"/>
                    </a:solidFill>
                    <a:effectLst/>
                    <a:latin typeface="+mn-lt"/>
                    <a:ea typeface="+mn-ea"/>
                    <a:cs typeface="+mn-cs"/>
                  </a:rPr>
                  <a:t>)</a:t>
                </a:r>
              </a:p>
              <a:p>
                <a:pPr rtl="0"/>
                <a:r>
                  <a:rPr lang="en-IL" sz="1200" kern="1200" dirty="0">
                    <a:solidFill>
                      <a:schemeClr val="tx1"/>
                    </a:solidFill>
                    <a:effectLst/>
                    <a:latin typeface="+mn-lt"/>
                    <a:ea typeface="+mn-ea"/>
                    <a:cs typeface="+mn-cs"/>
                  </a:rPr>
                  <a:t>The slide applies a </a:t>
                </a:r>
                <a14:m>
                  <m:oMath xmlns:m="http://schemas.openxmlformats.org/officeDocument/2006/math">
                    <m:r>
                      <a:rPr lang="en-IL" sz="1200" kern="1200" smtClean="0">
                        <a:solidFill>
                          <a:schemeClr val="tx1"/>
                        </a:solidFill>
                        <a:latin typeface="+mn-lt"/>
                        <a:ea typeface="+mn-ea"/>
                        <a:cs typeface="+mn-cs"/>
                      </a:rPr>
                      <m:t>6</m:t>
                    </m:r>
                    <m:r>
                      <a:rPr lang="en-IL" sz="1200" i="0" kern="1200">
                        <a:solidFill>
                          <a:schemeClr val="tx1"/>
                        </a:solidFill>
                        <a:latin typeface="+mn-lt"/>
                        <a:ea typeface="+mn-ea"/>
                        <a:cs typeface="+mn-cs"/>
                      </a:rPr>
                      <m:t>×</m:t>
                    </m:r>
                  </m:oMath>
                </a14:m>
                <a:r>
                  <a:rPr lang="en-IL" sz="1200" b="1" kern="1200" dirty="0">
                    <a:solidFill>
                      <a:schemeClr val="tx1"/>
                    </a:solidFill>
                    <a:effectLst/>
                    <a:latin typeface="+mn-lt"/>
                    <a:ea typeface="+mn-ea"/>
                    <a:cs typeface="+mn-cs"/>
                  </a:rPr>
                  <a:t>compression factor</a:t>
                </a:r>
                <a:r>
                  <a:rPr lang="en-IL" sz="1200" kern="1200" dirty="0">
                    <a:solidFill>
                      <a:schemeClr val="tx1"/>
                    </a:solidFill>
                    <a:effectLst/>
                    <a:latin typeface="+mn-lt"/>
                    <a:ea typeface="+mn-ea"/>
                    <a:cs typeface="+mn-cs"/>
                  </a:rPr>
                  <a:t> to compress FP32 (32-bit float) down to </a:t>
                </a:r>
                <a:r>
                  <a:rPr lang="en-IL" sz="1200" kern="1200" dirty="0" err="1">
                    <a:solidFill>
                      <a:schemeClr val="tx1"/>
                    </a:solidFill>
                    <a:effectLst/>
                    <a:latin typeface="+mn-lt"/>
                    <a:ea typeface="+mn-ea"/>
                    <a:cs typeface="+mn-cs"/>
                  </a:rPr>
                  <a:t>TurboQuant's</a:t>
                </a:r>
                <a:r>
                  <a:rPr lang="en-IL" sz="1200" kern="1200" dirty="0">
                    <a:solidFill>
                      <a:schemeClr val="tx1"/>
                    </a:solidFill>
                    <a:effectLst/>
                    <a:latin typeface="+mn-lt"/>
                    <a:ea typeface="+mn-ea"/>
                    <a:cs typeface="+mn-cs"/>
                  </a:rPr>
                  <a:t> quantized representation (~5.33 bits effective per value, accounting for 4-bit centroid indices, 1-bit residual signs, and scale offsets):</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Compressed bytes per layer per token:</a:t>
                </a:r>
                <a:endParaRPr lang="en-IL" sz="1200" kern="1200" dirty="0">
                  <a:solidFill>
                    <a:schemeClr val="tx1"/>
                  </a:solidFill>
                  <a:effectLst/>
                  <a:latin typeface="+mn-lt"/>
                  <a:ea typeface="+mn-ea"/>
                  <a:cs typeface="+mn-cs"/>
                </a:endParaRP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14:m>
                  <m:oMathPara xmlns:m="http://schemas.openxmlformats.org/officeDocument/2006/math">
                    <m:oMath>
                      <m:f>
                        <m:fPr>
                          <m:ctrlPr>
                            <a:rPr lang="en-IL" sz="1200" kern="1200">
                              <a:solidFill>
                                <a:schemeClr val="tx1"/>
                              </a:solidFill>
                              <a:latin typeface="+mn-lt"/>
                              <a:ea typeface="+mn-ea"/>
                              <a:cs typeface="+mn-cs"/>
                            </a:rPr>
                          </m:ctrlPr>
                        </m:fPr>
                        <m:num>
                          <m:r>
                            <a:rPr lang="en-IL" sz="1200" kern="1200">
                              <a:solidFill>
                                <a:schemeClr val="tx1"/>
                              </a:solidFill>
                              <a:latin typeface="+mn-lt"/>
                              <a:ea typeface="+mn-ea"/>
                              <a:cs typeface="+mn-cs"/>
                            </a:rPr>
                            <m:t>2</m:t>
                          </m:r>
                          <m:r>
                            <a:rPr lang="en-IL" sz="1200" i="0" kern="1200">
                              <a:solidFill>
                                <a:schemeClr val="tx1"/>
                              </a:solidFill>
                              <a:latin typeface="+mn-lt"/>
                              <a:ea typeface="+mn-ea"/>
                              <a:cs typeface="+mn-cs"/>
                            </a:rPr>
                            <m:t>,304</m:t>
                          </m:r>
                          <m:r>
                            <m:rPr>
                              <m:nor/>
                            </m:rPr>
                            <a:rPr lang="en-IL" sz="1200" i="0" kern="1200">
                              <a:solidFill>
                                <a:schemeClr val="tx1"/>
                              </a:solidFill>
                              <a:latin typeface="+mn-lt"/>
                              <a:ea typeface="+mn-ea"/>
                              <a:cs typeface="+mn-cs"/>
                            </a:rPr>
                            <m:t> Bytes</m:t>
                          </m:r>
                        </m:num>
                        <m:den>
                          <m:r>
                            <a:rPr lang="en-IL" sz="1200" i="0" kern="1200">
                              <a:solidFill>
                                <a:schemeClr val="tx1"/>
                              </a:solidFill>
                              <a:latin typeface="+mn-lt"/>
                              <a:ea typeface="+mn-ea"/>
                              <a:cs typeface="+mn-cs"/>
                            </a:rPr>
                            <m:t>6</m:t>
                          </m:r>
                        </m:den>
                      </m:f>
                      <m:r>
                        <a:rPr lang="en-IL" sz="1200" i="0" kern="1200">
                          <a:solidFill>
                            <a:schemeClr val="tx1"/>
                          </a:solidFill>
                          <a:latin typeface="+mn-lt"/>
                          <a:ea typeface="+mn-ea"/>
                          <a:cs typeface="+mn-cs"/>
                        </a:rPr>
                        <m:t>=</m:t>
                      </m:r>
                      <m:r>
                        <a:rPr lang="en-IL" sz="1200" b="1" i="0" kern="1200">
                          <a:solidFill>
                            <a:schemeClr val="tx1"/>
                          </a:solidFill>
                          <a:latin typeface="+mn-lt"/>
                          <a:ea typeface="+mn-ea"/>
                          <a:cs typeface="+mn-cs"/>
                        </a:rPr>
                        <m:t>𝟑𝟖𝟒</m:t>
                      </m:r>
                      <m:r>
                        <m:rPr>
                          <m:nor/>
                        </m:rPr>
                        <a:rPr lang="en-IL" sz="1200" b="0" i="0" kern="1200">
                          <a:solidFill>
                            <a:schemeClr val="tx1"/>
                          </a:solidFill>
                          <a:latin typeface="+mn-lt"/>
                          <a:ea typeface="+mn-ea"/>
                          <a:cs typeface="+mn-cs"/>
                        </a:rPr>
                        <m:t> Bytes/token</m:t>
                      </m:r>
                    </m:oMath>
                  </m:oMathPara>
                </a14:m>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Compressed total cache for 256 tokens across 6 layers:</a:t>
                </a:r>
                <a:endParaRPr lang="en-IL" sz="1200" kern="1200" dirty="0">
                  <a:solidFill>
                    <a:schemeClr val="tx1"/>
                  </a:solidFill>
                  <a:effectLst/>
                  <a:latin typeface="+mn-lt"/>
                  <a:ea typeface="+mn-ea"/>
                  <a:cs typeface="+mn-cs"/>
                </a:endParaRP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14:m>
                  <m:oMathPara xmlns:m="http://schemas.openxmlformats.org/officeDocument/2006/math">
                    <m:oMath>
                      <m:f>
                        <m:fPr>
                          <m:ctrlPr>
                            <a:rPr lang="en-IL" sz="1200" kern="1200">
                              <a:solidFill>
                                <a:schemeClr val="tx1"/>
                              </a:solidFill>
                              <a:latin typeface="+mn-lt"/>
                              <a:ea typeface="+mn-ea"/>
                              <a:cs typeface="+mn-cs"/>
                            </a:rPr>
                          </m:ctrlPr>
                        </m:fPr>
                        <m:num>
                          <m:r>
                            <a:rPr lang="en-IL" sz="1200" kern="1200">
                              <a:solidFill>
                                <a:schemeClr val="tx1"/>
                              </a:solidFill>
                              <a:latin typeface="+mn-lt"/>
                              <a:ea typeface="+mn-ea"/>
                              <a:cs typeface="+mn-cs"/>
                            </a:rPr>
                            <m:t>3.375</m:t>
                          </m:r>
                          <m:r>
                            <m:rPr>
                              <m:nor/>
                            </m:rPr>
                            <a:rPr lang="en-IL" sz="1200" i="0" kern="1200">
                              <a:solidFill>
                                <a:schemeClr val="tx1"/>
                              </a:solidFill>
                              <a:latin typeface="+mn-lt"/>
                              <a:ea typeface="+mn-ea"/>
                              <a:cs typeface="+mn-cs"/>
                            </a:rPr>
                            <m:t> MB</m:t>
                          </m:r>
                        </m:num>
                        <m:den>
                          <m:r>
                            <a:rPr lang="en-IL" sz="1200" i="0" kern="1200">
                              <a:solidFill>
                                <a:schemeClr val="tx1"/>
                              </a:solidFill>
                              <a:latin typeface="+mn-lt"/>
                              <a:ea typeface="+mn-ea"/>
                              <a:cs typeface="+mn-cs"/>
                            </a:rPr>
                            <m:t>6</m:t>
                          </m:r>
                        </m:den>
                      </m:f>
                      <m:r>
                        <a:rPr lang="en-IL" sz="1200" i="0" kern="1200">
                          <a:solidFill>
                            <a:schemeClr val="tx1"/>
                          </a:solidFill>
                          <a:latin typeface="+mn-lt"/>
                          <a:ea typeface="+mn-ea"/>
                          <a:cs typeface="+mn-cs"/>
                        </a:rPr>
                        <m:t>=0.5625</m:t>
                      </m:r>
                      <m:r>
                        <m:rPr>
                          <m:nor/>
                        </m:rPr>
                        <a:rPr lang="en-IL" sz="1200" i="0" kern="1200">
                          <a:solidFill>
                            <a:schemeClr val="tx1"/>
                          </a:solidFill>
                          <a:latin typeface="+mn-lt"/>
                          <a:ea typeface="+mn-ea"/>
                          <a:cs typeface="+mn-cs"/>
                        </a:rPr>
                        <m:t> MB</m:t>
                      </m:r>
                      <m:r>
                        <a:rPr lang="en-IL" sz="1200" i="0" kern="1200">
                          <a:solidFill>
                            <a:schemeClr val="tx1"/>
                          </a:solidFill>
                          <a:latin typeface="+mn-lt"/>
                          <a:ea typeface="+mn-ea"/>
                          <a:cs typeface="+mn-cs"/>
                        </a:rPr>
                        <m:t>≈</m:t>
                      </m:r>
                      <m:r>
                        <a:rPr lang="en-IL" sz="1200" b="1" i="0" kern="1200">
                          <a:solidFill>
                            <a:schemeClr val="tx1"/>
                          </a:solidFill>
                          <a:latin typeface="+mn-lt"/>
                          <a:ea typeface="+mn-ea"/>
                          <a:cs typeface="+mn-cs"/>
                        </a:rPr>
                        <m:t>𝟎</m:t>
                      </m:r>
                      <m:r>
                        <a:rPr lang="en-IL" sz="1200" b="0" i="0" kern="1200">
                          <a:solidFill>
                            <a:schemeClr val="tx1"/>
                          </a:solidFill>
                          <a:latin typeface="+mn-lt"/>
                          <a:ea typeface="+mn-ea"/>
                          <a:cs typeface="+mn-cs"/>
                        </a:rPr>
                        <m:t>.</m:t>
                      </m:r>
                      <m:r>
                        <a:rPr lang="en-IL" sz="1200" b="1" i="0" kern="1200">
                          <a:solidFill>
                            <a:schemeClr val="tx1"/>
                          </a:solidFill>
                          <a:latin typeface="+mn-lt"/>
                          <a:ea typeface="+mn-ea"/>
                          <a:cs typeface="+mn-cs"/>
                        </a:rPr>
                        <m:t>𝟓𝟔</m:t>
                      </m:r>
                      <m:r>
                        <m:rPr>
                          <m:nor/>
                        </m:rPr>
                        <a:rPr lang="en-IL" sz="1200" b="0" i="0" kern="1200">
                          <a:solidFill>
                            <a:schemeClr val="tx1"/>
                          </a:solidFill>
                          <a:latin typeface="+mn-lt"/>
                          <a:ea typeface="+mn-ea"/>
                          <a:cs typeface="+mn-cs"/>
                        </a:rPr>
                        <m:t> MB</m:t>
                      </m:r>
                    </m:oMath>
                  </m:oMathPara>
                </a14:m>
                <a:endParaRPr lang="en-IL" sz="1200" kern="1200" dirty="0">
                  <a:solidFill>
                    <a:schemeClr val="tx1"/>
                  </a:solidFill>
                  <a:effectLst/>
                  <a:latin typeface="+mn-lt"/>
                  <a:ea typeface="+mn-ea"/>
                  <a:cs typeface="+mn-cs"/>
                </a:endParaRPr>
              </a:p>
              <a:p>
                <a:pPr lvl="0" rtl="0"/>
                <a:r>
                  <a:rPr lang="en-IL" sz="1200" i="1" kern="1200" dirty="0">
                    <a:solidFill>
                      <a:schemeClr val="tx1"/>
                    </a:solidFill>
                    <a:effectLst/>
                    <a:latin typeface="+mn-lt"/>
                    <a:ea typeface="+mn-ea"/>
                    <a:cs typeface="+mn-cs"/>
                  </a:rPr>
                  <a:t>(Equivalently: </a:t>
                </a:r>
                <a14:m>
                  <m:oMath xmlns:m="http://schemas.openxmlformats.org/officeDocument/2006/math">
                    <m:r>
                      <a:rPr lang="en-IL" sz="1200" kern="1200" smtClean="0">
                        <a:solidFill>
                          <a:schemeClr val="tx1"/>
                        </a:solidFill>
                        <a:latin typeface="+mn-lt"/>
                        <a:ea typeface="+mn-ea"/>
                        <a:cs typeface="+mn-cs"/>
                      </a:rPr>
                      <m:t>384</m:t>
                    </m:r>
                    <m:r>
                      <m:rPr>
                        <m:nor/>
                      </m:rPr>
                      <a:rPr lang="en-IL" sz="1200" i="0" kern="1200">
                        <a:solidFill>
                          <a:schemeClr val="tx1"/>
                        </a:solidFill>
                        <a:latin typeface="+mn-lt"/>
                        <a:ea typeface="+mn-ea"/>
                        <a:cs typeface="+mn-cs"/>
                      </a:rPr>
                      <m:t> Bytes</m:t>
                    </m:r>
                    <m:r>
                      <a:rPr lang="en-IL" sz="1200" i="0" kern="1200">
                        <a:solidFill>
                          <a:schemeClr val="tx1"/>
                        </a:solidFill>
                        <a:latin typeface="+mn-lt"/>
                        <a:ea typeface="+mn-ea"/>
                        <a:cs typeface="+mn-cs"/>
                      </a:rPr>
                      <m:t>×6</m:t>
                    </m:r>
                    <m:r>
                      <m:rPr>
                        <m:nor/>
                      </m:rPr>
                      <a:rPr lang="en-IL" sz="1200" i="0" kern="1200">
                        <a:solidFill>
                          <a:schemeClr val="tx1"/>
                        </a:solidFill>
                        <a:latin typeface="+mn-lt"/>
                        <a:ea typeface="+mn-ea"/>
                        <a:cs typeface="+mn-cs"/>
                      </a:rPr>
                      <m:t> layers</m:t>
                    </m:r>
                    <m:r>
                      <a:rPr lang="en-IL" sz="1200" i="0" kern="1200">
                        <a:solidFill>
                          <a:schemeClr val="tx1"/>
                        </a:solidFill>
                        <a:latin typeface="+mn-lt"/>
                        <a:ea typeface="+mn-ea"/>
                        <a:cs typeface="+mn-cs"/>
                      </a:rPr>
                      <m:t>×256</m:t>
                    </m:r>
                    <m:r>
                      <m:rPr>
                        <m:nor/>
                      </m:rPr>
                      <a:rPr lang="en-IL" sz="1200" i="0" kern="1200">
                        <a:solidFill>
                          <a:schemeClr val="tx1"/>
                        </a:solidFill>
                        <a:latin typeface="+mn-lt"/>
                        <a:ea typeface="+mn-ea"/>
                        <a:cs typeface="+mn-cs"/>
                      </a:rPr>
                      <m:t> tokens</m:t>
                    </m:r>
                    <m:r>
                      <a:rPr lang="en-IL" sz="1200" i="0" kern="1200">
                        <a:solidFill>
                          <a:schemeClr val="tx1"/>
                        </a:solidFill>
                        <a:latin typeface="+mn-lt"/>
                        <a:ea typeface="+mn-ea"/>
                        <a:cs typeface="+mn-cs"/>
                      </a:rPr>
                      <m:t>=589,824</m:t>
                    </m:r>
                    <m:r>
                      <m:rPr>
                        <m:nor/>
                      </m:rPr>
                      <a:rPr lang="en-IL" sz="1200" i="0" kern="1200">
                        <a:solidFill>
                          <a:schemeClr val="tx1"/>
                        </a:solidFill>
                        <a:latin typeface="+mn-lt"/>
                        <a:ea typeface="+mn-ea"/>
                        <a:cs typeface="+mn-cs"/>
                      </a:rPr>
                      <m:t> Bytes</m:t>
                    </m:r>
                    <m:r>
                      <a:rPr lang="en-IL" sz="1200" i="0" kern="1200">
                        <a:solidFill>
                          <a:schemeClr val="tx1"/>
                        </a:solidFill>
                        <a:latin typeface="+mn-lt"/>
                        <a:ea typeface="+mn-ea"/>
                        <a:cs typeface="+mn-cs"/>
                      </a:rPr>
                      <m:t>=</m:t>
                    </m:r>
                    <m:f>
                      <m:fPr>
                        <m:ctrlPr>
                          <a:rPr lang="en-IL" sz="1200" i="0" kern="1200">
                            <a:solidFill>
                              <a:schemeClr val="tx1"/>
                            </a:solidFill>
                            <a:latin typeface="+mn-lt"/>
                            <a:ea typeface="+mn-ea"/>
                            <a:cs typeface="+mn-cs"/>
                          </a:rPr>
                        </m:ctrlPr>
                      </m:fPr>
                      <m:num>
                        <m:r>
                          <a:rPr lang="en-IL" sz="1200" i="0" kern="1200">
                            <a:solidFill>
                              <a:schemeClr val="tx1"/>
                            </a:solidFill>
                            <a:latin typeface="+mn-lt"/>
                            <a:ea typeface="+mn-ea"/>
                            <a:cs typeface="+mn-cs"/>
                          </a:rPr>
                          <m:t>589,824</m:t>
                        </m:r>
                      </m:num>
                      <m:den>
                        <m:sSup>
                          <m:sSupPr>
                            <m:ctrlPr>
                              <a:rPr lang="en-IL" sz="1200" i="0" kern="1200">
                                <a:solidFill>
                                  <a:schemeClr val="tx1"/>
                                </a:solidFill>
                                <a:latin typeface="+mn-lt"/>
                                <a:ea typeface="+mn-ea"/>
                                <a:cs typeface="+mn-cs"/>
                              </a:rPr>
                            </m:ctrlPr>
                          </m:sSupPr>
                          <m:e>
                            <m:r>
                              <a:rPr lang="en-IL" sz="1200" i="0" kern="1200">
                                <a:solidFill>
                                  <a:schemeClr val="tx1"/>
                                </a:solidFill>
                                <a:latin typeface="+mn-lt"/>
                                <a:ea typeface="+mn-ea"/>
                                <a:cs typeface="+mn-cs"/>
                              </a:rPr>
                              <m:t>1024</m:t>
                            </m:r>
                          </m:e>
                          <m:sup>
                            <m:r>
                              <a:rPr lang="en-IL" sz="1200" i="0" kern="1200">
                                <a:solidFill>
                                  <a:schemeClr val="tx1"/>
                                </a:solidFill>
                                <a:latin typeface="+mn-lt"/>
                                <a:ea typeface="+mn-ea"/>
                                <a:cs typeface="+mn-cs"/>
                              </a:rPr>
                              <m:t>2</m:t>
                            </m:r>
                          </m:sup>
                        </m:sSup>
                      </m:den>
                    </m:f>
                    <m:r>
                      <m:rPr>
                        <m:nor/>
                      </m:rPr>
                      <a:rPr lang="en-IL" sz="1200" i="0" kern="1200">
                        <a:solidFill>
                          <a:schemeClr val="tx1"/>
                        </a:solidFill>
                        <a:latin typeface="+mn-lt"/>
                        <a:ea typeface="+mn-ea"/>
                        <a:cs typeface="+mn-cs"/>
                      </a:rPr>
                      <m:t> MiB</m:t>
                    </m:r>
                    <m:r>
                      <a:rPr lang="en-IL" sz="1200" i="0" kern="1200">
                        <a:solidFill>
                          <a:schemeClr val="tx1"/>
                        </a:solidFill>
                        <a:latin typeface="+mn-lt"/>
                        <a:ea typeface="+mn-ea"/>
                        <a:cs typeface="+mn-cs"/>
                      </a:rPr>
                      <m:t>=</m:t>
                    </m:r>
                    <m:r>
                      <a:rPr lang="en-IL" sz="1200" b="1" i="0" kern="1200">
                        <a:solidFill>
                          <a:schemeClr val="tx1"/>
                        </a:solidFill>
                        <a:latin typeface="+mn-lt"/>
                        <a:ea typeface="+mn-ea"/>
                        <a:cs typeface="+mn-cs"/>
                      </a:rPr>
                      <m:t>𝟎</m:t>
                    </m:r>
                    <m:r>
                      <a:rPr lang="en-IL" sz="1200" b="0" i="0" kern="1200">
                        <a:solidFill>
                          <a:schemeClr val="tx1"/>
                        </a:solidFill>
                        <a:latin typeface="+mn-lt"/>
                        <a:ea typeface="+mn-ea"/>
                        <a:cs typeface="+mn-cs"/>
                      </a:rPr>
                      <m:t>.</m:t>
                    </m:r>
                    <m:r>
                      <a:rPr lang="en-IL" sz="1200" b="1" i="0" kern="1200">
                        <a:solidFill>
                          <a:schemeClr val="tx1"/>
                        </a:solidFill>
                        <a:latin typeface="+mn-lt"/>
                        <a:ea typeface="+mn-ea"/>
                        <a:cs typeface="+mn-cs"/>
                      </a:rPr>
                      <m:t>𝟓𝟔𝟐𝟓</m:t>
                    </m:r>
                    <m:r>
                      <m:rPr>
                        <m:nor/>
                      </m:rPr>
                      <a:rPr lang="en-IL" sz="1200" b="0" i="0" kern="1200">
                        <a:solidFill>
                          <a:schemeClr val="tx1"/>
                        </a:solidFill>
                        <a:latin typeface="+mn-lt"/>
                        <a:ea typeface="+mn-ea"/>
                        <a:cs typeface="+mn-cs"/>
                      </a:rPr>
                      <m:t> MB</m:t>
                    </m:r>
                  </m:oMath>
                </a14:m>
                <a:r>
                  <a:rPr lang="en-IL" sz="1200" i="1" kern="1200" dirty="0">
                    <a:solidFill>
                      <a:schemeClr val="tx1"/>
                    </a:solidFill>
                    <a:effectLst/>
                    <a:latin typeface="+mn-lt"/>
                    <a:ea typeface="+mn-ea"/>
                    <a:cs typeface="+mn-cs"/>
                  </a:rPr>
                  <a:t>)</a:t>
                </a:r>
                <a:endParaRPr lang="en-IL" sz="1200" kern="1200" dirty="0">
                  <a:solidFill>
                    <a:schemeClr val="tx1"/>
                  </a:solidFill>
                  <a:effectLst/>
                  <a:latin typeface="+mn-lt"/>
                  <a:ea typeface="+mn-ea"/>
                  <a:cs typeface="+mn-cs"/>
                </a:endParaRPr>
              </a:p>
              <a:p>
                <a:endParaRPr lang="en-IL" dirty="0"/>
              </a:p>
            </p:txBody>
          </p:sp>
        </mc:Choice>
        <mc:Fallback>
          <p:sp>
            <p:nvSpPr>
              <p:cNvPr id="3" name="Notes Placeholder 2"/>
              <p:cNvSpPr>
                <a:spLocks noGrp="1"/>
              </p:cNvSpPr>
              <p:nvPr>
                <p:ph type="body" idx="1"/>
              </p:nvPr>
            </p:nvSpPr>
            <p:spPr/>
            <p:txBody>
              <a:bodyPr/>
              <a:lstStyle/>
              <a:p>
                <a:pPr rtl="0"/>
                <a:r>
                  <a:rPr lang="en-IL" sz="1200" kern="1200" dirty="0">
                    <a:solidFill>
                      <a:schemeClr val="tx1"/>
                    </a:solidFill>
                    <a:effectLst/>
                    <a:latin typeface="+mn-lt"/>
                    <a:ea typeface="+mn-ea"/>
                    <a:cs typeface="+mn-cs"/>
                  </a:rPr>
                  <a:t>The numbers in the slide are derived from the </a:t>
                </a:r>
                <a:r>
                  <a:rPr lang="en-IL" sz="1200" b="1" kern="1200" dirty="0">
                    <a:solidFill>
                      <a:schemeClr val="tx1"/>
                    </a:solidFill>
                    <a:effectLst/>
                    <a:latin typeface="+mn-lt"/>
                    <a:ea typeface="+mn-ea"/>
                    <a:cs typeface="+mn-cs"/>
                  </a:rPr>
                  <a:t>TinyStories-15M</a:t>
                </a:r>
                <a:r>
                  <a:rPr lang="en-IL" sz="1200" kern="1200" dirty="0">
                    <a:solidFill>
                      <a:schemeClr val="tx1"/>
                    </a:solidFill>
                    <a:effectLst/>
                    <a:latin typeface="+mn-lt"/>
                    <a:ea typeface="+mn-ea"/>
                    <a:cs typeface="+mn-cs"/>
                  </a:rPr>
                  <a:t> architecture and the mathematics of the KV-cache.</a:t>
                </a:r>
              </a:p>
              <a:p>
                <a:pPr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rtl="0"/>
                <a:r>
                  <a:rPr lang="en-IL" sz="1200" b="1" kern="1200" dirty="0">
                    <a:solidFill>
                      <a:schemeClr val="tx1"/>
                    </a:solidFill>
                    <a:effectLst/>
                    <a:latin typeface="+mn-lt"/>
                    <a:ea typeface="+mn-ea"/>
                    <a:cs typeface="+mn-cs"/>
                  </a:rPr>
                  <a:t>1. Model Architecture Parameters (TinyStories-15M)</a:t>
                </a:r>
              </a:p>
              <a:p>
                <a:pPr lvl="0" rtl="0"/>
                <a:r>
                  <a:rPr lang="en-IL" sz="1200" b="1" kern="1200" dirty="0">
                    <a:solidFill>
                      <a:schemeClr val="tx1"/>
                    </a:solidFill>
                    <a:effectLst/>
                    <a:latin typeface="+mn-lt"/>
                    <a:ea typeface="+mn-ea"/>
                    <a:cs typeface="+mn-cs"/>
                  </a:rPr>
                  <a:t>Number of layers (</a:t>
                </a:r>
                <a:r>
                  <a:rPr lang="en-IL" sz="1200" i="0" kern="1200">
                    <a:solidFill>
                      <a:schemeClr val="tx1"/>
                    </a:solidFill>
                    <a:latin typeface="+mn-lt"/>
                    <a:ea typeface="+mn-ea"/>
                    <a:cs typeface="+mn-cs"/>
                  </a:rPr>
                  <a:t>𝐿</a:t>
                </a:r>
                <a:r>
                  <a:rPr lang="en-IL" sz="1200" b="1" kern="1200" dirty="0">
                    <a:solidFill>
                      <a:schemeClr val="tx1"/>
                    </a:solidFill>
                    <a:effectLst/>
                    <a:latin typeface="+mn-lt"/>
                    <a:ea typeface="+mn-ea"/>
                    <a:cs typeface="+mn-cs"/>
                  </a:rPr>
                  <a:t>):</a:t>
                </a:r>
                <a:r>
                  <a:rPr lang="en-IL" sz="1200" kern="1200" dirty="0">
                    <a:solidFill>
                      <a:schemeClr val="tx1"/>
                    </a:solidFill>
                    <a:effectLst/>
                    <a:latin typeface="+mn-lt"/>
                    <a:ea typeface="+mn-ea"/>
                    <a:cs typeface="+mn-cs"/>
                  </a:rPr>
                  <a:t> 6</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Hidden dimension (</a:t>
                </a:r>
                <a:r>
                  <a:rPr lang="en-IL" sz="1200" i="0" kern="1200">
                    <a:solidFill>
                      <a:schemeClr val="tx1"/>
                    </a:solidFill>
                    <a:latin typeface="+mn-lt"/>
                    <a:ea typeface="+mn-ea"/>
                    <a:cs typeface="+mn-cs"/>
                  </a:rPr>
                  <a:t>𝑑_"model" </a:t>
                </a:r>
                <a:r>
                  <a:rPr lang="en-IL" sz="1200" b="1" kern="1200" dirty="0">
                    <a:solidFill>
                      <a:schemeClr val="tx1"/>
                    </a:solidFill>
                    <a:effectLst/>
                    <a:latin typeface="+mn-lt"/>
                    <a:ea typeface="+mn-ea"/>
                    <a:cs typeface="+mn-cs"/>
                  </a:rPr>
                  <a:t>):</a:t>
                </a:r>
                <a:r>
                  <a:rPr lang="en-IL" sz="1200" kern="1200" dirty="0">
                    <a:solidFill>
                      <a:schemeClr val="tx1"/>
                    </a:solidFill>
                    <a:effectLst/>
                    <a:latin typeface="+mn-lt"/>
                    <a:ea typeface="+mn-ea"/>
                    <a:cs typeface="+mn-cs"/>
                  </a:rPr>
                  <a:t> 288</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Attention heads (</a:t>
                </a:r>
                <a:r>
                  <a:rPr lang="en-IL" sz="1200" i="0" kern="1200">
                    <a:solidFill>
                      <a:schemeClr val="tx1"/>
                    </a:solidFill>
                    <a:latin typeface="+mn-lt"/>
                    <a:ea typeface="+mn-ea"/>
                    <a:cs typeface="+mn-cs"/>
                  </a:rPr>
                  <a:t>ℎ</a:t>
                </a:r>
                <a:r>
                  <a:rPr lang="en-IL" sz="1200" b="1" kern="1200" dirty="0">
                    <a:solidFill>
                      <a:schemeClr val="tx1"/>
                    </a:solidFill>
                    <a:effectLst/>
                    <a:latin typeface="+mn-lt"/>
                    <a:ea typeface="+mn-ea"/>
                    <a:cs typeface="+mn-cs"/>
                  </a:rPr>
                  <a:t>):</a:t>
                </a:r>
                <a:r>
                  <a:rPr lang="en-IL" sz="1200" kern="1200" dirty="0">
                    <a:solidFill>
                      <a:schemeClr val="tx1"/>
                    </a:solidFill>
                    <a:effectLst/>
                    <a:latin typeface="+mn-lt"/>
                    <a:ea typeface="+mn-ea"/>
                    <a:cs typeface="+mn-cs"/>
                  </a:rPr>
                  <a:t> 6 (with head dimension </a:t>
                </a:r>
                <a:r>
                  <a:rPr lang="en-IL" sz="1200" i="0" kern="1200">
                    <a:solidFill>
                      <a:schemeClr val="tx1"/>
                    </a:solidFill>
                    <a:latin typeface="+mn-lt"/>
                    <a:ea typeface="+mn-ea"/>
                    <a:cs typeface="+mn-cs"/>
                  </a:rPr>
                  <a:t>𝑑_𝑘=288/6=48</a:t>
                </a:r>
                <a:r>
                  <a:rPr lang="en-IL" sz="1200" kern="1200" dirty="0">
                    <a:solidFill>
                      <a:schemeClr val="tx1"/>
                    </a:solidFill>
                    <a:effectLst/>
                    <a:latin typeface="+mn-lt"/>
                    <a:ea typeface="+mn-ea"/>
                    <a:cs typeface="+mn-cs"/>
                  </a:rPr>
                  <a:t>)</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Data Type (FP32):</a:t>
                </a:r>
                <a:r>
                  <a:rPr lang="en-IL" sz="1200" kern="1200" dirty="0">
                    <a:solidFill>
                      <a:schemeClr val="tx1"/>
                    </a:solidFill>
                    <a:effectLst/>
                    <a:latin typeface="+mn-lt"/>
                    <a:ea typeface="+mn-ea"/>
                    <a:cs typeface="+mn-cs"/>
                  </a:rPr>
                  <a:t> 4 Bytes per value</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rtl="0"/>
                <a:r>
                  <a:rPr lang="en-IL" sz="1200" b="1" kern="1200" dirty="0">
                    <a:solidFill>
                      <a:schemeClr val="tx1"/>
                    </a:solidFill>
                    <a:effectLst/>
                    <a:latin typeface="+mn-lt"/>
                    <a:ea typeface="+mn-ea"/>
                    <a:cs typeface="+mn-cs"/>
                  </a:rPr>
                  <a:t>2. Derivation of 2,304 Bytes per Token</a:t>
                </a:r>
              </a:p>
              <a:p>
                <a:pPr rtl="0"/>
                <a:r>
                  <a:rPr lang="en-IL" sz="1200" kern="1200" dirty="0">
                    <a:solidFill>
                      <a:schemeClr val="tx1"/>
                    </a:solidFill>
                    <a:effectLst/>
                    <a:latin typeface="+mn-lt"/>
                    <a:ea typeface="+mn-ea"/>
                    <a:cs typeface="+mn-cs"/>
                  </a:rPr>
                  <a:t>For each token at each Transformer layer, the model stores one Key vector (</a:t>
                </a:r>
                <a:r>
                  <a:rPr lang="en-IL" sz="1200" i="0" kern="1200">
                    <a:solidFill>
                      <a:schemeClr val="tx1"/>
                    </a:solidFill>
                    <a:latin typeface="+mn-lt"/>
                    <a:ea typeface="+mn-ea"/>
                    <a:cs typeface="+mn-cs"/>
                  </a:rPr>
                  <a:t>𝐾</a:t>
                </a:r>
                <a:r>
                  <a:rPr lang="en-IL" sz="1200" kern="1200" dirty="0">
                    <a:solidFill>
                      <a:schemeClr val="tx1"/>
                    </a:solidFill>
                    <a:effectLst/>
                    <a:latin typeface="+mn-lt"/>
                    <a:ea typeface="+mn-ea"/>
                    <a:cs typeface="+mn-cs"/>
                  </a:rPr>
                  <a:t>) and one Value vector (</a:t>
                </a:r>
                <a:r>
                  <a:rPr lang="en-IL" sz="1200" i="0" kern="1200">
                    <a:solidFill>
                      <a:schemeClr val="tx1"/>
                    </a:solidFill>
                    <a:latin typeface="+mn-lt"/>
                    <a:ea typeface="+mn-ea"/>
                    <a:cs typeface="+mn-cs"/>
                  </a:rPr>
                  <a:t>𝑉</a:t>
                </a:r>
                <a:r>
                  <a:rPr lang="en-IL" sz="1200" kern="1200" dirty="0">
                    <a:solidFill>
                      <a:schemeClr val="tx1"/>
                    </a:solidFill>
                    <a:effectLst/>
                    <a:latin typeface="+mn-lt"/>
                    <a:ea typeface="+mn-ea"/>
                    <a:cs typeface="+mn-cs"/>
                  </a:rPr>
                  <a:t>):</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kern="1200" dirty="0">
                    <a:solidFill>
                      <a:schemeClr val="tx1"/>
                    </a:solidFill>
                    <a:effectLst/>
                    <a:latin typeface="+mn-lt"/>
                    <a:ea typeface="+mn-ea"/>
                    <a:cs typeface="+mn-cs"/>
                  </a:rPr>
                  <a:t>Elements in </a:t>
                </a:r>
                <a:r>
                  <a:rPr lang="en-IL" sz="1200" i="0" kern="1200">
                    <a:solidFill>
                      <a:schemeClr val="tx1"/>
                    </a:solidFill>
                    <a:latin typeface="+mn-lt"/>
                    <a:ea typeface="+mn-ea"/>
                    <a:cs typeface="+mn-cs"/>
                  </a:rPr>
                  <a:t>𝐾</a:t>
                </a:r>
                <a:r>
                  <a:rPr lang="en-IL" sz="1200" kern="1200" dirty="0">
                    <a:solidFill>
                      <a:schemeClr val="tx1"/>
                    </a:solidFill>
                    <a:effectLst/>
                    <a:latin typeface="+mn-lt"/>
                    <a:ea typeface="+mn-ea"/>
                    <a:cs typeface="+mn-cs"/>
                  </a:rPr>
                  <a:t>: </a:t>
                </a:r>
                <a:r>
                  <a:rPr lang="en-IL" sz="1200" i="0" kern="1200">
                    <a:solidFill>
                      <a:schemeClr val="tx1"/>
                    </a:solidFill>
                    <a:latin typeface="+mn-lt"/>
                    <a:ea typeface="+mn-ea"/>
                    <a:cs typeface="+mn-cs"/>
                  </a:rPr>
                  <a:t>𝑑_"model" =288</a:t>
                </a:r>
                <a:endParaRPr lang="en-IL" sz="1200" kern="1200" dirty="0">
                  <a:solidFill>
                    <a:schemeClr val="tx1"/>
                  </a:solidFill>
                  <a:effectLst/>
                  <a:latin typeface="+mn-lt"/>
                  <a:ea typeface="+mn-ea"/>
                  <a:cs typeface="+mn-cs"/>
                </a:endParaRP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kern="1200" dirty="0">
                    <a:solidFill>
                      <a:schemeClr val="tx1"/>
                    </a:solidFill>
                    <a:effectLst/>
                    <a:latin typeface="+mn-lt"/>
                    <a:ea typeface="+mn-ea"/>
                    <a:cs typeface="+mn-cs"/>
                  </a:rPr>
                  <a:t>Elements in </a:t>
                </a:r>
                <a:r>
                  <a:rPr lang="en-IL" sz="1200" i="0" kern="1200">
                    <a:solidFill>
                      <a:schemeClr val="tx1"/>
                    </a:solidFill>
                    <a:latin typeface="+mn-lt"/>
                    <a:ea typeface="+mn-ea"/>
                    <a:cs typeface="+mn-cs"/>
                  </a:rPr>
                  <a:t>𝑉</a:t>
                </a:r>
                <a:r>
                  <a:rPr lang="en-IL" sz="1200" kern="1200" dirty="0">
                    <a:solidFill>
                      <a:schemeClr val="tx1"/>
                    </a:solidFill>
                    <a:effectLst/>
                    <a:latin typeface="+mn-lt"/>
                    <a:ea typeface="+mn-ea"/>
                    <a:cs typeface="+mn-cs"/>
                  </a:rPr>
                  <a:t>: </a:t>
                </a:r>
                <a:r>
                  <a:rPr lang="en-IL" sz="1200" i="0" kern="1200">
                    <a:solidFill>
                      <a:schemeClr val="tx1"/>
                    </a:solidFill>
                    <a:latin typeface="+mn-lt"/>
                    <a:ea typeface="+mn-ea"/>
                    <a:cs typeface="+mn-cs"/>
                  </a:rPr>
                  <a:t>𝑑_"model" =288</a:t>
                </a:r>
                <a:endParaRPr lang="en-IL" sz="1200" kern="1200" dirty="0">
                  <a:solidFill>
                    <a:schemeClr val="tx1"/>
                  </a:solidFill>
                  <a:effectLst/>
                  <a:latin typeface="+mn-lt"/>
                  <a:ea typeface="+mn-ea"/>
                  <a:cs typeface="+mn-cs"/>
                </a:endParaRP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Total FP32 elements per layer per token:</a:t>
                </a:r>
                <a:endParaRPr lang="en-IL" sz="1200" kern="1200" dirty="0">
                  <a:solidFill>
                    <a:schemeClr val="tx1"/>
                  </a:solidFill>
                  <a:effectLst/>
                  <a:latin typeface="+mn-lt"/>
                  <a:ea typeface="+mn-ea"/>
                  <a:cs typeface="+mn-cs"/>
                </a:endParaRP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i="0" kern="1200">
                    <a:solidFill>
                      <a:schemeClr val="tx1"/>
                    </a:solidFill>
                    <a:latin typeface="+mn-lt"/>
                    <a:ea typeface="+mn-ea"/>
                    <a:cs typeface="+mn-cs"/>
                  </a:rPr>
                  <a:t>288+288=576</a:t>
                </a:r>
                <a:r>
                  <a:rPr lang="en-IL" sz="1200" i="0" kern="1200">
                    <a:solidFill>
                      <a:schemeClr val="tx1"/>
                    </a:solidFill>
                    <a:latin typeface="Cambria Math" panose="02040503050406030204" pitchFamily="18" charset="0"/>
                    <a:ea typeface="+mn-ea"/>
                    <a:cs typeface="+mn-cs"/>
                  </a:rPr>
                  <a:t>" elements</a:t>
                </a:r>
                <a:r>
                  <a:rPr lang="en-IL" sz="1200" i="0" kern="1200">
                    <a:solidFill>
                      <a:schemeClr val="tx1"/>
                    </a:solidFill>
                    <a:latin typeface="+mn-lt"/>
                    <a:ea typeface="+mn-ea"/>
                    <a:cs typeface="+mn-cs"/>
                  </a:rPr>
                  <a:t>"</a:t>
                </a:r>
                <a:endParaRPr lang="en-IL" sz="1200" kern="1200" dirty="0">
                  <a:solidFill>
                    <a:schemeClr val="tx1"/>
                  </a:solidFill>
                  <a:effectLst/>
                  <a:latin typeface="+mn-lt"/>
                  <a:ea typeface="+mn-ea"/>
                  <a:cs typeface="+mn-cs"/>
                </a:endParaRPr>
              </a:p>
              <a:p>
                <a:pPr rtl="0"/>
                <a:r>
                  <a:rPr lang="en-IL" sz="1200" kern="1200" dirty="0">
                    <a:solidFill>
                      <a:schemeClr val="tx1"/>
                    </a:solidFill>
                    <a:effectLst/>
                    <a:latin typeface="+mn-lt"/>
                    <a:ea typeface="+mn-ea"/>
                    <a:cs typeface="+mn-cs"/>
                  </a:rPr>
                  <a:t>Converting this to bytes:</a:t>
                </a:r>
              </a:p>
              <a:p>
                <a:pPr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rtl="0"/>
                <a:r>
                  <a:rPr lang="en-IL" sz="1200" i="0" kern="1200">
                    <a:solidFill>
                      <a:schemeClr val="tx1"/>
                    </a:solidFill>
                    <a:latin typeface="+mn-lt"/>
                    <a:ea typeface="+mn-ea"/>
                    <a:cs typeface="+mn-cs"/>
                  </a:rPr>
                  <a:t>576</a:t>
                </a:r>
                <a:r>
                  <a:rPr lang="en-IL" sz="1200" i="0" kern="1200">
                    <a:solidFill>
                      <a:schemeClr val="tx1"/>
                    </a:solidFill>
                    <a:latin typeface="Cambria Math" panose="02040503050406030204" pitchFamily="18" charset="0"/>
                    <a:ea typeface="+mn-ea"/>
                    <a:cs typeface="+mn-cs"/>
                  </a:rPr>
                  <a:t>" elements</a:t>
                </a:r>
                <a:r>
                  <a:rPr lang="en-IL" sz="1200" i="0" kern="1200">
                    <a:solidFill>
                      <a:schemeClr val="tx1"/>
                    </a:solidFill>
                    <a:latin typeface="+mn-lt"/>
                    <a:ea typeface="+mn-ea"/>
                    <a:cs typeface="+mn-cs"/>
                  </a:rPr>
                  <a:t>"×4</a:t>
                </a:r>
                <a:r>
                  <a:rPr lang="en-IL" sz="1200" i="0" kern="1200">
                    <a:solidFill>
                      <a:schemeClr val="tx1"/>
                    </a:solidFill>
                    <a:latin typeface="Cambria Math" panose="02040503050406030204" pitchFamily="18" charset="0"/>
                    <a:ea typeface="+mn-ea"/>
                    <a:cs typeface="+mn-cs"/>
                  </a:rPr>
                  <a:t>" Bytes/element</a:t>
                </a:r>
                <a:r>
                  <a:rPr lang="en-IL" sz="1200" i="0" kern="1200">
                    <a:solidFill>
                      <a:schemeClr val="tx1"/>
                    </a:solidFill>
                    <a:latin typeface="+mn-lt"/>
                    <a:ea typeface="+mn-ea"/>
                    <a:cs typeface="+mn-cs"/>
                  </a:rPr>
                  <a:t>"=</a:t>
                </a:r>
                <a:r>
                  <a:rPr lang="en-IL" sz="1200" b="1" i="0" kern="1200">
                    <a:solidFill>
                      <a:schemeClr val="tx1"/>
                    </a:solidFill>
                    <a:latin typeface="+mn-lt"/>
                    <a:ea typeface="+mn-ea"/>
                    <a:cs typeface="+mn-cs"/>
                  </a:rPr>
                  <a:t>𝟐</a:t>
                </a:r>
                <a:r>
                  <a:rPr lang="en-IL" sz="1200" b="0" i="0" kern="1200">
                    <a:solidFill>
                      <a:schemeClr val="tx1"/>
                    </a:solidFill>
                    <a:latin typeface="+mn-lt"/>
                    <a:ea typeface="+mn-ea"/>
                    <a:cs typeface="+mn-cs"/>
                  </a:rPr>
                  <a:t>,</a:t>
                </a:r>
                <a:r>
                  <a:rPr lang="en-IL" sz="1200" b="1" i="0" kern="1200">
                    <a:solidFill>
                      <a:schemeClr val="tx1"/>
                    </a:solidFill>
                    <a:latin typeface="+mn-lt"/>
                    <a:ea typeface="+mn-ea"/>
                    <a:cs typeface="+mn-cs"/>
                  </a:rPr>
                  <a:t>𝟑𝟎𝟒</a:t>
                </a:r>
                <a:r>
                  <a:rPr lang="en-IL" sz="1200" b="0" i="0" kern="1200">
                    <a:solidFill>
                      <a:schemeClr val="tx1"/>
                    </a:solidFill>
                    <a:latin typeface="Cambria Math" panose="02040503050406030204" pitchFamily="18" charset="0"/>
                    <a:ea typeface="+mn-ea"/>
                    <a:cs typeface="+mn-cs"/>
                  </a:rPr>
                  <a:t>" Bytes per token (per layer)</a:t>
                </a:r>
                <a:r>
                  <a:rPr lang="en-IL" sz="1200" b="0" i="0" kern="1200">
                    <a:solidFill>
                      <a:schemeClr val="tx1"/>
                    </a:solidFill>
                    <a:latin typeface="+mn-lt"/>
                    <a:ea typeface="+mn-ea"/>
                    <a:cs typeface="+mn-cs"/>
                  </a:rPr>
                  <a:t>"</a:t>
                </a:r>
                <a:endParaRPr lang="en-IL" sz="1200" kern="1200" dirty="0">
                  <a:solidFill>
                    <a:schemeClr val="tx1"/>
                  </a:solidFill>
                  <a:effectLst/>
                  <a:latin typeface="+mn-lt"/>
                  <a:ea typeface="+mn-ea"/>
                  <a:cs typeface="+mn-cs"/>
                </a:endParaRPr>
              </a:p>
              <a:p>
                <a:pPr rtl="0"/>
                <a:r>
                  <a:rPr lang="en-IL" sz="1200" i="1" kern="1200" dirty="0">
                    <a:solidFill>
                      <a:schemeClr val="tx1"/>
                    </a:solidFill>
                    <a:effectLst/>
                    <a:latin typeface="+mn-lt"/>
                    <a:ea typeface="+mn-ea"/>
                    <a:cs typeface="+mn-cs"/>
                  </a:rPr>
                  <a:t>(Note: Bullet 2 in the slide text states "across 6 layers", but </a:t>
                </a:r>
                <a:r>
                  <a:rPr lang="en-IL" sz="1200" i="0" kern="1200">
                    <a:solidFill>
                      <a:schemeClr val="tx1"/>
                    </a:solidFill>
                    <a:latin typeface="+mn-lt"/>
                    <a:ea typeface="+mn-ea"/>
                    <a:cs typeface="+mn-cs"/>
                  </a:rPr>
                  <a:t>2,304</a:t>
                </a:r>
                <a:r>
                  <a:rPr lang="en-IL" sz="1200" i="0" kern="1200">
                    <a:solidFill>
                      <a:schemeClr val="tx1"/>
                    </a:solidFill>
                    <a:latin typeface="Cambria Math" panose="02040503050406030204" pitchFamily="18" charset="0"/>
                    <a:ea typeface="+mn-ea"/>
                    <a:cs typeface="+mn-cs"/>
                  </a:rPr>
                  <a:t>" Bytes</a:t>
                </a:r>
                <a:r>
                  <a:rPr lang="en-IL" sz="1200" i="0" kern="1200">
                    <a:solidFill>
                      <a:schemeClr val="tx1"/>
                    </a:solidFill>
                    <a:latin typeface="+mn-lt"/>
                    <a:ea typeface="+mn-ea"/>
                    <a:cs typeface="+mn-cs"/>
                  </a:rPr>
                  <a:t>"</a:t>
                </a:r>
                <a:r>
                  <a:rPr lang="en-IL" sz="1200" i="1" kern="1200" dirty="0">
                    <a:solidFill>
                      <a:schemeClr val="tx1"/>
                    </a:solidFill>
                    <a:effectLst/>
                    <a:latin typeface="+mn-lt"/>
                    <a:ea typeface="+mn-ea"/>
                    <a:cs typeface="+mn-cs"/>
                  </a:rPr>
                  <a:t>is mathematically the size for </a:t>
                </a:r>
                <a:r>
                  <a:rPr lang="en-IL" sz="1200" b="1" i="1" kern="1200" dirty="0">
                    <a:solidFill>
                      <a:schemeClr val="tx1"/>
                    </a:solidFill>
                    <a:effectLst/>
                    <a:latin typeface="+mn-lt"/>
                    <a:ea typeface="+mn-ea"/>
                    <a:cs typeface="+mn-cs"/>
                  </a:rPr>
                  <a:t>1 layer</a:t>
                </a:r>
                <a:r>
                  <a:rPr lang="en-IL" sz="1200" i="1" kern="1200" dirty="0">
                    <a:solidFill>
                      <a:schemeClr val="tx1"/>
                    </a:solidFill>
                    <a:effectLst/>
                    <a:latin typeface="+mn-lt"/>
                    <a:ea typeface="+mn-ea"/>
                    <a:cs typeface="+mn-cs"/>
                  </a:rPr>
                  <a:t>. As shown in the next step, the factor of 6 layers is applied to reach the 3.38 MB figure).</a:t>
                </a:r>
                <a:endParaRPr lang="en-IL" sz="1200" kern="1200" dirty="0">
                  <a:solidFill>
                    <a:schemeClr val="tx1"/>
                  </a:solidFill>
                  <a:effectLst/>
                  <a:latin typeface="+mn-lt"/>
                  <a:ea typeface="+mn-ea"/>
                  <a:cs typeface="+mn-cs"/>
                </a:endParaRPr>
              </a:p>
              <a:p>
                <a:pPr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rtl="0"/>
                <a:r>
                  <a:rPr lang="en-IL" sz="1200" b="1" kern="1200" dirty="0">
                    <a:solidFill>
                      <a:schemeClr val="tx1"/>
                    </a:solidFill>
                    <a:effectLst/>
                    <a:latin typeface="+mn-lt"/>
                    <a:ea typeface="+mn-ea"/>
                    <a:cs typeface="+mn-cs"/>
                  </a:rPr>
                  <a:t>3. Derivation of 3.38 MB (for 256 Tokens)</a:t>
                </a:r>
              </a:p>
              <a:p>
                <a:pPr rtl="0"/>
                <a:r>
                  <a:rPr lang="en-IL" sz="1200" kern="1200" dirty="0">
                    <a:solidFill>
                      <a:schemeClr val="tx1"/>
                    </a:solidFill>
                    <a:effectLst/>
                    <a:latin typeface="+mn-lt"/>
                    <a:ea typeface="+mn-ea"/>
                    <a:cs typeface="+mn-cs"/>
                  </a:rPr>
                  <a:t>To get the total uncompressed KV-cache for a context window of </a:t>
                </a:r>
                <a:r>
                  <a:rPr lang="en-IL" sz="1200" i="0" kern="1200">
                    <a:solidFill>
                      <a:schemeClr val="tx1"/>
                    </a:solidFill>
                    <a:latin typeface="+mn-lt"/>
                    <a:ea typeface="+mn-ea"/>
                    <a:cs typeface="+mn-cs"/>
                  </a:rPr>
                  <a:t>𝑁=256</a:t>
                </a:r>
                <a:r>
                  <a:rPr lang="en-IL" sz="1200" kern="1200" dirty="0">
                    <a:solidFill>
                      <a:schemeClr val="tx1"/>
                    </a:solidFill>
                    <a:effectLst/>
                    <a:latin typeface="+mn-lt"/>
                    <a:ea typeface="+mn-ea"/>
                    <a:cs typeface="+mn-cs"/>
                  </a:rPr>
                  <a:t>tokens across all </a:t>
                </a:r>
                <a:r>
                  <a:rPr lang="en-IL" sz="1200" i="0" kern="1200">
                    <a:solidFill>
                      <a:schemeClr val="tx1"/>
                    </a:solidFill>
                    <a:latin typeface="+mn-lt"/>
                    <a:ea typeface="+mn-ea"/>
                    <a:cs typeface="+mn-cs"/>
                  </a:rPr>
                  <a:t>𝐿=6</a:t>
                </a:r>
                <a:r>
                  <a:rPr lang="en-IL" sz="1200" kern="1200" dirty="0">
                    <a:solidFill>
                      <a:schemeClr val="tx1"/>
                    </a:solidFill>
                    <a:effectLst/>
                    <a:latin typeface="+mn-lt"/>
                    <a:ea typeface="+mn-ea"/>
                    <a:cs typeface="+mn-cs"/>
                  </a:rPr>
                  <a:t>layers:</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Bytes per token across all 6 layers:</a:t>
                </a:r>
                <a:endParaRPr lang="en-IL" sz="1200" kern="1200" dirty="0">
                  <a:solidFill>
                    <a:schemeClr val="tx1"/>
                  </a:solidFill>
                  <a:effectLst/>
                  <a:latin typeface="+mn-lt"/>
                  <a:ea typeface="+mn-ea"/>
                  <a:cs typeface="+mn-cs"/>
                </a:endParaRP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i="0" kern="1200">
                    <a:solidFill>
                      <a:schemeClr val="tx1"/>
                    </a:solidFill>
                    <a:latin typeface="+mn-lt"/>
                    <a:ea typeface="+mn-ea"/>
                    <a:cs typeface="+mn-cs"/>
                  </a:rPr>
                  <a:t>2,304</a:t>
                </a:r>
                <a:r>
                  <a:rPr lang="en-IL" sz="1200" i="0" kern="1200">
                    <a:solidFill>
                      <a:schemeClr val="tx1"/>
                    </a:solidFill>
                    <a:latin typeface="Cambria Math" panose="02040503050406030204" pitchFamily="18" charset="0"/>
                    <a:ea typeface="+mn-ea"/>
                    <a:cs typeface="+mn-cs"/>
                  </a:rPr>
                  <a:t>" Bytes/layer</a:t>
                </a:r>
                <a:r>
                  <a:rPr lang="en-IL" sz="1200" i="0" kern="1200">
                    <a:solidFill>
                      <a:schemeClr val="tx1"/>
                    </a:solidFill>
                    <a:latin typeface="+mn-lt"/>
                    <a:ea typeface="+mn-ea"/>
                    <a:cs typeface="+mn-cs"/>
                  </a:rPr>
                  <a:t>"×6</a:t>
                </a:r>
                <a:r>
                  <a:rPr lang="en-IL" sz="1200" i="0" kern="1200">
                    <a:solidFill>
                      <a:schemeClr val="tx1"/>
                    </a:solidFill>
                    <a:latin typeface="Cambria Math" panose="02040503050406030204" pitchFamily="18" charset="0"/>
                    <a:ea typeface="+mn-ea"/>
                    <a:cs typeface="+mn-cs"/>
                  </a:rPr>
                  <a:t>" layers</a:t>
                </a:r>
                <a:r>
                  <a:rPr lang="en-IL" sz="1200" i="0" kern="1200">
                    <a:solidFill>
                      <a:schemeClr val="tx1"/>
                    </a:solidFill>
                    <a:latin typeface="+mn-lt"/>
                    <a:ea typeface="+mn-ea"/>
                    <a:cs typeface="+mn-cs"/>
                  </a:rPr>
                  <a:t>"=13,824</a:t>
                </a:r>
                <a:r>
                  <a:rPr lang="en-IL" sz="1200" i="0" kern="1200">
                    <a:solidFill>
                      <a:schemeClr val="tx1"/>
                    </a:solidFill>
                    <a:latin typeface="Cambria Math" panose="02040503050406030204" pitchFamily="18" charset="0"/>
                    <a:ea typeface="+mn-ea"/>
                    <a:cs typeface="+mn-cs"/>
                  </a:rPr>
                  <a:t>" Bytes/token</a:t>
                </a:r>
                <a:r>
                  <a:rPr lang="en-IL" sz="1200" i="0" kern="1200">
                    <a:solidFill>
                      <a:schemeClr val="tx1"/>
                    </a:solidFill>
                    <a:latin typeface="+mn-lt"/>
                    <a:ea typeface="+mn-ea"/>
                    <a:cs typeface="+mn-cs"/>
                  </a:rPr>
                  <a:t>"</a:t>
                </a:r>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Total bytes for 256 tokens:</a:t>
                </a:r>
                <a:endParaRPr lang="en-IL" sz="1200" kern="1200" dirty="0">
                  <a:solidFill>
                    <a:schemeClr val="tx1"/>
                  </a:solidFill>
                  <a:effectLst/>
                  <a:latin typeface="+mn-lt"/>
                  <a:ea typeface="+mn-ea"/>
                  <a:cs typeface="+mn-cs"/>
                </a:endParaRP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i="0" kern="1200">
                    <a:solidFill>
                      <a:schemeClr val="tx1"/>
                    </a:solidFill>
                    <a:latin typeface="+mn-lt"/>
                    <a:ea typeface="+mn-ea"/>
                    <a:cs typeface="+mn-cs"/>
                  </a:rPr>
                  <a:t>13,824</a:t>
                </a:r>
                <a:r>
                  <a:rPr lang="en-IL" sz="1200" i="0" kern="1200">
                    <a:solidFill>
                      <a:schemeClr val="tx1"/>
                    </a:solidFill>
                    <a:latin typeface="Cambria Math" panose="02040503050406030204" pitchFamily="18" charset="0"/>
                    <a:ea typeface="+mn-ea"/>
                    <a:cs typeface="+mn-cs"/>
                  </a:rPr>
                  <a:t>" Bytes/token</a:t>
                </a:r>
                <a:r>
                  <a:rPr lang="en-IL" sz="1200" i="0" kern="1200">
                    <a:solidFill>
                      <a:schemeClr val="tx1"/>
                    </a:solidFill>
                    <a:latin typeface="+mn-lt"/>
                    <a:ea typeface="+mn-ea"/>
                    <a:cs typeface="+mn-cs"/>
                  </a:rPr>
                  <a:t>"×256</a:t>
                </a:r>
                <a:r>
                  <a:rPr lang="en-IL" sz="1200" i="0" kern="1200">
                    <a:solidFill>
                      <a:schemeClr val="tx1"/>
                    </a:solidFill>
                    <a:latin typeface="Cambria Math" panose="02040503050406030204" pitchFamily="18" charset="0"/>
                    <a:ea typeface="+mn-ea"/>
                    <a:cs typeface="+mn-cs"/>
                  </a:rPr>
                  <a:t>" tokens</a:t>
                </a:r>
                <a:r>
                  <a:rPr lang="en-IL" sz="1200" i="0" kern="1200">
                    <a:solidFill>
                      <a:schemeClr val="tx1"/>
                    </a:solidFill>
                    <a:latin typeface="+mn-lt"/>
                    <a:ea typeface="+mn-ea"/>
                    <a:cs typeface="+mn-cs"/>
                  </a:rPr>
                  <a:t>"=3,538,944</a:t>
                </a:r>
                <a:r>
                  <a:rPr lang="en-IL" sz="1200" i="0" kern="1200">
                    <a:solidFill>
                      <a:schemeClr val="tx1"/>
                    </a:solidFill>
                    <a:latin typeface="Cambria Math" panose="02040503050406030204" pitchFamily="18" charset="0"/>
                    <a:ea typeface="+mn-ea"/>
                    <a:cs typeface="+mn-cs"/>
                  </a:rPr>
                  <a:t>" Bytes</a:t>
                </a:r>
                <a:r>
                  <a:rPr lang="en-IL" sz="1200" i="0" kern="1200">
                    <a:solidFill>
                      <a:schemeClr val="tx1"/>
                    </a:solidFill>
                    <a:latin typeface="+mn-lt"/>
                    <a:ea typeface="+mn-ea"/>
                    <a:cs typeface="+mn-cs"/>
                  </a:rPr>
                  <a:t>"</a:t>
                </a:r>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Convert to Megabytes (binary </a:t>
                </a:r>
                <a:r>
                  <a:rPr lang="en-IL" sz="1200" i="0" kern="1200">
                    <a:solidFill>
                      <a:schemeClr val="tx1"/>
                    </a:solidFill>
                    <a:latin typeface="Cambria Math" panose="02040503050406030204" pitchFamily="18" charset="0"/>
                    <a:ea typeface="+mn-ea"/>
                    <a:cs typeface="+mn-cs"/>
                  </a:rPr>
                  <a:t>"MiB</a:t>
                </a:r>
                <a:r>
                  <a:rPr lang="en-IL" sz="1200" i="0" kern="1200">
                    <a:solidFill>
                      <a:schemeClr val="tx1"/>
                    </a:solidFill>
                    <a:latin typeface="+mn-lt"/>
                    <a:ea typeface="+mn-ea"/>
                    <a:cs typeface="+mn-cs"/>
                  </a:rPr>
                  <a:t>"</a:t>
                </a:r>
                <a:r>
                  <a:rPr lang="en-IL" sz="1200" b="1" kern="1200" dirty="0">
                    <a:solidFill>
                      <a:schemeClr val="tx1"/>
                    </a:solidFill>
                    <a:effectLst/>
                    <a:latin typeface="+mn-lt"/>
                    <a:ea typeface="+mn-ea"/>
                    <a:cs typeface="+mn-cs"/>
                  </a:rPr>
                  <a:t>):</a:t>
                </a:r>
                <a:endParaRPr lang="en-IL" sz="1200" kern="1200" dirty="0">
                  <a:solidFill>
                    <a:schemeClr val="tx1"/>
                  </a:solidFill>
                  <a:effectLst/>
                  <a:latin typeface="+mn-lt"/>
                  <a:ea typeface="+mn-ea"/>
                  <a:cs typeface="+mn-cs"/>
                </a:endParaRP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i="0" kern="1200">
                    <a:solidFill>
                      <a:schemeClr val="tx1"/>
                    </a:solidFill>
                    <a:latin typeface="+mn-lt"/>
                    <a:ea typeface="+mn-ea"/>
                    <a:cs typeface="+mn-cs"/>
                  </a:rPr>
                  <a:t>3,538,944" Bytes" /(1024×1024)=3,538,944/1,048,576=3.375</a:t>
                </a:r>
                <a:r>
                  <a:rPr lang="en-IL" sz="1200" i="0" kern="1200">
                    <a:solidFill>
                      <a:schemeClr val="tx1"/>
                    </a:solidFill>
                    <a:latin typeface="Cambria Math" panose="02040503050406030204" pitchFamily="18" charset="0"/>
                    <a:ea typeface="+mn-ea"/>
                    <a:cs typeface="+mn-cs"/>
                  </a:rPr>
                  <a:t>" MiB</a:t>
                </a:r>
                <a:r>
                  <a:rPr lang="en-IL" sz="1200" i="0" kern="1200">
                    <a:solidFill>
                      <a:schemeClr val="tx1"/>
                    </a:solidFill>
                    <a:latin typeface="+mn-lt"/>
                    <a:ea typeface="+mn-ea"/>
                    <a:cs typeface="+mn-cs"/>
                  </a:rPr>
                  <a:t>"≈</a:t>
                </a:r>
                <a:r>
                  <a:rPr lang="en-IL" sz="1200" b="1" i="0" kern="1200">
                    <a:solidFill>
                      <a:schemeClr val="tx1"/>
                    </a:solidFill>
                    <a:latin typeface="+mn-lt"/>
                    <a:ea typeface="+mn-ea"/>
                    <a:cs typeface="+mn-cs"/>
                  </a:rPr>
                  <a:t>𝟑</a:t>
                </a:r>
                <a:r>
                  <a:rPr lang="en-IL" sz="1200" b="0" i="0" kern="1200">
                    <a:solidFill>
                      <a:schemeClr val="tx1"/>
                    </a:solidFill>
                    <a:latin typeface="+mn-lt"/>
                    <a:ea typeface="+mn-ea"/>
                    <a:cs typeface="+mn-cs"/>
                  </a:rPr>
                  <a:t>.</a:t>
                </a:r>
                <a:r>
                  <a:rPr lang="en-IL" sz="1200" b="1" i="0" kern="1200">
                    <a:solidFill>
                      <a:schemeClr val="tx1"/>
                    </a:solidFill>
                    <a:latin typeface="+mn-lt"/>
                    <a:ea typeface="+mn-ea"/>
                    <a:cs typeface="+mn-cs"/>
                  </a:rPr>
                  <a:t>𝟑𝟖</a:t>
                </a:r>
                <a:r>
                  <a:rPr lang="en-IL" sz="1200" b="0" i="0" kern="1200">
                    <a:solidFill>
                      <a:schemeClr val="tx1"/>
                    </a:solidFill>
                    <a:latin typeface="Cambria Math" panose="02040503050406030204" pitchFamily="18" charset="0"/>
                    <a:ea typeface="+mn-ea"/>
                    <a:cs typeface="+mn-cs"/>
                  </a:rPr>
                  <a:t>" MB</a:t>
                </a:r>
                <a:r>
                  <a:rPr lang="en-IL" sz="1200" b="0" i="0" kern="1200">
                    <a:solidFill>
                      <a:schemeClr val="tx1"/>
                    </a:solidFill>
                    <a:latin typeface="+mn-lt"/>
                    <a:ea typeface="+mn-ea"/>
                    <a:cs typeface="+mn-cs"/>
                  </a:rPr>
                  <a:t>"</a:t>
                </a:r>
                <a:endParaRPr lang="en-IL" sz="1200" kern="1200" dirty="0">
                  <a:solidFill>
                    <a:schemeClr val="tx1"/>
                  </a:solidFill>
                  <a:effectLst/>
                  <a:latin typeface="+mn-lt"/>
                  <a:ea typeface="+mn-ea"/>
                  <a:cs typeface="+mn-cs"/>
                </a:endParaRPr>
              </a:p>
              <a:p>
                <a:pPr rtl="0"/>
                <a:r>
                  <a:rPr lang="en-IL" sz="1200" b="1" kern="1200" dirty="0">
                    <a:solidFill>
                      <a:schemeClr val="tx1"/>
                    </a:solidFill>
                    <a:effectLst/>
                    <a:latin typeface="+mn-lt"/>
                    <a:ea typeface="+mn-ea"/>
                    <a:cs typeface="+mn-cs"/>
                  </a:rPr>
                  <a:t>4. Derivation of 384 Bytes/Token and 0.56 MB (</a:t>
                </a:r>
                <a:r>
                  <a:rPr lang="en-IL" sz="1200" b="1" kern="1200" dirty="0" err="1">
                    <a:solidFill>
                      <a:schemeClr val="tx1"/>
                    </a:solidFill>
                    <a:effectLst/>
                    <a:latin typeface="+mn-lt"/>
                    <a:ea typeface="+mn-ea"/>
                    <a:cs typeface="+mn-cs"/>
                  </a:rPr>
                  <a:t>TurboQuant</a:t>
                </a:r>
                <a:r>
                  <a:rPr lang="en-IL" sz="1200" b="1" kern="1200" dirty="0">
                    <a:solidFill>
                      <a:schemeClr val="tx1"/>
                    </a:solidFill>
                    <a:effectLst/>
                    <a:latin typeface="+mn-lt"/>
                    <a:ea typeface="+mn-ea"/>
                    <a:cs typeface="+mn-cs"/>
                  </a:rPr>
                  <a:t>)</a:t>
                </a:r>
              </a:p>
              <a:p>
                <a:pPr rtl="0"/>
                <a:r>
                  <a:rPr lang="en-IL" sz="1200" kern="1200" dirty="0">
                    <a:solidFill>
                      <a:schemeClr val="tx1"/>
                    </a:solidFill>
                    <a:effectLst/>
                    <a:latin typeface="+mn-lt"/>
                    <a:ea typeface="+mn-ea"/>
                    <a:cs typeface="+mn-cs"/>
                  </a:rPr>
                  <a:t>The slide applies a </a:t>
                </a:r>
                <a:r>
                  <a:rPr lang="en-IL" sz="1200" i="0" kern="1200">
                    <a:solidFill>
                      <a:schemeClr val="tx1"/>
                    </a:solidFill>
                    <a:latin typeface="+mn-lt"/>
                    <a:ea typeface="+mn-ea"/>
                    <a:cs typeface="+mn-cs"/>
                  </a:rPr>
                  <a:t>6×</a:t>
                </a:r>
                <a:r>
                  <a:rPr lang="en-IL" sz="1200" b="1" kern="1200" dirty="0">
                    <a:solidFill>
                      <a:schemeClr val="tx1"/>
                    </a:solidFill>
                    <a:effectLst/>
                    <a:latin typeface="+mn-lt"/>
                    <a:ea typeface="+mn-ea"/>
                    <a:cs typeface="+mn-cs"/>
                  </a:rPr>
                  <a:t>compression factor</a:t>
                </a:r>
                <a:r>
                  <a:rPr lang="en-IL" sz="1200" kern="1200" dirty="0">
                    <a:solidFill>
                      <a:schemeClr val="tx1"/>
                    </a:solidFill>
                    <a:effectLst/>
                    <a:latin typeface="+mn-lt"/>
                    <a:ea typeface="+mn-ea"/>
                    <a:cs typeface="+mn-cs"/>
                  </a:rPr>
                  <a:t> to compress FP32 (32-bit float) down to </a:t>
                </a:r>
                <a:r>
                  <a:rPr lang="en-IL" sz="1200" kern="1200" dirty="0" err="1">
                    <a:solidFill>
                      <a:schemeClr val="tx1"/>
                    </a:solidFill>
                    <a:effectLst/>
                    <a:latin typeface="+mn-lt"/>
                    <a:ea typeface="+mn-ea"/>
                    <a:cs typeface="+mn-cs"/>
                  </a:rPr>
                  <a:t>TurboQuant's</a:t>
                </a:r>
                <a:r>
                  <a:rPr lang="en-IL" sz="1200" kern="1200" dirty="0">
                    <a:solidFill>
                      <a:schemeClr val="tx1"/>
                    </a:solidFill>
                    <a:effectLst/>
                    <a:latin typeface="+mn-lt"/>
                    <a:ea typeface="+mn-ea"/>
                    <a:cs typeface="+mn-cs"/>
                  </a:rPr>
                  <a:t> quantized representation (~5.33 bits effective per value, accounting for 4-bit centroid indices, 1-bit residual signs, and scale offsets):</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Compressed bytes per layer per token:</a:t>
                </a:r>
                <a:endParaRPr lang="en-IL" sz="1200" kern="1200" dirty="0">
                  <a:solidFill>
                    <a:schemeClr val="tx1"/>
                  </a:solidFill>
                  <a:effectLst/>
                  <a:latin typeface="+mn-lt"/>
                  <a:ea typeface="+mn-ea"/>
                  <a:cs typeface="+mn-cs"/>
                </a:endParaRP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i="0" kern="1200">
                    <a:solidFill>
                      <a:schemeClr val="tx1"/>
                    </a:solidFill>
                    <a:latin typeface="+mn-lt"/>
                    <a:ea typeface="+mn-ea"/>
                    <a:cs typeface="+mn-cs"/>
                  </a:rPr>
                  <a:t>2,304" Bytes" /6=</a:t>
                </a:r>
                <a:r>
                  <a:rPr lang="en-IL" sz="1200" b="1" i="0" kern="1200">
                    <a:solidFill>
                      <a:schemeClr val="tx1"/>
                    </a:solidFill>
                    <a:latin typeface="+mn-lt"/>
                    <a:ea typeface="+mn-ea"/>
                    <a:cs typeface="+mn-cs"/>
                  </a:rPr>
                  <a:t>𝟑𝟖𝟒</a:t>
                </a:r>
                <a:r>
                  <a:rPr lang="en-IL" sz="1200" b="0" i="0" kern="1200">
                    <a:solidFill>
                      <a:schemeClr val="tx1"/>
                    </a:solidFill>
                    <a:latin typeface="Cambria Math" panose="02040503050406030204" pitchFamily="18" charset="0"/>
                    <a:ea typeface="+mn-ea"/>
                    <a:cs typeface="+mn-cs"/>
                  </a:rPr>
                  <a:t>" Bytes/token</a:t>
                </a:r>
                <a:r>
                  <a:rPr lang="en-IL" sz="1200" b="0" i="0" kern="1200">
                    <a:solidFill>
                      <a:schemeClr val="tx1"/>
                    </a:solidFill>
                    <a:latin typeface="+mn-lt"/>
                    <a:ea typeface="+mn-ea"/>
                    <a:cs typeface="+mn-cs"/>
                  </a:rPr>
                  <a:t>"</a:t>
                </a:r>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Compressed total cache for 256 tokens across 6 layers:</a:t>
                </a:r>
                <a:endParaRPr lang="en-IL" sz="1200" kern="1200" dirty="0">
                  <a:solidFill>
                    <a:schemeClr val="tx1"/>
                  </a:solidFill>
                  <a:effectLst/>
                  <a:latin typeface="+mn-lt"/>
                  <a:ea typeface="+mn-ea"/>
                  <a:cs typeface="+mn-cs"/>
                </a:endParaRP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i="0" kern="1200">
                    <a:solidFill>
                      <a:schemeClr val="tx1"/>
                    </a:solidFill>
                    <a:latin typeface="+mn-lt"/>
                    <a:ea typeface="+mn-ea"/>
                    <a:cs typeface="+mn-cs"/>
                  </a:rPr>
                  <a:t>3.375" MB" /6=0.5625</a:t>
                </a:r>
                <a:r>
                  <a:rPr lang="en-IL" sz="1200" i="0" kern="1200">
                    <a:solidFill>
                      <a:schemeClr val="tx1"/>
                    </a:solidFill>
                    <a:latin typeface="Cambria Math" panose="02040503050406030204" pitchFamily="18" charset="0"/>
                    <a:ea typeface="+mn-ea"/>
                    <a:cs typeface="+mn-cs"/>
                  </a:rPr>
                  <a:t>" MB</a:t>
                </a:r>
                <a:r>
                  <a:rPr lang="en-IL" sz="1200" i="0" kern="1200">
                    <a:solidFill>
                      <a:schemeClr val="tx1"/>
                    </a:solidFill>
                    <a:latin typeface="+mn-lt"/>
                    <a:ea typeface="+mn-ea"/>
                    <a:cs typeface="+mn-cs"/>
                  </a:rPr>
                  <a:t>"≈</a:t>
                </a:r>
                <a:r>
                  <a:rPr lang="en-IL" sz="1200" b="1" i="0" kern="1200">
                    <a:solidFill>
                      <a:schemeClr val="tx1"/>
                    </a:solidFill>
                    <a:latin typeface="+mn-lt"/>
                    <a:ea typeface="+mn-ea"/>
                    <a:cs typeface="+mn-cs"/>
                  </a:rPr>
                  <a:t>𝟎</a:t>
                </a:r>
                <a:r>
                  <a:rPr lang="en-IL" sz="1200" b="0" i="0" kern="1200">
                    <a:solidFill>
                      <a:schemeClr val="tx1"/>
                    </a:solidFill>
                    <a:latin typeface="+mn-lt"/>
                    <a:ea typeface="+mn-ea"/>
                    <a:cs typeface="+mn-cs"/>
                  </a:rPr>
                  <a:t>.</a:t>
                </a:r>
                <a:r>
                  <a:rPr lang="en-IL" sz="1200" b="1" i="0" kern="1200">
                    <a:solidFill>
                      <a:schemeClr val="tx1"/>
                    </a:solidFill>
                    <a:latin typeface="+mn-lt"/>
                    <a:ea typeface="+mn-ea"/>
                    <a:cs typeface="+mn-cs"/>
                  </a:rPr>
                  <a:t>𝟓𝟔</a:t>
                </a:r>
                <a:r>
                  <a:rPr lang="en-IL" sz="1200" b="0" i="0" kern="1200">
                    <a:solidFill>
                      <a:schemeClr val="tx1"/>
                    </a:solidFill>
                    <a:latin typeface="Cambria Math" panose="02040503050406030204" pitchFamily="18" charset="0"/>
                    <a:ea typeface="+mn-ea"/>
                    <a:cs typeface="+mn-cs"/>
                  </a:rPr>
                  <a:t>" MB</a:t>
                </a:r>
                <a:r>
                  <a:rPr lang="en-IL" sz="1200" b="0" i="0" kern="1200">
                    <a:solidFill>
                      <a:schemeClr val="tx1"/>
                    </a:solidFill>
                    <a:latin typeface="+mn-lt"/>
                    <a:ea typeface="+mn-ea"/>
                    <a:cs typeface="+mn-cs"/>
                  </a:rPr>
                  <a:t>"</a:t>
                </a:r>
                <a:endParaRPr lang="en-IL" sz="1200" kern="1200" dirty="0">
                  <a:solidFill>
                    <a:schemeClr val="tx1"/>
                  </a:solidFill>
                  <a:effectLst/>
                  <a:latin typeface="+mn-lt"/>
                  <a:ea typeface="+mn-ea"/>
                  <a:cs typeface="+mn-cs"/>
                </a:endParaRPr>
              </a:p>
              <a:p>
                <a:pPr lvl="0" rtl="0"/>
                <a:r>
                  <a:rPr lang="en-IL" sz="1200" i="1" kern="1200" dirty="0">
                    <a:solidFill>
                      <a:schemeClr val="tx1"/>
                    </a:solidFill>
                    <a:effectLst/>
                    <a:latin typeface="+mn-lt"/>
                    <a:ea typeface="+mn-ea"/>
                    <a:cs typeface="+mn-cs"/>
                  </a:rPr>
                  <a:t>(Equivalently: </a:t>
                </a:r>
                <a:r>
                  <a:rPr lang="en-IL" sz="1200" i="0" kern="1200">
                    <a:solidFill>
                      <a:schemeClr val="tx1"/>
                    </a:solidFill>
                    <a:latin typeface="+mn-lt"/>
                    <a:ea typeface="+mn-ea"/>
                    <a:cs typeface="+mn-cs"/>
                  </a:rPr>
                  <a:t>384</a:t>
                </a:r>
                <a:r>
                  <a:rPr lang="en-IL" sz="1200" i="0" kern="1200">
                    <a:solidFill>
                      <a:schemeClr val="tx1"/>
                    </a:solidFill>
                    <a:latin typeface="Cambria Math" panose="02040503050406030204" pitchFamily="18" charset="0"/>
                    <a:ea typeface="+mn-ea"/>
                    <a:cs typeface="+mn-cs"/>
                  </a:rPr>
                  <a:t>" Bytes</a:t>
                </a:r>
                <a:r>
                  <a:rPr lang="en-IL" sz="1200" i="0" kern="1200">
                    <a:solidFill>
                      <a:schemeClr val="tx1"/>
                    </a:solidFill>
                    <a:latin typeface="+mn-lt"/>
                    <a:ea typeface="+mn-ea"/>
                    <a:cs typeface="+mn-cs"/>
                  </a:rPr>
                  <a:t>"×6</a:t>
                </a:r>
                <a:r>
                  <a:rPr lang="en-IL" sz="1200" i="0" kern="1200">
                    <a:solidFill>
                      <a:schemeClr val="tx1"/>
                    </a:solidFill>
                    <a:latin typeface="Cambria Math" panose="02040503050406030204" pitchFamily="18" charset="0"/>
                    <a:ea typeface="+mn-ea"/>
                    <a:cs typeface="+mn-cs"/>
                  </a:rPr>
                  <a:t>" layers</a:t>
                </a:r>
                <a:r>
                  <a:rPr lang="en-IL" sz="1200" i="0" kern="1200">
                    <a:solidFill>
                      <a:schemeClr val="tx1"/>
                    </a:solidFill>
                    <a:latin typeface="+mn-lt"/>
                    <a:ea typeface="+mn-ea"/>
                    <a:cs typeface="+mn-cs"/>
                  </a:rPr>
                  <a:t>"×256</a:t>
                </a:r>
                <a:r>
                  <a:rPr lang="en-IL" sz="1200" i="0" kern="1200">
                    <a:solidFill>
                      <a:schemeClr val="tx1"/>
                    </a:solidFill>
                    <a:latin typeface="Cambria Math" panose="02040503050406030204" pitchFamily="18" charset="0"/>
                    <a:ea typeface="+mn-ea"/>
                    <a:cs typeface="+mn-cs"/>
                  </a:rPr>
                  <a:t>" tokens</a:t>
                </a:r>
                <a:r>
                  <a:rPr lang="en-IL" sz="1200" i="0" kern="1200">
                    <a:solidFill>
                      <a:schemeClr val="tx1"/>
                    </a:solidFill>
                    <a:latin typeface="+mn-lt"/>
                    <a:ea typeface="+mn-ea"/>
                    <a:cs typeface="+mn-cs"/>
                  </a:rPr>
                  <a:t>"=589,824</a:t>
                </a:r>
                <a:r>
                  <a:rPr lang="en-IL" sz="1200" i="0" kern="1200">
                    <a:solidFill>
                      <a:schemeClr val="tx1"/>
                    </a:solidFill>
                    <a:latin typeface="Cambria Math" panose="02040503050406030204" pitchFamily="18" charset="0"/>
                    <a:ea typeface="+mn-ea"/>
                    <a:cs typeface="+mn-cs"/>
                  </a:rPr>
                  <a:t>" Bytes</a:t>
                </a:r>
                <a:r>
                  <a:rPr lang="en-IL" sz="1200" i="0" kern="1200">
                    <a:solidFill>
                      <a:schemeClr val="tx1"/>
                    </a:solidFill>
                    <a:latin typeface="+mn-lt"/>
                    <a:ea typeface="+mn-ea"/>
                    <a:cs typeface="+mn-cs"/>
                  </a:rPr>
                  <a:t>"=589,824/1024^2  </a:t>
                </a:r>
                <a:r>
                  <a:rPr lang="en-IL" sz="1200" i="0" kern="1200">
                    <a:solidFill>
                      <a:schemeClr val="tx1"/>
                    </a:solidFill>
                    <a:latin typeface="Cambria Math" panose="02040503050406030204" pitchFamily="18" charset="0"/>
                    <a:ea typeface="+mn-ea"/>
                    <a:cs typeface="+mn-cs"/>
                  </a:rPr>
                  <a:t>" MiB</a:t>
                </a:r>
                <a:r>
                  <a:rPr lang="en-IL" sz="1200" i="0" kern="1200">
                    <a:solidFill>
                      <a:schemeClr val="tx1"/>
                    </a:solidFill>
                    <a:latin typeface="+mn-lt"/>
                    <a:ea typeface="+mn-ea"/>
                    <a:cs typeface="+mn-cs"/>
                  </a:rPr>
                  <a:t>"=</a:t>
                </a:r>
                <a:r>
                  <a:rPr lang="en-IL" sz="1200" b="1" i="0" kern="1200">
                    <a:solidFill>
                      <a:schemeClr val="tx1"/>
                    </a:solidFill>
                    <a:latin typeface="+mn-lt"/>
                    <a:ea typeface="+mn-ea"/>
                    <a:cs typeface="+mn-cs"/>
                  </a:rPr>
                  <a:t>𝟎</a:t>
                </a:r>
                <a:r>
                  <a:rPr lang="en-IL" sz="1200" b="0" i="0" kern="1200">
                    <a:solidFill>
                      <a:schemeClr val="tx1"/>
                    </a:solidFill>
                    <a:latin typeface="+mn-lt"/>
                    <a:ea typeface="+mn-ea"/>
                    <a:cs typeface="+mn-cs"/>
                  </a:rPr>
                  <a:t>.</a:t>
                </a:r>
                <a:r>
                  <a:rPr lang="en-IL" sz="1200" b="1" i="0" kern="1200">
                    <a:solidFill>
                      <a:schemeClr val="tx1"/>
                    </a:solidFill>
                    <a:latin typeface="+mn-lt"/>
                    <a:ea typeface="+mn-ea"/>
                    <a:cs typeface="+mn-cs"/>
                  </a:rPr>
                  <a:t>𝟓𝟔𝟐𝟓</a:t>
                </a:r>
                <a:r>
                  <a:rPr lang="en-IL" sz="1200" b="0" i="0" kern="1200">
                    <a:solidFill>
                      <a:schemeClr val="tx1"/>
                    </a:solidFill>
                    <a:latin typeface="Cambria Math" panose="02040503050406030204" pitchFamily="18" charset="0"/>
                    <a:ea typeface="+mn-ea"/>
                    <a:cs typeface="+mn-cs"/>
                  </a:rPr>
                  <a:t>" MB</a:t>
                </a:r>
                <a:r>
                  <a:rPr lang="en-IL" sz="1200" b="0" i="0" kern="1200">
                    <a:solidFill>
                      <a:schemeClr val="tx1"/>
                    </a:solidFill>
                    <a:latin typeface="+mn-lt"/>
                    <a:ea typeface="+mn-ea"/>
                    <a:cs typeface="+mn-cs"/>
                  </a:rPr>
                  <a:t>"</a:t>
                </a:r>
                <a:r>
                  <a:rPr lang="en-IL" sz="1200" i="1" kern="1200" dirty="0">
                    <a:solidFill>
                      <a:schemeClr val="tx1"/>
                    </a:solidFill>
                    <a:effectLst/>
                    <a:latin typeface="+mn-lt"/>
                    <a:ea typeface="+mn-ea"/>
                    <a:cs typeface="+mn-cs"/>
                  </a:rPr>
                  <a:t>)</a:t>
                </a:r>
                <a:endParaRPr lang="en-IL" sz="1200" kern="1200" dirty="0">
                  <a:solidFill>
                    <a:schemeClr val="tx1"/>
                  </a:solidFill>
                  <a:effectLst/>
                  <a:latin typeface="+mn-lt"/>
                  <a:ea typeface="+mn-ea"/>
                  <a:cs typeface="+mn-cs"/>
                </a:endParaRPr>
              </a:p>
              <a:p>
                <a:endParaRPr lang="en-IL" dirty="0"/>
              </a:p>
            </p:txBody>
          </p:sp>
        </mc:Fallback>
      </mc:AlternateContent>
      <p:sp>
        <p:nvSpPr>
          <p:cNvPr id="4" name="Slide Number Placeholder 3"/>
          <p:cNvSpPr>
            <a:spLocks noGrp="1"/>
          </p:cNvSpPr>
          <p:nvPr>
            <p:ph type="sldNum" sz="quarter" idx="5"/>
          </p:nvPr>
        </p:nvSpPr>
        <p:spPr/>
        <p:txBody>
          <a:bodyPr/>
          <a:lstStyle/>
          <a:p>
            <a:fld id="{12BA8379-D9C5-4CE3-8B4D-43AFDCD47F13}" type="slidenum">
              <a:rPr lang="en-IL" smtClean="0"/>
              <a:t>3</a:t>
            </a:fld>
            <a:endParaRPr lang="en-IL"/>
          </a:p>
        </p:txBody>
      </p:sp>
    </p:spTree>
    <p:extLst>
      <p:ext uri="{BB962C8B-B14F-4D97-AF65-F5344CB8AC3E}">
        <p14:creationId xmlns:p14="http://schemas.microsoft.com/office/powerpoint/2010/main" val="497944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D174B-FB6D-0901-350A-B337C82439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BCF47F-6185-52EE-9962-1C8BD3D71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EB621C-2754-107F-AA7A-1C56D053F1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E0EF95-9188-A0A3-0E52-F0FAE360B207}"/>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720403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65E99-CC49-2208-AF6B-419237D44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121242-4116-C113-BBE4-82EFA48EC6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B816DA-11B6-EB93-0E45-B79A06A710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C47207-0C6D-D81F-83C1-9A05D361BDBC}"/>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8376758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6DCDB-3569-2547-B5C8-EC46D095A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A5D2C2-3D01-952F-CCB4-C5726EF879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92CD5E-05DB-CC50-06CE-7CE284A07C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B3F234-CF09-A770-7E93-F47811D7E051}"/>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6992804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43BC3-CAAD-30D5-3EBB-F52A1212C8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91C17-A587-454D-AB25-B25B594CDF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3BDB5-7493-E7F8-8C37-CEBCDBB8E3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87B320-3382-4C2F-4C6E-1CBCFD796FE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2182239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F4CB6-FB5A-3483-FAB2-E9C1B7946A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11E1D-7FEC-FF75-BA3A-2047D56E87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8BC777-AFAC-D190-E1F2-4669B5F3E9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275E6D-1F80-5946-6D99-66BF66A19B3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4327030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41FC8-8AFB-6374-8CA6-0D7D3C4563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3DC8A-47E4-AA2C-1D20-3CB1641AD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B86D7A-E077-619C-DE02-708657D9C4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D90D74-7106-6E9F-42D1-0B804F19D136}"/>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0428557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48FE8-81A8-F9CA-6EFA-8AAD97B3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6791B3-4740-AF89-D9B7-ED55555B9B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BCABC6-1E1E-5CB0-9093-D6E03E00A5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D4A65B-B53A-8237-0CF7-AE0088AC29A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3454666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4BBA5-B2F6-50D3-3F19-7303D08D8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13981-31DE-59D8-4EE1-8AD1F73A2C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80B623-9BA2-9230-3F16-4433E2BBB2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3BF245-1584-68CA-3CF9-05303FF0AF8C}"/>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401797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IL" sz="1200" kern="1200" dirty="0">
                    <a:solidFill>
                      <a:schemeClr val="tx1"/>
                    </a:solidFill>
                    <a:effectLst/>
                    <a:latin typeface="+mn-lt"/>
                    <a:ea typeface="+mn-ea"/>
                    <a:cs typeface="+mn-cs"/>
                  </a:rPr>
                  <a:t>The </a:t>
                </a:r>
                <a14:m>
                  <m:oMath xmlns:m="http://schemas.openxmlformats.org/officeDocument/2006/math">
                    <m:r>
                      <a:rPr lang="en-IL" sz="1200" i="1" kern="1200" smtClean="0">
                        <a:solidFill>
                          <a:schemeClr val="tx1"/>
                        </a:solidFill>
                        <a:latin typeface="+mn-lt"/>
                        <a:ea typeface="+mn-ea"/>
                        <a:cs typeface="+mn-cs"/>
                      </a:rPr>
                      <m:t>𝐻</m:t>
                    </m:r>
                  </m:oMath>
                </a14:m>
                <a:r>
                  <a:rPr lang="en-IL" sz="1200" b="1" kern="1200" dirty="0">
                    <a:solidFill>
                      <a:schemeClr val="tx1"/>
                    </a:solidFill>
                    <a:effectLst/>
                    <a:latin typeface="+mn-lt"/>
                    <a:ea typeface="+mn-ea"/>
                    <a:cs typeface="+mn-cs"/>
                  </a:rPr>
                  <a:t>(Haar / orthogonal rotation)</a:t>
                </a:r>
                <a:r>
                  <a:rPr lang="en-IL" sz="1200" kern="1200" dirty="0">
                    <a:solidFill>
                      <a:schemeClr val="tx1"/>
                    </a:solidFill>
                    <a:effectLst/>
                    <a:latin typeface="+mn-lt"/>
                    <a:ea typeface="+mn-ea"/>
                    <a:cs typeface="+mn-cs"/>
                  </a:rPr>
                  <a:t> and </a:t>
                </a:r>
                <a14:m>
                  <m:oMath xmlns:m="http://schemas.openxmlformats.org/officeDocument/2006/math">
                    <m:r>
                      <a:rPr lang="en-IL" sz="1200" i="1" kern="1200" smtClean="0">
                        <a:solidFill>
                          <a:schemeClr val="tx1"/>
                        </a:solidFill>
                        <a:latin typeface="+mn-lt"/>
                        <a:ea typeface="+mn-ea"/>
                        <a:cs typeface="+mn-cs"/>
                      </a:rPr>
                      <m:t>𝑀</m:t>
                    </m:r>
                  </m:oMath>
                </a14:m>
                <a:r>
                  <a:rPr lang="en-IL" sz="1200" b="1" kern="1200" dirty="0">
                    <a:solidFill>
                      <a:schemeClr val="tx1"/>
                    </a:solidFill>
                    <a:effectLst/>
                    <a:latin typeface="+mn-lt"/>
                    <a:ea typeface="+mn-ea"/>
                    <a:cs typeface="+mn-cs"/>
                  </a:rPr>
                  <a:t>(Gaussian QJL projection)</a:t>
                </a:r>
                <a:r>
                  <a:rPr lang="en-IL" sz="1200" kern="1200" dirty="0">
                    <a:solidFill>
                      <a:schemeClr val="tx1"/>
                    </a:solidFill>
                    <a:effectLst/>
                    <a:latin typeface="+mn-lt"/>
                    <a:ea typeface="+mn-ea"/>
                    <a:cs typeface="+mn-cs"/>
                  </a:rPr>
                  <a:t> matrices can be fully precomputed offline because the </a:t>
                </a:r>
                <a:r>
                  <a:rPr lang="en-IL" sz="1200" kern="1200" dirty="0" err="1">
                    <a:solidFill>
                      <a:schemeClr val="tx1"/>
                    </a:solidFill>
                    <a:effectLst/>
                    <a:latin typeface="+mn-lt"/>
                    <a:ea typeface="+mn-ea"/>
                    <a:cs typeface="+mn-cs"/>
                  </a:rPr>
                  <a:t>TurboQuant</a:t>
                </a:r>
                <a:r>
                  <a:rPr lang="en-IL" sz="1200" kern="1200" dirty="0">
                    <a:solidFill>
                      <a:schemeClr val="tx1"/>
                    </a:solidFill>
                    <a:effectLst/>
                    <a:latin typeface="+mn-lt"/>
                    <a:ea typeface="+mn-ea"/>
                    <a:cs typeface="+mn-cs"/>
                  </a:rPr>
                  <a:t> algorithm is mathematically </a:t>
                </a:r>
                <a:r>
                  <a:rPr lang="en-IL" sz="1200" b="1" kern="1200" dirty="0">
                    <a:solidFill>
                      <a:schemeClr val="tx1"/>
                    </a:solidFill>
                    <a:effectLst/>
                    <a:latin typeface="+mn-lt"/>
                    <a:ea typeface="+mn-ea"/>
                    <a:cs typeface="+mn-cs"/>
                  </a:rPr>
                  <a:t>data-oblivious</a:t>
                </a:r>
                <a:r>
                  <a:rPr lang="en-IL" sz="1200" kern="1200" dirty="0">
                    <a:solidFill>
                      <a:schemeClr val="tx1"/>
                    </a:solidFill>
                    <a:effectLst/>
                    <a:latin typeface="+mn-lt"/>
                    <a:ea typeface="+mn-ea"/>
                    <a:cs typeface="+mn-cs"/>
                  </a:rPr>
                  <a:t>[cite: 4, 5]. They do not rely on training data, model weights, or input tokens[cite: 5]. </a:t>
                </a:r>
              </a:p>
              <a:p>
                <a:r>
                  <a:rPr lang="en-IL" sz="1200" b="1" kern="1200" dirty="0">
                    <a:solidFill>
                      <a:schemeClr val="tx1"/>
                    </a:solidFill>
                    <a:effectLst/>
                    <a:latin typeface="+mn-lt"/>
                    <a:ea typeface="+mn-ea"/>
                    <a:cs typeface="+mn-cs"/>
                  </a:rPr>
                  <a:t>1. Why We Can Create </a:t>
                </a:r>
                <a14:m>
                  <m:oMath xmlns:m="http://schemas.openxmlformats.org/officeDocument/2006/math">
                    <m:r>
                      <a:rPr lang="en-IL" sz="1200" i="1" kern="1200" smtClean="0">
                        <a:solidFill>
                          <a:schemeClr val="tx1"/>
                        </a:solidFill>
                        <a:latin typeface="+mn-lt"/>
                        <a:ea typeface="+mn-ea"/>
                        <a:cs typeface="+mn-cs"/>
                      </a:rPr>
                      <m:t>𝐻</m:t>
                    </m:r>
                  </m:oMath>
                </a14:m>
                <a:r>
                  <a:rPr lang="en-IL" sz="1200" b="1" kern="1200" dirty="0">
                    <a:solidFill>
                      <a:schemeClr val="tx1"/>
                    </a:solidFill>
                    <a:effectLst/>
                    <a:latin typeface="+mn-lt"/>
                    <a:ea typeface="+mn-ea"/>
                    <a:cs typeface="+mn-cs"/>
                  </a:rPr>
                  <a:t>and </a:t>
                </a:r>
                <a14:m>
                  <m:oMath xmlns:m="http://schemas.openxmlformats.org/officeDocument/2006/math">
                    <m:r>
                      <a:rPr lang="en-IL" sz="1200" i="1" kern="1200" smtClean="0">
                        <a:solidFill>
                          <a:schemeClr val="tx1"/>
                        </a:solidFill>
                        <a:latin typeface="+mn-lt"/>
                        <a:ea typeface="+mn-ea"/>
                        <a:cs typeface="+mn-cs"/>
                      </a:rPr>
                      <m:t>𝑀</m:t>
                    </m:r>
                  </m:oMath>
                </a14:m>
                <a:r>
                  <a:rPr lang="en-IL" sz="1200" b="1" kern="1200" dirty="0">
                    <a:solidFill>
                      <a:schemeClr val="tx1"/>
                    </a:solidFill>
                    <a:effectLst/>
                    <a:latin typeface="+mn-lt"/>
                    <a:ea typeface="+mn-ea"/>
                    <a:cs typeface="+mn-cs"/>
                  </a:rPr>
                  <a:t>Offline</a:t>
                </a:r>
              </a:p>
              <a:p>
                <a:pPr lvl="0"/>
                <a:r>
                  <a:rPr lang="en-IL" sz="1200" b="1" kern="1200" dirty="0">
                    <a:solidFill>
                      <a:schemeClr val="tx1"/>
                    </a:solidFill>
                    <a:effectLst/>
                    <a:latin typeface="+mn-lt"/>
                    <a:ea typeface="+mn-ea"/>
                    <a:cs typeface="+mn-cs"/>
                  </a:rPr>
                  <a:t>Data-Oblivious Property:</a:t>
                </a:r>
                <a:r>
                  <a:rPr lang="en-IL" sz="1200" kern="1200" dirty="0">
                    <a:solidFill>
                      <a:schemeClr val="tx1"/>
                    </a:solidFill>
                    <a:effectLst/>
                    <a:latin typeface="+mn-lt"/>
                    <a:ea typeface="+mn-ea"/>
                    <a:cs typeface="+mn-cs"/>
                  </a:rPr>
                  <a:t> Unlike traditional vector quantization methods (such as k-means or learned Product Quantization) that must learn codebooks from calibration data, </a:t>
                </a:r>
                <a:r>
                  <a:rPr lang="en-IL" sz="1200" kern="1200" dirty="0" err="1">
                    <a:solidFill>
                      <a:schemeClr val="tx1"/>
                    </a:solidFill>
                    <a:effectLst/>
                    <a:latin typeface="+mn-lt"/>
                    <a:ea typeface="+mn-ea"/>
                    <a:cs typeface="+mn-cs"/>
                  </a:rPr>
                  <a:t>TurboQuant’s</a:t>
                </a:r>
                <a:r>
                  <a:rPr lang="en-IL" sz="1200" kern="1200" dirty="0">
                    <a:solidFill>
                      <a:schemeClr val="tx1"/>
                    </a:solidFill>
                    <a:effectLst/>
                    <a:latin typeface="+mn-lt"/>
                    <a:ea typeface="+mn-ea"/>
                    <a:cs typeface="+mn-cs"/>
                  </a:rPr>
                  <a:t> theoretical guarantees hold for </a:t>
                </a:r>
                <a:r>
                  <a:rPr lang="en-IL" sz="1200" b="1" kern="1200" dirty="0">
                    <a:solidFill>
                      <a:schemeClr val="tx1"/>
                    </a:solidFill>
                    <a:effectLst/>
                    <a:latin typeface="+mn-lt"/>
                    <a:ea typeface="+mn-ea"/>
                    <a:cs typeface="+mn-cs"/>
                  </a:rPr>
                  <a:t>any</a:t>
                </a:r>
                <a:r>
                  <a:rPr lang="en-IL" sz="1200" kern="1200" dirty="0">
                    <a:solidFill>
                      <a:schemeClr val="tx1"/>
                    </a:solidFill>
                    <a:effectLst/>
                    <a:latin typeface="+mn-lt"/>
                    <a:ea typeface="+mn-ea"/>
                    <a:cs typeface="+mn-cs"/>
                  </a:rPr>
                  <a:t> arbitrary vector in Euclidean space.</a:t>
                </a:r>
              </a:p>
              <a:p>
                <a:pPr lvl="0"/>
                <a:r>
                  <a:rPr lang="en-IL" sz="1200" b="1" kern="1200" dirty="0">
                    <a:solidFill>
                      <a:schemeClr val="tx1"/>
                    </a:solidFill>
                    <a:effectLst/>
                    <a:latin typeface="+mn-lt"/>
                    <a:ea typeface="+mn-ea"/>
                    <a:cs typeface="+mn-cs"/>
                  </a:rPr>
                  <a:t>Isometry and Rotational Invariance (</a:t>
                </a:r>
                <a14:m>
                  <m:oMath xmlns:m="http://schemas.openxmlformats.org/officeDocument/2006/math">
                    <m:r>
                      <a:rPr lang="en-IL" sz="1200" i="1" kern="1200" smtClean="0">
                        <a:solidFill>
                          <a:schemeClr val="tx1"/>
                        </a:solidFill>
                        <a:latin typeface="+mn-lt"/>
                        <a:ea typeface="+mn-ea"/>
                        <a:cs typeface="+mn-cs"/>
                      </a:rPr>
                      <m:t>𝐻</m:t>
                    </m:r>
                  </m:oMath>
                </a14:m>
                <a:r>
                  <a:rPr lang="en-IL" sz="1200" b="1" kern="1200" dirty="0">
                    <a:solidFill>
                      <a:schemeClr val="tx1"/>
                    </a:solidFill>
                    <a:effectLst/>
                    <a:latin typeface="+mn-lt"/>
                    <a:ea typeface="+mn-ea"/>
                    <a:cs typeface="+mn-cs"/>
                  </a:rPr>
                  <a:t>):</a:t>
                </a:r>
                <a:r>
                  <a:rPr lang="en-IL" sz="1200" kern="1200" dirty="0">
                    <a:solidFill>
                      <a:schemeClr val="tx1"/>
                    </a:solidFill>
                    <a:effectLst/>
                    <a:latin typeface="+mn-lt"/>
                    <a:ea typeface="+mn-ea"/>
                    <a:cs typeface="+mn-cs"/>
                  </a:rPr>
                  <a:t> The Haar matrix </a:t>
                </a:r>
                <a14:m>
                  <m:oMath xmlns:m="http://schemas.openxmlformats.org/officeDocument/2006/math">
                    <m:r>
                      <a:rPr lang="en-IL" sz="1200" i="1" kern="1200" smtClean="0">
                        <a:solidFill>
                          <a:schemeClr val="tx1"/>
                        </a:solidFill>
                        <a:latin typeface="+mn-lt"/>
                        <a:ea typeface="+mn-ea"/>
                        <a:cs typeface="+mn-cs"/>
                      </a:rPr>
                      <m:t>𝐻</m:t>
                    </m:r>
                  </m:oMath>
                </a14:m>
                <a:r>
                  <a:rPr lang="en-IL" sz="1200" kern="1200" dirty="0">
                    <a:solidFill>
                      <a:schemeClr val="tx1"/>
                    </a:solidFill>
                    <a:effectLst/>
                    <a:latin typeface="+mn-lt"/>
                    <a:ea typeface="+mn-ea"/>
                    <a:cs typeface="+mn-cs"/>
                  </a:rPr>
                  <a:t>is a random orthogonal transformation (</a:t>
                </a:r>
                <a14:m>
                  <m:oMath xmlns:m="http://schemas.openxmlformats.org/officeDocument/2006/math">
                    <m:sSup>
                      <m:sSupPr>
                        <m:ctrlPr>
                          <a:rPr lang="en-IL" sz="1200" i="1" kern="1200">
                            <a:solidFill>
                              <a:schemeClr val="tx1"/>
                            </a:solidFill>
                            <a:latin typeface="+mn-lt"/>
                            <a:ea typeface="+mn-ea"/>
                            <a:cs typeface="+mn-cs"/>
                          </a:rPr>
                        </m:ctrlPr>
                      </m:sSupPr>
                      <m:e>
                        <m:r>
                          <a:rPr lang="en-IL" sz="1200" i="1" kern="1200">
                            <a:solidFill>
                              <a:schemeClr val="tx1"/>
                            </a:solidFill>
                            <a:latin typeface="+mn-lt"/>
                            <a:ea typeface="+mn-ea"/>
                            <a:cs typeface="+mn-cs"/>
                          </a:rPr>
                          <m:t>𝐻</m:t>
                        </m:r>
                      </m:e>
                      <m:sup>
                        <m:r>
                          <a:rPr lang="en-IL" sz="1200" i="1" kern="1200">
                            <a:solidFill>
                              <a:schemeClr val="tx1"/>
                            </a:solidFill>
                            <a:latin typeface="+mn-lt"/>
                            <a:ea typeface="+mn-ea"/>
                            <a:cs typeface="+mn-cs"/>
                          </a:rPr>
                          <m:t>𝑇</m:t>
                        </m:r>
                      </m:sup>
                    </m:sSup>
                    <m:r>
                      <a:rPr lang="en-IL" sz="1200" i="1" kern="1200">
                        <a:solidFill>
                          <a:schemeClr val="tx1"/>
                        </a:solidFill>
                        <a:latin typeface="+mn-lt"/>
                        <a:ea typeface="+mn-ea"/>
                        <a:cs typeface="+mn-cs"/>
                      </a:rPr>
                      <m:t>𝐻</m:t>
                    </m:r>
                    <m:r>
                      <a:rPr lang="en-IL" sz="1200" i="0" kern="1200">
                        <a:solidFill>
                          <a:schemeClr val="tx1"/>
                        </a:solidFill>
                        <a:latin typeface="+mn-lt"/>
                        <a:ea typeface="+mn-ea"/>
                        <a:cs typeface="+mn-cs"/>
                      </a:rPr>
                      <m:t>=</m:t>
                    </m:r>
                    <m:r>
                      <a:rPr lang="en-IL" sz="1200" i="1" kern="1200">
                        <a:solidFill>
                          <a:schemeClr val="tx1"/>
                        </a:solidFill>
                        <a:latin typeface="+mn-lt"/>
                        <a:ea typeface="+mn-ea"/>
                        <a:cs typeface="+mn-cs"/>
                      </a:rPr>
                      <m:t>𝐼</m:t>
                    </m:r>
                  </m:oMath>
                </a14:m>
                <a:r>
                  <a:rPr lang="en-IL" sz="1200" kern="1200" dirty="0">
                    <a:solidFill>
                      <a:schemeClr val="tx1"/>
                    </a:solidFill>
                    <a:effectLst/>
                    <a:latin typeface="+mn-lt"/>
                    <a:ea typeface="+mn-ea"/>
                    <a:cs typeface="+mn-cs"/>
                  </a:rPr>
                  <a:t>)[cite: 4, 5]. Applying a random rotation to a high-dimensional vector spreads its energy uniformly across all coordinates[cite: 4]. By the Central Limit Theorem / measure concentration, the coordinates of </a:t>
                </a:r>
                <a14:m>
                  <m:oMath xmlns:m="http://schemas.openxmlformats.org/officeDocument/2006/math">
                    <m:r>
                      <a:rPr lang="en-IL" sz="1200" i="1" kern="1200" smtClean="0">
                        <a:solidFill>
                          <a:schemeClr val="tx1"/>
                        </a:solidFill>
                        <a:latin typeface="+mn-lt"/>
                        <a:ea typeface="+mn-ea"/>
                        <a:cs typeface="+mn-cs"/>
                      </a:rPr>
                      <m:t>𝐻</m:t>
                    </m:r>
                    <m:r>
                      <a:rPr lang="en-IL" sz="1200" i="0" kern="1200">
                        <a:solidFill>
                          <a:schemeClr val="tx1"/>
                        </a:solidFill>
                        <a:latin typeface="+mn-lt"/>
                        <a:ea typeface="+mn-ea"/>
                        <a:cs typeface="+mn-cs"/>
                      </a:rPr>
                      <m:t>⋅</m:t>
                    </m:r>
                    <m:r>
                      <a:rPr lang="en-IL" sz="1200" i="1" kern="1200">
                        <a:solidFill>
                          <a:schemeClr val="tx1"/>
                        </a:solidFill>
                        <a:latin typeface="+mn-lt"/>
                        <a:ea typeface="+mn-ea"/>
                        <a:cs typeface="+mn-cs"/>
                      </a:rPr>
                      <m:t>𝑥</m:t>
                    </m:r>
                  </m:oMath>
                </a14:m>
                <a:r>
                  <a:rPr lang="en-IL" sz="1200" kern="1200" dirty="0">
                    <a:solidFill>
                      <a:schemeClr val="tx1"/>
                    </a:solidFill>
                    <a:effectLst/>
                    <a:latin typeface="+mn-lt"/>
                    <a:ea typeface="+mn-ea"/>
                    <a:cs typeface="+mn-cs"/>
                  </a:rPr>
                  <a:t>follow an identical, known distribution (a Beta distribution, converging to a Gaussian </a:t>
                </a:r>
                <a14:m>
                  <m:oMath xmlns:m="http://schemas.openxmlformats.org/officeDocument/2006/math">
                    <m:r>
                      <a:rPr lang="en-IL" sz="1200" kern="1200" smtClean="0">
                        <a:solidFill>
                          <a:schemeClr val="tx1"/>
                        </a:solidFill>
                        <a:latin typeface="+mn-lt"/>
                        <a:ea typeface="+mn-ea"/>
                        <a:cs typeface="+mn-cs"/>
                      </a:rPr>
                      <m:t>𝒩</m:t>
                    </m:r>
                    <m:d>
                      <m:dPr>
                        <m:ctrlPr>
                          <a:rPr lang="en-IL" sz="1200" i="0" kern="1200">
                            <a:solidFill>
                              <a:schemeClr val="tx1"/>
                            </a:solidFill>
                            <a:latin typeface="+mn-lt"/>
                            <a:ea typeface="+mn-ea"/>
                            <a:cs typeface="+mn-cs"/>
                          </a:rPr>
                        </m:ctrlPr>
                      </m:dPr>
                      <m:e>
                        <m:r>
                          <a:rPr lang="en-IL" sz="1200" i="0" kern="1200">
                            <a:solidFill>
                              <a:schemeClr val="tx1"/>
                            </a:solidFill>
                            <a:latin typeface="+mn-lt"/>
                            <a:ea typeface="+mn-ea"/>
                            <a:cs typeface="+mn-cs"/>
                          </a:rPr>
                          <m:t>0,1/</m:t>
                        </m:r>
                        <m:r>
                          <a:rPr lang="en-IL" sz="1200" i="1" kern="1200">
                            <a:solidFill>
                              <a:schemeClr val="tx1"/>
                            </a:solidFill>
                            <a:latin typeface="+mn-lt"/>
                            <a:ea typeface="+mn-ea"/>
                            <a:cs typeface="+mn-cs"/>
                          </a:rPr>
                          <m:t>𝑑</m:t>
                        </m:r>
                      </m:e>
                    </m:d>
                  </m:oMath>
                </a14:m>
                <a:r>
                  <a:rPr lang="en-IL" sz="1200" kern="1200" dirty="0">
                    <a:solidFill>
                      <a:schemeClr val="tx1"/>
                    </a:solidFill>
                    <a:effectLst/>
                    <a:latin typeface="+mn-lt"/>
                    <a:ea typeface="+mn-ea"/>
                    <a:cs typeface="+mn-cs"/>
                  </a:rPr>
                  <a:t>) regardless of where </a:t>
                </a:r>
                <a14:m>
                  <m:oMath xmlns:m="http://schemas.openxmlformats.org/officeDocument/2006/math">
                    <m:r>
                      <a:rPr lang="en-IL" sz="1200" i="1" kern="1200" smtClean="0">
                        <a:solidFill>
                          <a:schemeClr val="tx1"/>
                        </a:solidFill>
                        <a:latin typeface="+mn-lt"/>
                        <a:ea typeface="+mn-ea"/>
                        <a:cs typeface="+mn-cs"/>
                      </a:rPr>
                      <m:t>𝑥</m:t>
                    </m:r>
                  </m:oMath>
                </a14:m>
                <a:r>
                  <a:rPr lang="en-IL" sz="1200" kern="1200" dirty="0">
                    <a:solidFill>
                      <a:schemeClr val="tx1"/>
                    </a:solidFill>
                    <a:effectLst/>
                    <a:latin typeface="+mn-lt"/>
                    <a:ea typeface="+mn-ea"/>
                    <a:cs typeface="+mn-cs"/>
                  </a:rPr>
                  <a:t>originally pointed. Because the post-rotation distribution is known beforehand, both the rotation matrix and the quantization codebook can be frozen before inference begins. </a:t>
                </a:r>
              </a:p>
              <a:p>
                <a:pPr lvl="0"/>
                <a:r>
                  <a:rPr lang="en-IL" sz="1200" b="1" kern="1200" dirty="0">
                    <a:solidFill>
                      <a:schemeClr val="tx1"/>
                    </a:solidFill>
                    <a:effectLst/>
                    <a:latin typeface="+mn-lt"/>
                    <a:ea typeface="+mn-ea"/>
                    <a:cs typeface="+mn-cs"/>
                  </a:rPr>
                  <a:t>Johnson-</a:t>
                </a:r>
                <a:r>
                  <a:rPr lang="en-IL" sz="1200" b="1" kern="1200" dirty="0" err="1">
                    <a:solidFill>
                      <a:schemeClr val="tx1"/>
                    </a:solidFill>
                    <a:effectLst/>
                    <a:latin typeface="+mn-lt"/>
                    <a:ea typeface="+mn-ea"/>
                    <a:cs typeface="+mn-cs"/>
                  </a:rPr>
                  <a:t>Lindenstrauss</a:t>
                </a:r>
                <a:r>
                  <a:rPr lang="en-IL" sz="1200" b="1" kern="1200" dirty="0">
                    <a:solidFill>
                      <a:schemeClr val="tx1"/>
                    </a:solidFill>
                    <a:effectLst/>
                    <a:latin typeface="+mn-lt"/>
                    <a:ea typeface="+mn-ea"/>
                    <a:cs typeface="+mn-cs"/>
                  </a:rPr>
                  <a:t> Lemma (</a:t>
                </a:r>
                <a14:m>
                  <m:oMath xmlns:m="http://schemas.openxmlformats.org/officeDocument/2006/math">
                    <m:r>
                      <a:rPr lang="en-IL" sz="1200" i="1" kern="1200" smtClean="0">
                        <a:solidFill>
                          <a:schemeClr val="tx1"/>
                        </a:solidFill>
                        <a:latin typeface="+mn-lt"/>
                        <a:ea typeface="+mn-ea"/>
                        <a:cs typeface="+mn-cs"/>
                      </a:rPr>
                      <m:t>𝑀</m:t>
                    </m:r>
                  </m:oMath>
                </a14:m>
                <a:r>
                  <a:rPr lang="en-IL" sz="1200" b="1" kern="1200" dirty="0">
                    <a:solidFill>
                      <a:schemeClr val="tx1"/>
                    </a:solidFill>
                    <a:effectLst/>
                    <a:latin typeface="+mn-lt"/>
                    <a:ea typeface="+mn-ea"/>
                    <a:cs typeface="+mn-cs"/>
                  </a:rPr>
                  <a:t>):</a:t>
                </a:r>
                <a:r>
                  <a:rPr lang="en-IL" sz="1200" kern="1200" dirty="0">
                    <a:solidFill>
                      <a:schemeClr val="tx1"/>
                    </a:solidFill>
                    <a:effectLst/>
                    <a:latin typeface="+mn-lt"/>
                    <a:ea typeface="+mn-ea"/>
                    <a:cs typeface="+mn-cs"/>
                  </a:rPr>
                  <a:t> The QJL matrix </a:t>
                </a:r>
                <a14:m>
                  <m:oMath xmlns:m="http://schemas.openxmlformats.org/officeDocument/2006/math">
                    <m:r>
                      <a:rPr lang="en-IL" sz="1200" i="1" kern="1200" smtClean="0">
                        <a:solidFill>
                          <a:schemeClr val="tx1"/>
                        </a:solidFill>
                        <a:latin typeface="+mn-lt"/>
                        <a:ea typeface="+mn-ea"/>
                        <a:cs typeface="+mn-cs"/>
                      </a:rPr>
                      <m:t>𝑀</m:t>
                    </m:r>
                  </m:oMath>
                </a14:m>
                <a:r>
                  <a:rPr lang="en-IL" sz="1200" kern="1200" dirty="0">
                    <a:solidFill>
                      <a:schemeClr val="tx1"/>
                    </a:solidFill>
                    <a:effectLst/>
                    <a:latin typeface="+mn-lt"/>
                    <a:ea typeface="+mn-ea"/>
                    <a:cs typeface="+mn-cs"/>
                  </a:rPr>
                  <a:t>relies on random hyperplane projections to capture residual quantization errors in 1 bit[cite: 4]. The Johnson-</a:t>
                </a:r>
                <a:r>
                  <a:rPr lang="en-IL" sz="1200" kern="1200" dirty="0" err="1">
                    <a:solidFill>
                      <a:schemeClr val="tx1"/>
                    </a:solidFill>
                    <a:effectLst/>
                    <a:latin typeface="+mn-lt"/>
                    <a:ea typeface="+mn-ea"/>
                    <a:cs typeface="+mn-cs"/>
                  </a:rPr>
                  <a:t>Lindenstrauss</a:t>
                </a:r>
                <a:r>
                  <a:rPr lang="en-IL" sz="1200" kern="1200" dirty="0">
                    <a:solidFill>
                      <a:schemeClr val="tx1"/>
                    </a:solidFill>
                    <a:effectLst/>
                    <a:latin typeface="+mn-lt"/>
                    <a:ea typeface="+mn-ea"/>
                    <a:cs typeface="+mn-cs"/>
                  </a:rPr>
                  <a:t> lemma guarantees that pairwise distances and inner products are preserved in expectation using any random Gaussian matrix, requiring zero data-driven tuning. </a:t>
                </a:r>
              </a:p>
              <a:p>
                <a:pPr lvl="0"/>
                <a:r>
                  <a:rPr lang="en-IL" sz="1200" b="1" kern="1200" dirty="0">
                    <a:solidFill>
                      <a:schemeClr val="tx1"/>
                    </a:solidFill>
                    <a:effectLst/>
                    <a:latin typeface="+mn-lt"/>
                    <a:ea typeface="+mn-ea"/>
                    <a:cs typeface="+mn-cs"/>
                  </a:rPr>
                  <a:t>Zero Runtime Overhead:</a:t>
                </a:r>
                <a:r>
                  <a:rPr lang="en-IL" sz="1200" kern="1200" dirty="0">
                    <a:solidFill>
                      <a:schemeClr val="tx1"/>
                    </a:solidFill>
                    <a:effectLst/>
                    <a:latin typeface="+mn-lt"/>
                    <a:ea typeface="+mn-ea"/>
                    <a:cs typeface="+mn-cs"/>
                  </a:rPr>
                  <a:t> Performing QR decomposition or drawing thousands of Gaussian random numbers on an embedded processor like Xtensa during token generation would introduce massive latency and memory pressure[cite: 5]. Precomputing them offline allows baking them into flash/ROM as static lookup arrays[cite: 5]. </a:t>
                </a:r>
              </a:p>
              <a:p>
                <a:r>
                  <a:rPr lang="en-IL" sz="1200" b="1" kern="1200" dirty="0">
                    <a:solidFill>
                      <a:schemeClr val="tx1"/>
                    </a:solidFill>
                    <a:effectLst/>
                    <a:latin typeface="+mn-lt"/>
                    <a:ea typeface="+mn-ea"/>
                    <a:cs typeface="+mn-cs"/>
                  </a:rPr>
                  <a:t>2. On What They Depend</a:t>
                </a:r>
              </a:p>
              <a:p>
                <a:r>
                  <a:rPr lang="en-IL" sz="1200" kern="1200" dirty="0">
                    <a:solidFill>
                      <a:schemeClr val="tx1"/>
                    </a:solidFill>
                    <a:effectLst/>
                    <a:latin typeface="+mn-lt"/>
                    <a:ea typeface="+mn-ea"/>
                    <a:cs typeface="+mn-cs"/>
                  </a:rPr>
                  <a:t>The matrices depend strictly on </a:t>
                </a:r>
                <a:r>
                  <a:rPr lang="en-IL" sz="1200" b="1" kern="1200" dirty="0">
                    <a:solidFill>
                      <a:schemeClr val="tx1"/>
                    </a:solidFill>
                    <a:effectLst/>
                    <a:latin typeface="+mn-lt"/>
                    <a:ea typeface="+mn-ea"/>
                    <a:cs typeface="+mn-cs"/>
                  </a:rPr>
                  <a:t>two structural hyperparameters</a:t>
                </a:r>
                <a:r>
                  <a:rPr lang="en-IL" sz="1200" kern="1200" dirty="0">
                    <a:solidFill>
                      <a:schemeClr val="tx1"/>
                    </a:solidFill>
                    <a:effectLst/>
                    <a:latin typeface="+mn-lt"/>
                    <a:ea typeface="+mn-ea"/>
                    <a:cs typeface="+mn-cs"/>
                  </a:rPr>
                  <a:t>:</a:t>
                </a:r>
              </a:p>
              <a:p>
                <a:r>
                  <a:rPr lang="en-IL" sz="1200" b="1" kern="1200" dirty="0" err="1">
                    <a:solidFill>
                      <a:schemeClr val="tx1"/>
                    </a:solidFill>
                    <a:effectLst/>
                    <a:latin typeface="+mn-lt"/>
                    <a:ea typeface="+mn-ea"/>
                    <a:cs typeface="+mn-cs"/>
                  </a:rPr>
                  <a:t>DependencyDescription</a:t>
                </a:r>
                <a:endParaRPr lang="en-IL" sz="1200" kern="1200" dirty="0">
                  <a:solidFill>
                    <a:schemeClr val="tx1"/>
                  </a:solidFill>
                  <a:effectLst/>
                  <a:latin typeface="+mn-lt"/>
                  <a:ea typeface="+mn-ea"/>
                  <a:cs typeface="+mn-cs"/>
                </a:endParaRPr>
              </a:p>
              <a:p>
                <a:r>
                  <a:rPr lang="en-IL" sz="1200" b="1" kern="1200" dirty="0">
                    <a:solidFill>
                      <a:schemeClr val="tx1"/>
                    </a:solidFill>
                    <a:effectLst/>
                    <a:latin typeface="+mn-lt"/>
                    <a:ea typeface="+mn-ea"/>
                    <a:cs typeface="+mn-cs"/>
                  </a:rPr>
                  <a:t>Head Dimension (</a:t>
                </a:r>
                <a14:m>
                  <m:oMath xmlns:m="http://schemas.openxmlformats.org/officeDocument/2006/math">
                    <m:r>
                      <a:rPr lang="en-IL" sz="1200" i="1" kern="1200" smtClean="0">
                        <a:solidFill>
                          <a:schemeClr val="tx1"/>
                        </a:solidFill>
                        <a:latin typeface="+mn-lt"/>
                        <a:ea typeface="+mn-ea"/>
                        <a:cs typeface="+mn-cs"/>
                      </a:rPr>
                      <m:t>𝑑</m:t>
                    </m:r>
                  </m:oMath>
                </a14:m>
                <a:r>
                  <a:rPr lang="en-IL" sz="1200" b="1" kern="1200" dirty="0">
                    <a:solidFill>
                      <a:schemeClr val="tx1"/>
                    </a:solidFill>
                    <a:effectLst/>
                    <a:latin typeface="+mn-lt"/>
                    <a:ea typeface="+mn-ea"/>
                    <a:cs typeface="+mn-cs"/>
                  </a:rPr>
                  <a:t>)</a:t>
                </a:r>
                <a:r>
                  <a:rPr lang="en-IL" sz="1200" kern="1200" dirty="0">
                    <a:solidFill>
                      <a:schemeClr val="tx1"/>
                    </a:solidFill>
                    <a:effectLst/>
                    <a:latin typeface="+mn-lt"/>
                    <a:ea typeface="+mn-ea"/>
                    <a:cs typeface="+mn-cs"/>
                  </a:rPr>
                  <a:t>The vector length of each attention head (</a:t>
                </a:r>
                <a14:m>
                  <m:oMath xmlns:m="http://schemas.openxmlformats.org/officeDocument/2006/math">
                    <m:r>
                      <a:rPr lang="en-IL" sz="1200" i="1" kern="1200" smtClean="0">
                        <a:solidFill>
                          <a:schemeClr val="tx1"/>
                        </a:solidFill>
                        <a:latin typeface="+mn-lt"/>
                        <a:ea typeface="+mn-ea"/>
                        <a:cs typeface="+mn-cs"/>
                      </a:rPr>
                      <m:t>𝑑</m:t>
                    </m:r>
                    <m:r>
                      <a:rPr lang="en-IL" sz="1200" i="0" kern="1200">
                        <a:solidFill>
                          <a:schemeClr val="tx1"/>
                        </a:solidFill>
                        <a:latin typeface="+mn-lt"/>
                        <a:ea typeface="+mn-ea"/>
                        <a:cs typeface="+mn-cs"/>
                      </a:rPr>
                      <m:t>=</m:t>
                    </m:r>
                    <m:sSub>
                      <m:sSubPr>
                        <m:ctrlPr>
                          <a:rPr lang="en-IL" sz="1200" i="1" kern="1200">
                            <a:solidFill>
                              <a:schemeClr val="tx1"/>
                            </a:solidFill>
                            <a:latin typeface="+mn-lt"/>
                            <a:ea typeface="+mn-ea"/>
                            <a:cs typeface="+mn-cs"/>
                          </a:rPr>
                        </m:ctrlPr>
                      </m:sSubPr>
                      <m:e>
                        <m:r>
                          <a:rPr lang="en-IL" sz="1200" i="1" kern="1200">
                            <a:solidFill>
                              <a:schemeClr val="tx1"/>
                            </a:solidFill>
                            <a:latin typeface="+mn-lt"/>
                            <a:ea typeface="+mn-ea"/>
                            <a:cs typeface="+mn-cs"/>
                          </a:rPr>
                          <m:t>𝑑</m:t>
                        </m:r>
                      </m:e>
                      <m:sub>
                        <m:r>
                          <m:rPr>
                            <m:nor/>
                          </m:rPr>
                          <a:rPr lang="en-IL" sz="1200" i="0" kern="1200">
                            <a:solidFill>
                              <a:schemeClr val="tx1"/>
                            </a:solidFill>
                            <a:latin typeface="+mn-lt"/>
                            <a:ea typeface="+mn-ea"/>
                            <a:cs typeface="+mn-cs"/>
                          </a:rPr>
                          <m:t>model</m:t>
                        </m:r>
                      </m:sub>
                    </m:sSub>
                    <m:r>
                      <a:rPr lang="en-IL" sz="1200" i="0" kern="1200">
                        <a:solidFill>
                          <a:schemeClr val="tx1"/>
                        </a:solidFill>
                        <a:latin typeface="+mn-lt"/>
                        <a:ea typeface="+mn-ea"/>
                        <a:cs typeface="+mn-cs"/>
                      </a:rPr>
                      <m:t>/</m:t>
                    </m:r>
                    <m:r>
                      <a:rPr lang="en-IL" sz="1200" i="1" kern="1200">
                        <a:solidFill>
                          <a:schemeClr val="tx1"/>
                        </a:solidFill>
                        <a:latin typeface="+mn-lt"/>
                        <a:ea typeface="+mn-ea"/>
                        <a:cs typeface="+mn-cs"/>
                      </a:rPr>
                      <m:t>ℎ</m:t>
                    </m:r>
                  </m:oMath>
                </a14:m>
                <a:r>
                  <a:rPr lang="en-IL" sz="1200" kern="1200" dirty="0">
                    <a:solidFill>
                      <a:schemeClr val="tx1"/>
                    </a:solidFill>
                    <a:effectLst/>
                    <a:latin typeface="+mn-lt"/>
                    <a:ea typeface="+mn-ea"/>
                    <a:cs typeface="+mn-cs"/>
                  </a:rPr>
                  <a:t>). For TinyStories-15M, </a:t>
                </a:r>
                <a14:m>
                  <m:oMath xmlns:m="http://schemas.openxmlformats.org/officeDocument/2006/math">
                    <m:sSub>
                      <m:sSubPr>
                        <m:ctrlPr>
                          <a:rPr lang="en-IL" sz="1200" i="1" kern="1200">
                            <a:solidFill>
                              <a:schemeClr val="tx1"/>
                            </a:solidFill>
                            <a:latin typeface="+mn-lt"/>
                            <a:ea typeface="+mn-ea"/>
                            <a:cs typeface="+mn-cs"/>
                          </a:rPr>
                        </m:ctrlPr>
                      </m:sSubPr>
                      <m:e>
                        <m:r>
                          <a:rPr lang="en-IL" sz="1200" i="1" kern="1200">
                            <a:solidFill>
                              <a:schemeClr val="tx1"/>
                            </a:solidFill>
                            <a:latin typeface="+mn-lt"/>
                            <a:ea typeface="+mn-ea"/>
                            <a:cs typeface="+mn-cs"/>
                          </a:rPr>
                          <m:t>𝑑</m:t>
                        </m:r>
                      </m:e>
                      <m:sub>
                        <m:r>
                          <m:rPr>
                            <m:nor/>
                          </m:rPr>
                          <a:rPr lang="en-IL" sz="1200" i="0" kern="1200">
                            <a:solidFill>
                              <a:schemeClr val="tx1"/>
                            </a:solidFill>
                            <a:latin typeface="+mn-lt"/>
                            <a:ea typeface="+mn-ea"/>
                            <a:cs typeface="+mn-cs"/>
                          </a:rPr>
                          <m:t>model</m:t>
                        </m:r>
                      </m:sub>
                    </m:sSub>
                    <m:r>
                      <a:rPr lang="en-IL" sz="1200" i="0" kern="1200">
                        <a:solidFill>
                          <a:schemeClr val="tx1"/>
                        </a:solidFill>
                        <a:latin typeface="+mn-lt"/>
                        <a:ea typeface="+mn-ea"/>
                        <a:cs typeface="+mn-cs"/>
                      </a:rPr>
                      <m:t>=288</m:t>
                    </m:r>
                  </m:oMath>
                </a14:m>
                <a:r>
                  <a:rPr lang="en-IL" sz="1200" kern="1200" dirty="0">
                    <a:solidFill>
                      <a:schemeClr val="tx1"/>
                    </a:solidFill>
                    <a:effectLst/>
                    <a:latin typeface="+mn-lt"/>
                    <a:ea typeface="+mn-ea"/>
                    <a:cs typeface="+mn-cs"/>
                  </a:rPr>
                  <a:t>across 6 heads, so </a:t>
                </a:r>
                <a14:m>
                  <m:oMath xmlns:m="http://schemas.openxmlformats.org/officeDocument/2006/math">
                    <m:r>
                      <a:rPr lang="en-IL" sz="1200" i="1" kern="1200" smtClean="0">
                        <a:solidFill>
                          <a:schemeClr val="tx1"/>
                        </a:solidFill>
                        <a:latin typeface="+mn-lt"/>
                        <a:ea typeface="+mn-ea"/>
                        <a:cs typeface="+mn-cs"/>
                      </a:rPr>
                      <m:t>𝑑</m:t>
                    </m:r>
                    <m:r>
                      <a:rPr lang="en-IL" sz="1200" i="0" kern="1200">
                        <a:solidFill>
                          <a:schemeClr val="tx1"/>
                        </a:solidFill>
                        <a:latin typeface="+mn-lt"/>
                        <a:ea typeface="+mn-ea"/>
                        <a:cs typeface="+mn-cs"/>
                      </a:rPr>
                      <m:t>=48</m:t>
                    </m:r>
                  </m:oMath>
                </a14:m>
                <a:r>
                  <a:rPr lang="en-IL" sz="1200" kern="1200" dirty="0">
                    <a:solidFill>
                      <a:schemeClr val="tx1"/>
                    </a:solidFill>
                    <a:effectLst/>
                    <a:latin typeface="+mn-lt"/>
                    <a:ea typeface="+mn-ea"/>
                    <a:cs typeface="+mn-cs"/>
                  </a:rPr>
                  <a:t>. Both </a:t>
                </a:r>
                <a14:m>
                  <m:oMath xmlns:m="http://schemas.openxmlformats.org/officeDocument/2006/math">
                    <m:r>
                      <a:rPr lang="en-IL" sz="1200" i="1" kern="1200" smtClean="0">
                        <a:solidFill>
                          <a:schemeClr val="tx1"/>
                        </a:solidFill>
                        <a:latin typeface="+mn-lt"/>
                        <a:ea typeface="+mn-ea"/>
                        <a:cs typeface="+mn-cs"/>
                      </a:rPr>
                      <m:t>𝐻</m:t>
                    </m:r>
                  </m:oMath>
                </a14:m>
                <a:r>
                  <a:rPr lang="en-IL" sz="1200" kern="1200" dirty="0">
                    <a:solidFill>
                      <a:schemeClr val="tx1"/>
                    </a:solidFill>
                    <a:effectLst/>
                    <a:latin typeface="+mn-lt"/>
                    <a:ea typeface="+mn-ea"/>
                    <a:cs typeface="+mn-cs"/>
                  </a:rPr>
                  <a:t>and </a:t>
                </a:r>
                <a14:m>
                  <m:oMath xmlns:m="http://schemas.openxmlformats.org/officeDocument/2006/math">
                    <m:r>
                      <a:rPr lang="en-IL" sz="1200" i="1" kern="1200" smtClean="0">
                        <a:solidFill>
                          <a:schemeClr val="tx1"/>
                        </a:solidFill>
                        <a:latin typeface="+mn-lt"/>
                        <a:ea typeface="+mn-ea"/>
                        <a:cs typeface="+mn-cs"/>
                      </a:rPr>
                      <m:t>𝑀</m:t>
                    </m:r>
                  </m:oMath>
                </a14:m>
                <a:r>
                  <a:rPr lang="en-IL" sz="1200" kern="1200" dirty="0">
                    <a:solidFill>
                      <a:schemeClr val="tx1"/>
                    </a:solidFill>
                    <a:effectLst/>
                    <a:latin typeface="+mn-lt"/>
                    <a:ea typeface="+mn-ea"/>
                    <a:cs typeface="+mn-cs"/>
                  </a:rPr>
                  <a:t>are square matrices of size </a:t>
                </a:r>
                <a14:m>
                  <m:oMath xmlns:m="http://schemas.openxmlformats.org/officeDocument/2006/math">
                    <m:r>
                      <a:rPr lang="en-IL" sz="1200" i="1" kern="1200" smtClean="0">
                        <a:solidFill>
                          <a:schemeClr val="tx1"/>
                        </a:solidFill>
                        <a:latin typeface="+mn-lt"/>
                        <a:ea typeface="+mn-ea"/>
                        <a:cs typeface="+mn-cs"/>
                      </a:rPr>
                      <m:t>𝑑</m:t>
                    </m:r>
                    <m:r>
                      <a:rPr lang="en-IL" sz="1200" i="0" kern="1200">
                        <a:solidFill>
                          <a:schemeClr val="tx1"/>
                        </a:solidFill>
                        <a:latin typeface="+mn-lt"/>
                        <a:ea typeface="+mn-ea"/>
                        <a:cs typeface="+mn-cs"/>
                      </a:rPr>
                      <m:t>×</m:t>
                    </m:r>
                    <m:r>
                      <a:rPr lang="en-IL" sz="1200" i="1" kern="1200">
                        <a:solidFill>
                          <a:schemeClr val="tx1"/>
                        </a:solidFill>
                        <a:latin typeface="+mn-lt"/>
                        <a:ea typeface="+mn-ea"/>
                        <a:cs typeface="+mn-cs"/>
                      </a:rPr>
                      <m:t>𝑑</m:t>
                    </m:r>
                  </m:oMath>
                </a14:m>
                <a:r>
                  <a:rPr lang="en-IL" sz="1200" kern="1200" dirty="0">
                    <a:solidFill>
                      <a:schemeClr val="tx1"/>
                    </a:solidFill>
                    <a:effectLst/>
                    <a:latin typeface="+mn-lt"/>
                    <a:ea typeface="+mn-ea"/>
                    <a:cs typeface="+mn-cs"/>
                  </a:rPr>
                  <a:t>(</a:t>
                </a:r>
                <a14:m>
                  <m:oMath xmlns:m="http://schemas.openxmlformats.org/officeDocument/2006/math">
                    <m:r>
                      <a:rPr lang="en-IL" sz="1200" kern="1200" smtClean="0">
                        <a:solidFill>
                          <a:schemeClr val="tx1"/>
                        </a:solidFill>
                        <a:latin typeface="+mn-lt"/>
                        <a:ea typeface="+mn-ea"/>
                        <a:cs typeface="+mn-cs"/>
                      </a:rPr>
                      <m:t>48</m:t>
                    </m:r>
                    <m:r>
                      <a:rPr lang="en-IL" sz="1200" i="0" kern="1200">
                        <a:solidFill>
                          <a:schemeClr val="tx1"/>
                        </a:solidFill>
                        <a:latin typeface="+mn-lt"/>
                        <a:ea typeface="+mn-ea"/>
                        <a:cs typeface="+mn-cs"/>
                      </a:rPr>
                      <m:t>×48</m:t>
                    </m:r>
                  </m:oMath>
                </a14:m>
                <a:r>
                  <a:rPr lang="en-IL" sz="1200" kern="1200" dirty="0">
                    <a:solidFill>
                      <a:schemeClr val="tx1"/>
                    </a:solidFill>
                    <a:effectLst/>
                    <a:latin typeface="+mn-lt"/>
                    <a:ea typeface="+mn-ea"/>
                    <a:cs typeface="+mn-cs"/>
                  </a:rPr>
                  <a:t>).</a:t>
                </a:r>
              </a:p>
              <a:p>
                <a:r>
                  <a:rPr lang="en-IL" sz="1200" b="1" kern="1200" dirty="0">
                    <a:solidFill>
                      <a:schemeClr val="tx1"/>
                    </a:solidFill>
                    <a:effectLst/>
                    <a:latin typeface="+mn-lt"/>
                    <a:ea typeface="+mn-ea"/>
                    <a:cs typeface="+mn-cs"/>
                  </a:rPr>
                  <a:t>Pseudo-Random </a:t>
                </a:r>
                <a:r>
                  <a:rPr lang="en-IL" sz="1200" b="1" kern="1200" dirty="0" err="1">
                    <a:solidFill>
                      <a:schemeClr val="tx1"/>
                    </a:solidFill>
                    <a:effectLst/>
                    <a:latin typeface="+mn-lt"/>
                    <a:ea typeface="+mn-ea"/>
                    <a:cs typeface="+mn-cs"/>
                  </a:rPr>
                  <a:t>Seed</a:t>
                </a:r>
                <a:r>
                  <a:rPr lang="en-IL" sz="1200" kern="1200" dirty="0" err="1">
                    <a:solidFill>
                      <a:schemeClr val="tx1"/>
                    </a:solidFill>
                    <a:effectLst/>
                    <a:latin typeface="+mn-lt"/>
                    <a:ea typeface="+mn-ea"/>
                    <a:cs typeface="+mn-cs"/>
                  </a:rPr>
                  <a:t>A</a:t>
                </a:r>
                <a:r>
                  <a:rPr lang="en-IL" sz="1200" kern="1200" dirty="0">
                    <a:solidFill>
                      <a:schemeClr val="tx1"/>
                    </a:solidFill>
                    <a:effectLst/>
                    <a:latin typeface="+mn-lt"/>
                    <a:ea typeface="+mn-ea"/>
                    <a:cs typeface="+mn-cs"/>
                  </a:rPr>
                  <a:t> fixed integer seed (e.g., seed = 42) passed to the pseudo-random generator[cite: 5]. Because the Query projection and Key/Value dequantization must use the </a:t>
                </a:r>
                <a:r>
                  <a:rPr lang="en-IL" sz="1200" b="1" kern="1200" dirty="0">
                    <a:solidFill>
                      <a:schemeClr val="tx1"/>
                    </a:solidFill>
                    <a:effectLst/>
                    <a:latin typeface="+mn-lt"/>
                    <a:ea typeface="+mn-ea"/>
                    <a:cs typeface="+mn-cs"/>
                  </a:rPr>
                  <a:t>exact same coordinate system</a:t>
                </a:r>
                <a:r>
                  <a:rPr lang="en-IL" sz="1200" kern="1200" dirty="0">
                    <a:solidFill>
                      <a:schemeClr val="tx1"/>
                    </a:solidFill>
                    <a:effectLst/>
                    <a:latin typeface="+mn-lt"/>
                    <a:ea typeface="+mn-ea"/>
                    <a:cs typeface="+mn-cs"/>
                  </a:rPr>
                  <a:t>, both sender and receiver (or encoder and decoder) must share identical matrix constants[cite: 4, 5].</a:t>
                </a:r>
              </a:p>
              <a:p>
                <a:r>
                  <a:rPr lang="en-IL" sz="1200" b="1" kern="1200" dirty="0">
                    <a:solidFill>
                      <a:schemeClr val="tx1"/>
                    </a:solidFill>
                    <a:effectLst/>
                    <a:latin typeface="+mn-lt"/>
                    <a:ea typeface="+mn-ea"/>
                    <a:cs typeface="+mn-cs"/>
                  </a:rPr>
                  <a:t>Target Fixed-Point </a:t>
                </a:r>
                <a:r>
                  <a:rPr lang="en-IL" sz="1200" b="1" kern="1200" dirty="0" err="1">
                    <a:solidFill>
                      <a:schemeClr val="tx1"/>
                    </a:solidFill>
                    <a:effectLst/>
                    <a:latin typeface="+mn-lt"/>
                    <a:ea typeface="+mn-ea"/>
                    <a:cs typeface="+mn-cs"/>
                  </a:rPr>
                  <a:t>Format</a:t>
                </a:r>
                <a:r>
                  <a:rPr lang="en-IL" sz="1200" kern="1200" dirty="0" err="1">
                    <a:solidFill>
                      <a:schemeClr val="tx1"/>
                    </a:solidFill>
                    <a:effectLst/>
                    <a:latin typeface="+mn-lt"/>
                    <a:ea typeface="+mn-ea"/>
                    <a:cs typeface="+mn-cs"/>
                  </a:rPr>
                  <a:t>The</a:t>
                </a:r>
                <a:r>
                  <a:rPr lang="en-IL" sz="1200" kern="1200" dirty="0">
                    <a:solidFill>
                      <a:schemeClr val="tx1"/>
                    </a:solidFill>
                    <a:effectLst/>
                    <a:latin typeface="+mn-lt"/>
                    <a:ea typeface="+mn-ea"/>
                    <a:cs typeface="+mn-cs"/>
                  </a:rPr>
                  <a:t> numeric format of the target hardware (e.g., 16-bit signed integers in </a:t>
                </a:r>
                <a:r>
                  <a:rPr lang="en-IL" sz="1200" b="1" kern="1200" dirty="0">
                    <a:solidFill>
                      <a:schemeClr val="tx1"/>
                    </a:solidFill>
                    <a:effectLst/>
                    <a:latin typeface="+mn-lt"/>
                    <a:ea typeface="+mn-ea"/>
                    <a:cs typeface="+mn-cs"/>
                  </a:rPr>
                  <a:t>Q15 format</a:t>
                </a:r>
                <a:r>
                  <a:rPr lang="en-IL" sz="1200" kern="1200" dirty="0">
                    <a:solidFill>
                      <a:schemeClr val="tx1"/>
                    </a:solidFill>
                    <a:effectLst/>
                    <a:latin typeface="+mn-lt"/>
                    <a:ea typeface="+mn-ea"/>
                    <a:cs typeface="+mn-cs"/>
                  </a:rPr>
                  <a:t> for Xtensa DSP/TIE instructions).</a:t>
                </a:r>
              </a:p>
              <a:p>
                <a:r>
                  <a:rPr lang="en-IL" sz="1200" b="1" kern="1200" dirty="0">
                    <a:solidFill>
                      <a:schemeClr val="tx1"/>
                    </a:solidFill>
                    <a:effectLst/>
                    <a:latin typeface="+mn-lt"/>
                    <a:ea typeface="+mn-ea"/>
                    <a:cs typeface="+mn-cs"/>
                  </a:rPr>
                  <a:t>They DO NOT depend on:</a:t>
                </a:r>
                <a:endParaRPr lang="en-IL" sz="1200" kern="1200" dirty="0">
                  <a:solidFill>
                    <a:schemeClr val="tx1"/>
                  </a:solidFill>
                  <a:effectLst/>
                  <a:latin typeface="+mn-lt"/>
                  <a:ea typeface="+mn-ea"/>
                  <a:cs typeface="+mn-cs"/>
                </a:endParaRPr>
              </a:p>
              <a:p>
                <a:pPr lvl="0"/>
                <a:r>
                  <a:rPr lang="en-IL" sz="1200" kern="1200" dirty="0">
                    <a:solidFill>
                      <a:schemeClr val="tx1"/>
                    </a:solidFill>
                    <a:effectLst/>
                    <a:latin typeface="+mn-lt"/>
                    <a:ea typeface="+mn-ea"/>
                    <a:cs typeface="+mn-cs"/>
                  </a:rPr>
                  <a:t>Transformer weights (</a:t>
                </a:r>
                <a14:m>
                  <m:oMath xmlns:m="http://schemas.openxmlformats.org/officeDocument/2006/math">
                    <m:sSub>
                      <m:sSubPr>
                        <m:ctrlPr>
                          <a:rPr lang="en-IL" sz="1200" i="1" kern="1200">
                            <a:solidFill>
                              <a:schemeClr val="tx1"/>
                            </a:solidFill>
                            <a:latin typeface="+mn-lt"/>
                            <a:ea typeface="+mn-ea"/>
                            <a:cs typeface="+mn-cs"/>
                          </a:rPr>
                        </m:ctrlPr>
                      </m:sSubPr>
                      <m:e>
                        <m:r>
                          <a:rPr lang="en-IL" sz="1200" i="1" kern="1200">
                            <a:solidFill>
                              <a:schemeClr val="tx1"/>
                            </a:solidFill>
                            <a:latin typeface="+mn-lt"/>
                            <a:ea typeface="+mn-ea"/>
                            <a:cs typeface="+mn-cs"/>
                          </a:rPr>
                          <m:t>𝑊</m:t>
                        </m:r>
                      </m:e>
                      <m:sub>
                        <m:r>
                          <a:rPr lang="en-IL" sz="1200" i="1" kern="1200">
                            <a:solidFill>
                              <a:schemeClr val="tx1"/>
                            </a:solidFill>
                            <a:latin typeface="+mn-lt"/>
                            <a:ea typeface="+mn-ea"/>
                            <a:cs typeface="+mn-cs"/>
                          </a:rPr>
                          <m:t>𝑞</m:t>
                        </m:r>
                      </m:sub>
                    </m:sSub>
                    <m:r>
                      <a:rPr lang="en-IL" sz="1200" i="0" kern="1200">
                        <a:solidFill>
                          <a:schemeClr val="tx1"/>
                        </a:solidFill>
                        <a:latin typeface="+mn-lt"/>
                        <a:ea typeface="+mn-ea"/>
                        <a:cs typeface="+mn-cs"/>
                      </a:rPr>
                      <m:t>,</m:t>
                    </m:r>
                    <m:sSub>
                      <m:sSubPr>
                        <m:ctrlPr>
                          <a:rPr lang="en-IL" sz="1200" i="1" kern="1200">
                            <a:solidFill>
                              <a:schemeClr val="tx1"/>
                            </a:solidFill>
                            <a:latin typeface="+mn-lt"/>
                            <a:ea typeface="+mn-ea"/>
                            <a:cs typeface="+mn-cs"/>
                          </a:rPr>
                        </m:ctrlPr>
                      </m:sSubPr>
                      <m:e>
                        <m:r>
                          <a:rPr lang="en-IL" sz="1200" i="1" kern="1200">
                            <a:solidFill>
                              <a:schemeClr val="tx1"/>
                            </a:solidFill>
                            <a:latin typeface="+mn-lt"/>
                            <a:ea typeface="+mn-ea"/>
                            <a:cs typeface="+mn-cs"/>
                          </a:rPr>
                          <m:t>𝑊</m:t>
                        </m:r>
                      </m:e>
                      <m:sub>
                        <m:r>
                          <a:rPr lang="en-IL" sz="1200" i="1" kern="1200">
                            <a:solidFill>
                              <a:schemeClr val="tx1"/>
                            </a:solidFill>
                            <a:latin typeface="+mn-lt"/>
                            <a:ea typeface="+mn-ea"/>
                            <a:cs typeface="+mn-cs"/>
                          </a:rPr>
                          <m:t>𝑘</m:t>
                        </m:r>
                      </m:sub>
                    </m:sSub>
                    <m:r>
                      <a:rPr lang="en-IL" sz="1200" i="0" kern="1200">
                        <a:solidFill>
                          <a:schemeClr val="tx1"/>
                        </a:solidFill>
                        <a:latin typeface="+mn-lt"/>
                        <a:ea typeface="+mn-ea"/>
                        <a:cs typeface="+mn-cs"/>
                      </a:rPr>
                      <m:t>,</m:t>
                    </m:r>
                    <m:sSub>
                      <m:sSubPr>
                        <m:ctrlPr>
                          <a:rPr lang="en-IL" sz="1200" i="1" kern="1200">
                            <a:solidFill>
                              <a:schemeClr val="tx1"/>
                            </a:solidFill>
                            <a:latin typeface="+mn-lt"/>
                            <a:ea typeface="+mn-ea"/>
                            <a:cs typeface="+mn-cs"/>
                          </a:rPr>
                        </m:ctrlPr>
                      </m:sSubPr>
                      <m:e>
                        <m:r>
                          <a:rPr lang="en-IL" sz="1200" i="1" kern="1200">
                            <a:solidFill>
                              <a:schemeClr val="tx1"/>
                            </a:solidFill>
                            <a:latin typeface="+mn-lt"/>
                            <a:ea typeface="+mn-ea"/>
                            <a:cs typeface="+mn-cs"/>
                          </a:rPr>
                          <m:t>𝑊</m:t>
                        </m:r>
                      </m:e>
                      <m:sub>
                        <m:r>
                          <a:rPr lang="en-IL" sz="1200" i="1" kern="1200">
                            <a:solidFill>
                              <a:schemeClr val="tx1"/>
                            </a:solidFill>
                            <a:latin typeface="+mn-lt"/>
                            <a:ea typeface="+mn-ea"/>
                            <a:cs typeface="+mn-cs"/>
                          </a:rPr>
                          <m:t>𝑣</m:t>
                        </m:r>
                      </m:sub>
                    </m:sSub>
                  </m:oMath>
                </a14:m>
                <a:r>
                  <a:rPr lang="en-IL" sz="1200" kern="1200" dirty="0">
                    <a:solidFill>
                      <a:schemeClr val="tx1"/>
                    </a:solidFill>
                    <a:effectLst/>
                    <a:latin typeface="+mn-lt"/>
                    <a:ea typeface="+mn-ea"/>
                    <a:cs typeface="+mn-cs"/>
                  </a:rPr>
                  <a:t>, etc.)</a:t>
                </a:r>
              </a:p>
              <a:p>
                <a:pPr lvl="0"/>
                <a:r>
                  <a:rPr lang="en-IL" sz="1200" kern="1200" dirty="0">
                    <a:solidFill>
                      <a:schemeClr val="tx1"/>
                    </a:solidFill>
                    <a:effectLst/>
                    <a:latin typeface="+mn-lt"/>
                    <a:ea typeface="+mn-ea"/>
                    <a:cs typeface="+mn-cs"/>
                  </a:rPr>
                  <a:t>Training datasets or fine-tuning checkpoints</a:t>
                </a:r>
              </a:p>
              <a:p>
                <a:pPr lvl="0"/>
                <a:r>
                  <a:rPr lang="en-IL" sz="1200" kern="1200" dirty="0">
                    <a:solidFill>
                      <a:schemeClr val="tx1"/>
                    </a:solidFill>
                    <a:effectLst/>
                    <a:latin typeface="+mn-lt"/>
                    <a:ea typeface="+mn-ea"/>
                    <a:cs typeface="+mn-cs"/>
                  </a:rPr>
                  <a:t>Context prompts or runtime tokens</a:t>
                </a:r>
              </a:p>
              <a:p>
                <a:r>
                  <a:rPr lang="en-IL" sz="1200" b="1" kern="1200" dirty="0">
                    <a:solidFill>
                      <a:schemeClr val="tx1"/>
                    </a:solidFill>
                    <a:effectLst/>
                    <a:latin typeface="+mn-lt"/>
                    <a:ea typeface="+mn-ea"/>
                    <a:cs typeface="+mn-cs"/>
                  </a:rPr>
                  <a:t>3. How They Look</a:t>
                </a:r>
              </a:p>
              <a:p>
                <a:r>
                  <a:rPr lang="en-IL" sz="1200" b="1" kern="1200" dirty="0">
                    <a:solidFill>
                      <a:schemeClr val="tx1"/>
                    </a:solidFill>
                    <a:effectLst/>
                    <a:latin typeface="+mn-lt"/>
                    <a:ea typeface="+mn-ea"/>
                    <a:cs typeface="+mn-cs"/>
                  </a:rPr>
                  <a:t>Matrix </a:t>
                </a:r>
                <a14:m>
                  <m:oMath xmlns:m="http://schemas.openxmlformats.org/officeDocument/2006/math">
                    <m:r>
                      <a:rPr lang="en-IL" sz="1200" i="1" kern="1200" smtClean="0">
                        <a:solidFill>
                          <a:schemeClr val="tx1"/>
                        </a:solidFill>
                        <a:latin typeface="+mn-lt"/>
                        <a:ea typeface="+mn-ea"/>
                        <a:cs typeface="+mn-cs"/>
                      </a:rPr>
                      <m:t>𝐻</m:t>
                    </m:r>
                  </m:oMath>
                </a14:m>
                <a:r>
                  <a:rPr lang="en-IL" sz="1200" b="1" kern="1200" dirty="0">
                    <a:solidFill>
                      <a:schemeClr val="tx1"/>
                    </a:solidFill>
                    <a:effectLst/>
                    <a:latin typeface="+mn-lt"/>
                    <a:ea typeface="+mn-ea"/>
                    <a:cs typeface="+mn-cs"/>
                  </a:rPr>
                  <a:t>(Haar Orthogonal Rotation Matrix) </a:t>
                </a:r>
              </a:p>
              <a:p>
                <a:pPr lvl="0"/>
                <a:r>
                  <a:rPr lang="en-IL" sz="1200" b="1" kern="1200" dirty="0">
                    <a:solidFill>
                      <a:schemeClr val="tx1"/>
                    </a:solidFill>
                    <a:effectLst/>
                    <a:latin typeface="+mn-lt"/>
                    <a:ea typeface="+mn-ea"/>
                    <a:cs typeface="+mn-cs"/>
                  </a:rPr>
                  <a:t>Shape:</a:t>
                </a:r>
                <a:r>
                  <a:rPr lang="en-IL" sz="1200" kern="1200" dirty="0">
                    <a:solidFill>
                      <a:schemeClr val="tx1"/>
                    </a:solidFill>
                    <a:effectLst/>
                    <a:latin typeface="+mn-lt"/>
                    <a:ea typeface="+mn-ea"/>
                    <a:cs typeface="+mn-cs"/>
                  </a:rPr>
                  <a:t> </a:t>
                </a:r>
                <a14:m>
                  <m:oMath xmlns:m="http://schemas.openxmlformats.org/officeDocument/2006/math">
                    <m:r>
                      <a:rPr lang="en-IL" sz="1200" i="1" kern="1200" smtClean="0">
                        <a:solidFill>
                          <a:schemeClr val="tx1"/>
                        </a:solidFill>
                        <a:latin typeface="+mn-lt"/>
                        <a:ea typeface="+mn-ea"/>
                        <a:cs typeface="+mn-cs"/>
                      </a:rPr>
                      <m:t>𝑑</m:t>
                    </m:r>
                    <m:r>
                      <a:rPr lang="en-IL" sz="1200" i="0" kern="1200">
                        <a:solidFill>
                          <a:schemeClr val="tx1"/>
                        </a:solidFill>
                        <a:latin typeface="+mn-lt"/>
                        <a:ea typeface="+mn-ea"/>
                        <a:cs typeface="+mn-cs"/>
                      </a:rPr>
                      <m:t>×</m:t>
                    </m:r>
                    <m:r>
                      <a:rPr lang="en-IL" sz="1200" i="1" kern="1200">
                        <a:solidFill>
                          <a:schemeClr val="tx1"/>
                        </a:solidFill>
                        <a:latin typeface="+mn-lt"/>
                        <a:ea typeface="+mn-ea"/>
                        <a:cs typeface="+mn-cs"/>
                      </a:rPr>
                      <m:t>𝑑</m:t>
                    </m:r>
                  </m:oMath>
                </a14:m>
                <a:r>
                  <a:rPr lang="en-IL" sz="1200" kern="1200" dirty="0">
                    <a:solidFill>
                      <a:schemeClr val="tx1"/>
                    </a:solidFill>
                    <a:effectLst/>
                    <a:latin typeface="+mn-lt"/>
                    <a:ea typeface="+mn-ea"/>
                    <a:cs typeface="+mn-cs"/>
                  </a:rPr>
                  <a:t>(e.g., </a:t>
                </a:r>
                <a14:m>
                  <m:oMath xmlns:m="http://schemas.openxmlformats.org/officeDocument/2006/math">
                    <m:r>
                      <a:rPr lang="en-IL" sz="1200" kern="1200" smtClean="0">
                        <a:solidFill>
                          <a:schemeClr val="tx1"/>
                        </a:solidFill>
                        <a:latin typeface="+mn-lt"/>
                        <a:ea typeface="+mn-ea"/>
                        <a:cs typeface="+mn-cs"/>
                      </a:rPr>
                      <m:t>48</m:t>
                    </m:r>
                    <m:r>
                      <a:rPr lang="en-IL" sz="1200" i="0" kern="1200">
                        <a:solidFill>
                          <a:schemeClr val="tx1"/>
                        </a:solidFill>
                        <a:latin typeface="+mn-lt"/>
                        <a:ea typeface="+mn-ea"/>
                        <a:cs typeface="+mn-cs"/>
                      </a:rPr>
                      <m:t>×48</m:t>
                    </m:r>
                  </m:oMath>
                </a14:m>
                <a:r>
                  <a:rPr lang="en-IL" sz="1200" kern="1200" dirty="0">
                    <a:solidFill>
                      <a:schemeClr val="tx1"/>
                    </a:solidFill>
                    <a:effectLst/>
                    <a:latin typeface="+mn-lt"/>
                    <a:ea typeface="+mn-ea"/>
                    <a:cs typeface="+mn-cs"/>
                  </a:rPr>
                  <a:t>elements)[cite: 4]. </a:t>
                </a:r>
              </a:p>
              <a:p>
                <a:pPr lvl="0"/>
                <a:r>
                  <a:rPr lang="en-IL" sz="1200" b="1" kern="1200" dirty="0">
                    <a:solidFill>
                      <a:schemeClr val="tx1"/>
                    </a:solidFill>
                    <a:effectLst/>
                    <a:latin typeface="+mn-lt"/>
                    <a:ea typeface="+mn-ea"/>
                    <a:cs typeface="+mn-cs"/>
                  </a:rPr>
                  <a:t>Properties:</a:t>
                </a:r>
                <a:r>
                  <a:rPr lang="en-IL" sz="1200" kern="1200" dirty="0">
                    <a:solidFill>
                      <a:schemeClr val="tx1"/>
                    </a:solidFill>
                    <a:effectLst/>
                    <a:latin typeface="+mn-lt"/>
                    <a:ea typeface="+mn-ea"/>
                    <a:cs typeface="+mn-cs"/>
                  </a:rPr>
                  <a:t> Strictly orthonormal (</a:t>
                </a:r>
                <a14:m>
                  <m:oMath xmlns:m="http://schemas.openxmlformats.org/officeDocument/2006/math">
                    <m:r>
                      <a:rPr lang="en-IL" sz="1200" i="1" kern="1200" smtClean="0">
                        <a:solidFill>
                          <a:schemeClr val="tx1"/>
                        </a:solidFill>
                        <a:latin typeface="+mn-lt"/>
                        <a:ea typeface="+mn-ea"/>
                        <a:cs typeface="+mn-cs"/>
                      </a:rPr>
                      <m:t>𝐻</m:t>
                    </m:r>
                    <m:r>
                      <a:rPr lang="en-IL" sz="1200" i="0" kern="1200">
                        <a:solidFill>
                          <a:schemeClr val="tx1"/>
                        </a:solidFill>
                        <a:latin typeface="+mn-lt"/>
                        <a:ea typeface="+mn-ea"/>
                        <a:cs typeface="+mn-cs"/>
                      </a:rPr>
                      <m:t>⋅</m:t>
                    </m:r>
                    <m:sSup>
                      <m:sSupPr>
                        <m:ctrlPr>
                          <a:rPr lang="en-IL" sz="1200" i="1" kern="1200">
                            <a:solidFill>
                              <a:schemeClr val="tx1"/>
                            </a:solidFill>
                            <a:latin typeface="+mn-lt"/>
                            <a:ea typeface="+mn-ea"/>
                            <a:cs typeface="+mn-cs"/>
                          </a:rPr>
                        </m:ctrlPr>
                      </m:sSupPr>
                      <m:e>
                        <m:r>
                          <a:rPr lang="en-IL" sz="1200" i="1" kern="1200">
                            <a:solidFill>
                              <a:schemeClr val="tx1"/>
                            </a:solidFill>
                            <a:latin typeface="+mn-lt"/>
                            <a:ea typeface="+mn-ea"/>
                            <a:cs typeface="+mn-cs"/>
                          </a:rPr>
                          <m:t>𝐻</m:t>
                        </m:r>
                      </m:e>
                      <m:sup>
                        <m:r>
                          <a:rPr lang="en-IL" sz="1200" i="1" kern="1200">
                            <a:solidFill>
                              <a:schemeClr val="tx1"/>
                            </a:solidFill>
                            <a:latin typeface="+mn-lt"/>
                            <a:ea typeface="+mn-ea"/>
                            <a:cs typeface="+mn-cs"/>
                          </a:rPr>
                          <m:t>𝑇</m:t>
                        </m:r>
                      </m:sup>
                    </m:sSup>
                    <m:r>
                      <a:rPr lang="en-IL" sz="1200" i="0" kern="1200">
                        <a:solidFill>
                          <a:schemeClr val="tx1"/>
                        </a:solidFill>
                        <a:latin typeface="+mn-lt"/>
                        <a:ea typeface="+mn-ea"/>
                        <a:cs typeface="+mn-cs"/>
                      </a:rPr>
                      <m:t>=</m:t>
                    </m:r>
                    <m:r>
                      <a:rPr lang="en-IL" sz="1200" i="1" kern="1200">
                        <a:solidFill>
                          <a:schemeClr val="tx1"/>
                        </a:solidFill>
                        <a:latin typeface="+mn-lt"/>
                        <a:ea typeface="+mn-ea"/>
                        <a:cs typeface="+mn-cs"/>
                      </a:rPr>
                      <m:t>𝐼</m:t>
                    </m:r>
                  </m:oMath>
                </a14:m>
                <a:r>
                  <a:rPr lang="en-IL" sz="1200" kern="1200" dirty="0">
                    <a:solidFill>
                      <a:schemeClr val="tx1"/>
                    </a:solidFill>
                    <a:effectLst/>
                    <a:latin typeface="+mn-lt"/>
                    <a:ea typeface="+mn-ea"/>
                    <a:cs typeface="+mn-cs"/>
                  </a:rPr>
                  <a:t> and </a:t>
                </a:r>
                <a14:m>
                  <m:oMath xmlns:m="http://schemas.openxmlformats.org/officeDocument/2006/math">
                    <m:func>
                      <m:funcPr>
                        <m:ctrlPr>
                          <a:rPr lang="en-IL" sz="1200" i="0" kern="1200">
                            <a:solidFill>
                              <a:schemeClr val="tx1"/>
                            </a:solidFill>
                            <a:latin typeface="+mn-lt"/>
                            <a:ea typeface="+mn-ea"/>
                            <a:cs typeface="+mn-cs"/>
                          </a:rPr>
                        </m:ctrlPr>
                      </m:funcPr>
                      <m:fName>
                        <m:r>
                          <m:rPr>
                            <m:sty m:val="p"/>
                          </m:rPr>
                          <a:rPr lang="en-IL" sz="1200" i="0" kern="1200">
                            <a:solidFill>
                              <a:schemeClr val="tx1"/>
                            </a:solidFill>
                            <a:latin typeface="+mn-lt"/>
                            <a:ea typeface="+mn-ea"/>
                            <a:cs typeface="+mn-cs"/>
                          </a:rPr>
                          <m:t>det</m:t>
                        </m:r>
                      </m:fName>
                      <m:e>
                        <m:d>
                          <m:dPr>
                            <m:ctrlPr>
                              <a:rPr lang="en-IL" sz="1200" i="1" kern="1200">
                                <a:solidFill>
                                  <a:schemeClr val="tx1"/>
                                </a:solidFill>
                                <a:latin typeface="+mn-lt"/>
                                <a:ea typeface="+mn-ea"/>
                                <a:cs typeface="+mn-cs"/>
                              </a:rPr>
                            </m:ctrlPr>
                          </m:dPr>
                          <m:e>
                            <m:r>
                              <a:rPr lang="en-IL" sz="1200" i="1" kern="1200">
                                <a:solidFill>
                                  <a:schemeClr val="tx1"/>
                                </a:solidFill>
                                <a:latin typeface="+mn-lt"/>
                                <a:ea typeface="+mn-ea"/>
                                <a:cs typeface="+mn-cs"/>
                              </a:rPr>
                              <m:t>𝐻</m:t>
                            </m:r>
                          </m:e>
                        </m:d>
                      </m:e>
                    </m:func>
                    <m:r>
                      <a:rPr lang="en-IL" sz="1200" i="0" kern="1200">
                        <a:solidFill>
                          <a:schemeClr val="tx1"/>
                        </a:solidFill>
                        <a:latin typeface="+mn-lt"/>
                        <a:ea typeface="+mn-ea"/>
                        <a:cs typeface="+mn-cs"/>
                      </a:rPr>
                      <m:t>=±1</m:t>
                    </m:r>
                  </m:oMath>
                </a14:m>
                <a:r>
                  <a:rPr lang="en-IL" sz="1200" kern="1200" dirty="0">
                    <a:solidFill>
                      <a:schemeClr val="tx1"/>
                    </a:solidFill>
                    <a:effectLst/>
                    <a:latin typeface="+mn-lt"/>
                    <a:ea typeface="+mn-ea"/>
                    <a:cs typeface="+mn-cs"/>
                  </a:rPr>
                  <a:t>)[cite: 4, 5]. Every row and column has unit Euclidean norm (</a:t>
                </a:r>
                <a14:m>
                  <m:oMath xmlns:m="http://schemas.openxmlformats.org/officeDocument/2006/math">
                    <m:r>
                      <a:rPr lang="en-IL" sz="1200" kern="1200" smtClean="0">
                        <a:solidFill>
                          <a:schemeClr val="tx1"/>
                        </a:solidFill>
                        <a:latin typeface="+mn-lt"/>
                        <a:ea typeface="+mn-ea"/>
                        <a:cs typeface="+mn-cs"/>
                      </a:rPr>
                      <m:t>‖</m:t>
                    </m:r>
                    <m:sSub>
                      <m:sSubPr>
                        <m:ctrlPr>
                          <a:rPr lang="en-IL" sz="1200" i="1" kern="1200">
                            <a:solidFill>
                              <a:schemeClr val="tx1"/>
                            </a:solidFill>
                            <a:latin typeface="+mn-lt"/>
                            <a:ea typeface="+mn-ea"/>
                            <a:cs typeface="+mn-cs"/>
                          </a:rPr>
                        </m:ctrlPr>
                      </m:sSubPr>
                      <m:e>
                        <m:r>
                          <a:rPr lang="en-IL" sz="1200" i="1" kern="1200">
                            <a:solidFill>
                              <a:schemeClr val="tx1"/>
                            </a:solidFill>
                            <a:latin typeface="+mn-lt"/>
                            <a:ea typeface="+mn-ea"/>
                            <a:cs typeface="+mn-cs"/>
                          </a:rPr>
                          <m:t>𝐻</m:t>
                        </m:r>
                      </m:e>
                      <m:sub>
                        <m:r>
                          <a:rPr lang="en-IL" sz="1200" i="1" kern="1200">
                            <a:solidFill>
                              <a:schemeClr val="tx1"/>
                            </a:solidFill>
                            <a:latin typeface="+mn-lt"/>
                            <a:ea typeface="+mn-ea"/>
                            <a:cs typeface="+mn-cs"/>
                          </a:rPr>
                          <m:t>𝑖</m:t>
                        </m:r>
                        <m:r>
                          <a:rPr lang="en-IL" sz="1200" i="0" kern="1200">
                            <a:solidFill>
                              <a:schemeClr val="tx1"/>
                            </a:solidFill>
                            <a:latin typeface="+mn-lt"/>
                            <a:ea typeface="+mn-ea"/>
                            <a:cs typeface="+mn-cs"/>
                          </a:rPr>
                          <m:t>,:</m:t>
                        </m:r>
                      </m:sub>
                    </m:sSub>
                    <m:r>
                      <a:rPr lang="en-IL" sz="1200" i="0" kern="1200">
                        <a:solidFill>
                          <a:schemeClr val="tx1"/>
                        </a:solidFill>
                        <a:latin typeface="+mn-lt"/>
                        <a:ea typeface="+mn-ea"/>
                        <a:cs typeface="+mn-cs"/>
                      </a:rPr>
                      <m:t>‖</m:t>
                    </m:r>
                    <m:sSub>
                      <m:sSubPr>
                        <m:ctrlPr>
                          <a:rPr lang="en-IL" sz="1200" i="0" kern="1200">
                            <a:solidFill>
                              <a:schemeClr val="tx1"/>
                            </a:solidFill>
                            <a:latin typeface="+mn-lt"/>
                            <a:ea typeface="+mn-ea"/>
                            <a:cs typeface="+mn-cs"/>
                          </a:rPr>
                        </m:ctrlPr>
                      </m:sSubPr>
                      <m:e>
                        <m:r>
                          <a:rPr lang="en-IL" sz="1200" i="0" kern="1200">
                            <a:solidFill>
                              <a:schemeClr val="tx1"/>
                            </a:solidFill>
                            <a:latin typeface="+mn-lt"/>
                            <a:ea typeface="+mn-ea"/>
                            <a:cs typeface="+mn-cs"/>
                          </a:rPr>
                          <m:t>​</m:t>
                        </m:r>
                      </m:e>
                      <m:sub>
                        <m:r>
                          <a:rPr lang="en-IL" sz="1200" i="0" kern="1200">
                            <a:solidFill>
                              <a:schemeClr val="tx1"/>
                            </a:solidFill>
                            <a:latin typeface="+mn-lt"/>
                            <a:ea typeface="+mn-ea"/>
                            <a:cs typeface="+mn-cs"/>
                          </a:rPr>
                          <m:t>2</m:t>
                        </m:r>
                      </m:sub>
                    </m:sSub>
                    <m:r>
                      <a:rPr lang="en-IL" sz="1200" i="0" kern="1200">
                        <a:solidFill>
                          <a:schemeClr val="tx1"/>
                        </a:solidFill>
                        <a:latin typeface="+mn-lt"/>
                        <a:ea typeface="+mn-ea"/>
                        <a:cs typeface="+mn-cs"/>
                      </a:rPr>
                      <m:t>=1</m:t>
                    </m:r>
                  </m:oMath>
                </a14:m>
                <a:r>
                  <a:rPr lang="en-IL" sz="1200" kern="1200" dirty="0">
                    <a:solidFill>
                      <a:schemeClr val="tx1"/>
                    </a:solidFill>
                    <a:effectLst/>
                    <a:latin typeface="+mn-lt"/>
                    <a:ea typeface="+mn-ea"/>
                    <a:cs typeface="+mn-cs"/>
                  </a:rPr>
                  <a:t>), and all pairs of distinct rows are orthogonal (</a:t>
                </a:r>
                <a14:m>
                  <m:oMath xmlns:m="http://schemas.openxmlformats.org/officeDocument/2006/math">
                    <m:sSub>
                      <m:sSubPr>
                        <m:ctrlPr>
                          <a:rPr lang="en-IL" sz="1200" i="1" kern="1200">
                            <a:solidFill>
                              <a:schemeClr val="tx1"/>
                            </a:solidFill>
                            <a:latin typeface="+mn-lt"/>
                            <a:ea typeface="+mn-ea"/>
                            <a:cs typeface="+mn-cs"/>
                          </a:rPr>
                        </m:ctrlPr>
                      </m:sSubPr>
                      <m:e>
                        <m:r>
                          <a:rPr lang="en-IL" sz="1200" i="1" kern="1200">
                            <a:solidFill>
                              <a:schemeClr val="tx1"/>
                            </a:solidFill>
                            <a:latin typeface="+mn-lt"/>
                            <a:ea typeface="+mn-ea"/>
                            <a:cs typeface="+mn-cs"/>
                          </a:rPr>
                          <m:t>𝐻</m:t>
                        </m:r>
                      </m:e>
                      <m:sub>
                        <m:r>
                          <a:rPr lang="en-IL" sz="1200" i="1" kern="1200">
                            <a:solidFill>
                              <a:schemeClr val="tx1"/>
                            </a:solidFill>
                            <a:latin typeface="+mn-lt"/>
                            <a:ea typeface="+mn-ea"/>
                            <a:cs typeface="+mn-cs"/>
                          </a:rPr>
                          <m:t>𝑖</m:t>
                        </m:r>
                      </m:sub>
                    </m:sSub>
                    <m:r>
                      <a:rPr lang="en-IL" sz="1200" i="0" kern="1200">
                        <a:solidFill>
                          <a:schemeClr val="tx1"/>
                        </a:solidFill>
                        <a:latin typeface="+mn-lt"/>
                        <a:ea typeface="+mn-ea"/>
                        <a:cs typeface="+mn-cs"/>
                      </a:rPr>
                      <m:t>⋅</m:t>
                    </m:r>
                    <m:sSub>
                      <m:sSubPr>
                        <m:ctrlPr>
                          <a:rPr lang="en-IL" sz="1200" i="1" kern="1200">
                            <a:solidFill>
                              <a:schemeClr val="tx1"/>
                            </a:solidFill>
                            <a:latin typeface="+mn-lt"/>
                            <a:ea typeface="+mn-ea"/>
                            <a:cs typeface="+mn-cs"/>
                          </a:rPr>
                        </m:ctrlPr>
                      </m:sSubPr>
                      <m:e>
                        <m:r>
                          <a:rPr lang="en-IL" sz="1200" i="1" kern="1200">
                            <a:solidFill>
                              <a:schemeClr val="tx1"/>
                            </a:solidFill>
                            <a:latin typeface="+mn-lt"/>
                            <a:ea typeface="+mn-ea"/>
                            <a:cs typeface="+mn-cs"/>
                          </a:rPr>
                          <m:t>𝐻</m:t>
                        </m:r>
                      </m:e>
                      <m:sub>
                        <m:r>
                          <a:rPr lang="en-IL" sz="1200" i="1" kern="1200">
                            <a:solidFill>
                              <a:schemeClr val="tx1"/>
                            </a:solidFill>
                            <a:latin typeface="+mn-lt"/>
                            <a:ea typeface="+mn-ea"/>
                            <a:cs typeface="+mn-cs"/>
                          </a:rPr>
                          <m:t>𝑗</m:t>
                        </m:r>
                      </m:sub>
                    </m:sSub>
                    <m:r>
                      <a:rPr lang="en-IL" sz="1200" i="0" kern="1200">
                        <a:solidFill>
                          <a:schemeClr val="tx1"/>
                        </a:solidFill>
                        <a:latin typeface="+mn-lt"/>
                        <a:ea typeface="+mn-ea"/>
                        <a:cs typeface="+mn-cs"/>
                      </a:rPr>
                      <m:t>=0</m:t>
                    </m:r>
                  </m:oMath>
                </a14:m>
                <a:r>
                  <a:rPr lang="en-IL" sz="1200" kern="1200" dirty="0">
                    <a:solidFill>
                      <a:schemeClr val="tx1"/>
                    </a:solidFill>
                    <a:effectLst/>
                    <a:latin typeface="+mn-lt"/>
                    <a:ea typeface="+mn-ea"/>
                    <a:cs typeface="+mn-cs"/>
                  </a:rPr>
                  <a:t>). </a:t>
                </a:r>
              </a:p>
              <a:p>
                <a:pPr lvl="0"/>
                <a:r>
                  <a:rPr lang="en-IL" sz="1200" b="1" kern="1200" dirty="0">
                    <a:solidFill>
                      <a:schemeClr val="tx1"/>
                    </a:solidFill>
                    <a:effectLst/>
                    <a:latin typeface="+mn-lt"/>
                    <a:ea typeface="+mn-ea"/>
                    <a:cs typeface="+mn-cs"/>
                  </a:rPr>
                  <a:t>Values:</a:t>
                </a:r>
                <a:r>
                  <a:rPr lang="en-IL" sz="1200" kern="1200" dirty="0">
                    <a:solidFill>
                      <a:schemeClr val="tx1"/>
                    </a:solidFill>
                    <a:effectLst/>
                    <a:latin typeface="+mn-lt"/>
                    <a:ea typeface="+mn-ea"/>
                    <a:cs typeface="+mn-cs"/>
                  </a:rPr>
                  <a:t> Entries are dense, zero-mean, bell-curve-distributed values roughly scaled by </a:t>
                </a:r>
                <a14:m>
                  <m:oMath xmlns:m="http://schemas.openxmlformats.org/officeDocument/2006/math">
                    <m:r>
                      <a:rPr lang="en-IL" sz="1200" kern="1200" smtClean="0">
                        <a:solidFill>
                          <a:schemeClr val="tx1"/>
                        </a:solidFill>
                        <a:latin typeface="+mn-lt"/>
                        <a:ea typeface="+mn-ea"/>
                        <a:cs typeface="+mn-cs"/>
                      </a:rPr>
                      <m:t>≈</m:t>
                    </m:r>
                    <m:r>
                      <a:rPr lang="en-IL" sz="1200" i="0" kern="1200">
                        <a:solidFill>
                          <a:schemeClr val="tx1"/>
                        </a:solidFill>
                        <a:latin typeface="+mn-lt"/>
                        <a:ea typeface="+mn-ea"/>
                        <a:cs typeface="+mn-cs"/>
                      </a:rPr>
                      <m:t>1/</m:t>
                    </m:r>
                    <m:rad>
                      <m:radPr>
                        <m:degHide m:val="on"/>
                        <m:ctrlPr>
                          <a:rPr lang="en-IL" sz="1200" i="1" kern="1200">
                            <a:solidFill>
                              <a:schemeClr val="tx1"/>
                            </a:solidFill>
                            <a:latin typeface="+mn-lt"/>
                            <a:ea typeface="+mn-ea"/>
                            <a:cs typeface="+mn-cs"/>
                          </a:rPr>
                        </m:ctrlPr>
                      </m:radPr>
                      <m:deg/>
                      <m:e>
                        <m:r>
                          <a:rPr lang="en-IL" sz="1200" i="1" kern="1200">
                            <a:solidFill>
                              <a:schemeClr val="tx1"/>
                            </a:solidFill>
                            <a:latin typeface="+mn-lt"/>
                            <a:ea typeface="+mn-ea"/>
                            <a:cs typeface="+mn-cs"/>
                          </a:rPr>
                          <m:t>𝑑</m:t>
                        </m:r>
                      </m:e>
                    </m:rad>
                  </m:oMath>
                </a14:m>
                <a:r>
                  <a:rPr lang="en-IL" sz="1200" kern="1200" dirty="0">
                    <a:solidFill>
                      <a:schemeClr val="tx1"/>
                    </a:solidFill>
                    <a:effectLst/>
                    <a:latin typeface="+mn-lt"/>
                    <a:ea typeface="+mn-ea"/>
                    <a:cs typeface="+mn-cs"/>
                  </a:rPr>
                  <a:t>(for </a:t>
                </a:r>
                <a14:m>
                  <m:oMath xmlns:m="http://schemas.openxmlformats.org/officeDocument/2006/math">
                    <m:r>
                      <a:rPr lang="en-IL" sz="1200" i="1" kern="1200" smtClean="0">
                        <a:solidFill>
                          <a:schemeClr val="tx1"/>
                        </a:solidFill>
                        <a:latin typeface="+mn-lt"/>
                        <a:ea typeface="+mn-ea"/>
                        <a:cs typeface="+mn-cs"/>
                      </a:rPr>
                      <m:t>𝑑</m:t>
                    </m:r>
                    <m:r>
                      <a:rPr lang="en-IL" sz="1200" i="0" kern="1200">
                        <a:solidFill>
                          <a:schemeClr val="tx1"/>
                        </a:solidFill>
                        <a:latin typeface="+mn-lt"/>
                        <a:ea typeface="+mn-ea"/>
                        <a:cs typeface="+mn-cs"/>
                      </a:rPr>
                      <m:t>=48</m:t>
                    </m:r>
                  </m:oMath>
                </a14:m>
                <a:r>
                  <a:rPr lang="en-IL" sz="1200" kern="1200" dirty="0">
                    <a:solidFill>
                      <a:schemeClr val="tx1"/>
                    </a:solidFill>
                    <a:effectLst/>
                    <a:latin typeface="+mn-lt"/>
                    <a:ea typeface="+mn-ea"/>
                    <a:cs typeface="+mn-cs"/>
                  </a:rPr>
                  <a:t>, entries fluctuate between roughly </a:t>
                </a:r>
                <a14:m>
                  <m:oMath xmlns:m="http://schemas.openxmlformats.org/officeDocument/2006/math">
                    <m:r>
                      <a:rPr lang="en-IL" sz="1200" kern="1200" smtClean="0">
                        <a:solidFill>
                          <a:schemeClr val="tx1"/>
                        </a:solidFill>
                        <a:latin typeface="+mn-lt"/>
                        <a:ea typeface="+mn-ea"/>
                        <a:cs typeface="+mn-cs"/>
                      </a:rPr>
                      <m:t>−</m:t>
                    </m:r>
                    <m:r>
                      <a:rPr lang="en-IL" sz="1200" i="0" kern="1200">
                        <a:solidFill>
                          <a:schemeClr val="tx1"/>
                        </a:solidFill>
                        <a:latin typeface="+mn-lt"/>
                        <a:ea typeface="+mn-ea"/>
                        <a:cs typeface="+mn-cs"/>
                      </a:rPr>
                      <m:t>0.25</m:t>
                    </m:r>
                  </m:oMath>
                </a14:m>
                <a:r>
                  <a:rPr lang="en-IL" sz="1200" kern="1200" dirty="0">
                    <a:solidFill>
                      <a:schemeClr val="tx1"/>
                    </a:solidFill>
                    <a:effectLst/>
                    <a:latin typeface="+mn-lt"/>
                    <a:ea typeface="+mn-ea"/>
                    <a:cs typeface="+mn-cs"/>
                  </a:rPr>
                  <a:t>and </a:t>
                </a:r>
                <a14:m>
                  <m:oMath xmlns:m="http://schemas.openxmlformats.org/officeDocument/2006/math">
                    <m:r>
                      <a:rPr lang="en-IL" sz="1200" kern="1200" smtClean="0">
                        <a:solidFill>
                          <a:schemeClr val="tx1"/>
                        </a:solidFill>
                        <a:latin typeface="+mn-lt"/>
                        <a:ea typeface="+mn-ea"/>
                        <a:cs typeface="+mn-cs"/>
                      </a:rPr>
                      <m:t>+</m:t>
                    </m:r>
                    <m:r>
                      <a:rPr lang="en-IL" sz="1200" i="0" kern="1200">
                        <a:solidFill>
                          <a:schemeClr val="tx1"/>
                        </a:solidFill>
                        <a:latin typeface="+mn-lt"/>
                        <a:ea typeface="+mn-ea"/>
                        <a:cs typeface="+mn-cs"/>
                      </a:rPr>
                      <m:t>0.25</m:t>
                    </m:r>
                  </m:oMath>
                </a14:m>
                <a:r>
                  <a:rPr lang="en-IL" sz="1200" kern="1200" dirty="0">
                    <a:solidFill>
                      <a:schemeClr val="tx1"/>
                    </a:solidFill>
                    <a:effectLst/>
                    <a:latin typeface="+mn-lt"/>
                    <a:ea typeface="+mn-ea"/>
                    <a:cs typeface="+mn-cs"/>
                  </a:rPr>
                  <a:t>).</a:t>
                </a:r>
              </a:p>
              <a:p>
                <a:pPr lvl="0"/>
                <a:r>
                  <a:rPr lang="en-IL" sz="1200" b="1" kern="1200" dirty="0">
                    <a:solidFill>
                      <a:schemeClr val="tx1"/>
                    </a:solidFill>
                    <a:effectLst/>
                    <a:latin typeface="+mn-lt"/>
                    <a:ea typeface="+mn-ea"/>
                    <a:cs typeface="+mn-cs"/>
                  </a:rPr>
                  <a:t>In Q15 Format:</a:t>
                </a:r>
                <a:r>
                  <a:rPr lang="en-IL" sz="1200" kern="1200" dirty="0">
                    <a:solidFill>
                      <a:schemeClr val="tx1"/>
                    </a:solidFill>
                    <a:effectLst/>
                    <a:latin typeface="+mn-lt"/>
                    <a:ea typeface="+mn-ea"/>
                    <a:cs typeface="+mn-cs"/>
                  </a:rPr>
                  <a:t> Stored as signed 16-bit integers (int16_t) spanning roughly [-8192, 8192]. </a:t>
                </a:r>
              </a:p>
              <a:p>
                <a:r>
                  <a:rPr lang="en-IL" sz="1200" b="1" kern="1200" dirty="0">
                    <a:solidFill>
                      <a:schemeClr val="tx1"/>
                    </a:solidFill>
                    <a:effectLst/>
                    <a:latin typeface="+mn-lt"/>
                    <a:ea typeface="+mn-ea"/>
                    <a:cs typeface="+mn-cs"/>
                  </a:rPr>
                  <a:t>Matrix </a:t>
                </a:r>
                <a14:m>
                  <m:oMath xmlns:m="http://schemas.openxmlformats.org/officeDocument/2006/math">
                    <m:r>
                      <a:rPr lang="en-IL" sz="1200" i="1" kern="1200" smtClean="0">
                        <a:solidFill>
                          <a:schemeClr val="tx1"/>
                        </a:solidFill>
                        <a:latin typeface="+mn-lt"/>
                        <a:ea typeface="+mn-ea"/>
                        <a:cs typeface="+mn-cs"/>
                      </a:rPr>
                      <m:t>𝑀</m:t>
                    </m:r>
                  </m:oMath>
                </a14:m>
                <a:r>
                  <a:rPr lang="en-IL" sz="1200" b="1" kern="1200" dirty="0">
                    <a:solidFill>
                      <a:schemeClr val="tx1"/>
                    </a:solidFill>
                    <a:effectLst/>
                    <a:latin typeface="+mn-lt"/>
                    <a:ea typeface="+mn-ea"/>
                    <a:cs typeface="+mn-cs"/>
                  </a:rPr>
                  <a:t>(Gaussian QJL Projection Matrix) </a:t>
                </a:r>
              </a:p>
              <a:p>
                <a:pPr lvl="0"/>
                <a:r>
                  <a:rPr lang="en-IL" sz="1200" b="1" kern="1200" dirty="0">
                    <a:solidFill>
                      <a:schemeClr val="tx1"/>
                    </a:solidFill>
                    <a:effectLst/>
                    <a:latin typeface="+mn-lt"/>
                    <a:ea typeface="+mn-ea"/>
                    <a:cs typeface="+mn-cs"/>
                  </a:rPr>
                  <a:t>Shape:</a:t>
                </a:r>
                <a:r>
                  <a:rPr lang="en-IL" sz="1200" kern="1200" dirty="0">
                    <a:solidFill>
                      <a:schemeClr val="tx1"/>
                    </a:solidFill>
                    <a:effectLst/>
                    <a:latin typeface="+mn-lt"/>
                    <a:ea typeface="+mn-ea"/>
                    <a:cs typeface="+mn-cs"/>
                  </a:rPr>
                  <a:t> </a:t>
                </a:r>
                <a14:m>
                  <m:oMath xmlns:m="http://schemas.openxmlformats.org/officeDocument/2006/math">
                    <m:r>
                      <a:rPr lang="en-IL" sz="1200" i="1" kern="1200" smtClean="0">
                        <a:solidFill>
                          <a:schemeClr val="tx1"/>
                        </a:solidFill>
                        <a:latin typeface="+mn-lt"/>
                        <a:ea typeface="+mn-ea"/>
                        <a:cs typeface="+mn-cs"/>
                      </a:rPr>
                      <m:t>𝑑</m:t>
                    </m:r>
                    <m:r>
                      <a:rPr lang="en-IL" sz="1200" i="0" kern="1200">
                        <a:solidFill>
                          <a:schemeClr val="tx1"/>
                        </a:solidFill>
                        <a:latin typeface="+mn-lt"/>
                        <a:ea typeface="+mn-ea"/>
                        <a:cs typeface="+mn-cs"/>
                      </a:rPr>
                      <m:t>×</m:t>
                    </m:r>
                    <m:r>
                      <a:rPr lang="en-IL" sz="1200" i="1" kern="1200">
                        <a:solidFill>
                          <a:schemeClr val="tx1"/>
                        </a:solidFill>
                        <a:latin typeface="+mn-lt"/>
                        <a:ea typeface="+mn-ea"/>
                        <a:cs typeface="+mn-cs"/>
                      </a:rPr>
                      <m:t>𝑑</m:t>
                    </m:r>
                  </m:oMath>
                </a14:m>
                <a:r>
                  <a:rPr lang="en-IL" sz="1200" kern="1200" dirty="0">
                    <a:solidFill>
                      <a:schemeClr val="tx1"/>
                    </a:solidFill>
                    <a:effectLst/>
                    <a:latin typeface="+mn-lt"/>
                    <a:ea typeface="+mn-ea"/>
                    <a:cs typeface="+mn-cs"/>
                  </a:rPr>
                  <a:t>(or </a:t>
                </a:r>
                <a14:m>
                  <m:oMath xmlns:m="http://schemas.openxmlformats.org/officeDocument/2006/math">
                    <m:r>
                      <a:rPr lang="en-IL" sz="1200" i="1" kern="1200" smtClean="0">
                        <a:solidFill>
                          <a:schemeClr val="tx1"/>
                        </a:solidFill>
                        <a:latin typeface="+mn-lt"/>
                        <a:ea typeface="+mn-ea"/>
                        <a:cs typeface="+mn-cs"/>
                      </a:rPr>
                      <m:t>𝑚</m:t>
                    </m:r>
                    <m:r>
                      <a:rPr lang="en-IL" sz="1200" i="0" kern="1200">
                        <a:solidFill>
                          <a:schemeClr val="tx1"/>
                        </a:solidFill>
                        <a:latin typeface="+mn-lt"/>
                        <a:ea typeface="+mn-ea"/>
                        <a:cs typeface="+mn-cs"/>
                      </a:rPr>
                      <m:t>×</m:t>
                    </m:r>
                    <m:r>
                      <a:rPr lang="en-IL" sz="1200" i="1" kern="1200">
                        <a:solidFill>
                          <a:schemeClr val="tx1"/>
                        </a:solidFill>
                        <a:latin typeface="+mn-lt"/>
                        <a:ea typeface="+mn-ea"/>
                        <a:cs typeface="+mn-cs"/>
                      </a:rPr>
                      <m:t>𝑑</m:t>
                    </m:r>
                  </m:oMath>
                </a14:m>
                <a:r>
                  <a:rPr lang="en-IL" sz="1200" kern="1200" dirty="0">
                    <a:solidFill>
                      <a:schemeClr val="tx1"/>
                    </a:solidFill>
                    <a:effectLst/>
                    <a:latin typeface="+mn-lt"/>
                    <a:ea typeface="+mn-ea"/>
                    <a:cs typeface="+mn-cs"/>
                  </a:rPr>
                  <a:t>for </a:t>
                </a:r>
                <a14:m>
                  <m:oMath xmlns:m="http://schemas.openxmlformats.org/officeDocument/2006/math">
                    <m:r>
                      <a:rPr lang="en-IL" sz="1200" i="1" kern="1200" smtClean="0">
                        <a:solidFill>
                          <a:schemeClr val="tx1"/>
                        </a:solidFill>
                        <a:latin typeface="+mn-lt"/>
                        <a:ea typeface="+mn-ea"/>
                        <a:cs typeface="+mn-cs"/>
                      </a:rPr>
                      <m:t>𝑚</m:t>
                    </m:r>
                  </m:oMath>
                </a14:m>
                <a:r>
                  <a:rPr lang="en-IL" sz="1200" kern="1200" dirty="0">
                    <a:solidFill>
                      <a:schemeClr val="tx1"/>
                    </a:solidFill>
                    <a:effectLst/>
                    <a:latin typeface="+mn-lt"/>
                    <a:ea typeface="+mn-ea"/>
                    <a:cs typeface="+mn-cs"/>
                  </a:rPr>
                  <a:t>residual projection dimensions)[cite: 4]. </a:t>
                </a:r>
              </a:p>
              <a:p>
                <a:pPr lvl="0"/>
                <a:r>
                  <a:rPr lang="en-IL" sz="1200" b="1" kern="1200" dirty="0">
                    <a:solidFill>
                      <a:schemeClr val="tx1"/>
                    </a:solidFill>
                    <a:effectLst/>
                    <a:latin typeface="+mn-lt"/>
                    <a:ea typeface="+mn-ea"/>
                    <a:cs typeface="+mn-cs"/>
                  </a:rPr>
                  <a:t>Properties:</a:t>
                </a:r>
                <a:r>
                  <a:rPr lang="en-IL" sz="1200" kern="1200" dirty="0">
                    <a:solidFill>
                      <a:schemeClr val="tx1"/>
                    </a:solidFill>
                    <a:effectLst/>
                    <a:latin typeface="+mn-lt"/>
                    <a:ea typeface="+mn-ea"/>
                    <a:cs typeface="+mn-cs"/>
                  </a:rPr>
                  <a:t> Independent and identically distributed (</a:t>
                </a:r>
                <a:r>
                  <a:rPr lang="en-IL" sz="1200" kern="1200" dirty="0" err="1">
                    <a:solidFill>
                      <a:schemeClr val="tx1"/>
                    </a:solidFill>
                    <a:effectLst/>
                    <a:latin typeface="+mn-lt"/>
                    <a:ea typeface="+mn-ea"/>
                    <a:cs typeface="+mn-cs"/>
                  </a:rPr>
                  <a:t>i.i.d.</a:t>
                </a:r>
                <a:r>
                  <a:rPr lang="en-IL" sz="1200" kern="1200" dirty="0">
                    <a:solidFill>
                      <a:schemeClr val="tx1"/>
                    </a:solidFill>
                    <a:effectLst/>
                    <a:latin typeface="+mn-lt"/>
                    <a:ea typeface="+mn-ea"/>
                    <a:cs typeface="+mn-cs"/>
                  </a:rPr>
                  <a:t>) standard normal entries:</a:t>
                </a:r>
              </a:p>
              <a:p>
                <a:pPr lvl="0"/>
                <a14:m>
                  <m:oMathPara xmlns:m="http://schemas.openxmlformats.org/officeDocument/2006/math">
                    <m:oMath>
                      <m:sSub>
                        <m:sSubPr>
                          <m:ctrlPr>
                            <a:rPr lang="en-IL" sz="1200" i="1" kern="1200">
                              <a:solidFill>
                                <a:schemeClr val="tx1"/>
                              </a:solidFill>
                              <a:latin typeface="+mn-lt"/>
                              <a:ea typeface="+mn-ea"/>
                              <a:cs typeface="+mn-cs"/>
                            </a:rPr>
                          </m:ctrlPr>
                        </m:sSubPr>
                        <m:e>
                          <m:r>
                            <a:rPr lang="en-IL" sz="1200" i="1" kern="1200">
                              <a:solidFill>
                                <a:schemeClr val="tx1"/>
                              </a:solidFill>
                              <a:latin typeface="+mn-lt"/>
                              <a:ea typeface="+mn-ea"/>
                              <a:cs typeface="+mn-cs"/>
                            </a:rPr>
                            <m:t>𝑀</m:t>
                          </m:r>
                        </m:e>
                        <m:sub>
                          <m:r>
                            <a:rPr lang="en-IL" sz="1200" i="1" kern="1200">
                              <a:solidFill>
                                <a:schemeClr val="tx1"/>
                              </a:solidFill>
                              <a:latin typeface="+mn-lt"/>
                              <a:ea typeface="+mn-ea"/>
                              <a:cs typeface="+mn-cs"/>
                            </a:rPr>
                            <m:t>𝑖</m:t>
                          </m:r>
                          <m:r>
                            <a:rPr lang="en-IL" sz="1200" i="0" kern="1200">
                              <a:solidFill>
                                <a:schemeClr val="tx1"/>
                              </a:solidFill>
                              <a:latin typeface="+mn-lt"/>
                              <a:ea typeface="+mn-ea"/>
                              <a:cs typeface="+mn-cs"/>
                            </a:rPr>
                            <m:t>,</m:t>
                          </m:r>
                          <m:r>
                            <a:rPr lang="en-IL" sz="1200" i="1" kern="1200">
                              <a:solidFill>
                                <a:schemeClr val="tx1"/>
                              </a:solidFill>
                              <a:latin typeface="+mn-lt"/>
                              <a:ea typeface="+mn-ea"/>
                              <a:cs typeface="+mn-cs"/>
                            </a:rPr>
                            <m:t>𝑗</m:t>
                          </m:r>
                        </m:sub>
                      </m:sSub>
                      <m:r>
                        <a:rPr lang="en-IL" sz="1200" i="0" kern="1200">
                          <a:solidFill>
                            <a:schemeClr val="tx1"/>
                          </a:solidFill>
                          <a:latin typeface="+mn-lt"/>
                          <a:ea typeface="+mn-ea"/>
                          <a:cs typeface="+mn-cs"/>
                        </a:rPr>
                        <m:t>∼</m:t>
                      </m:r>
                      <m:r>
                        <a:rPr lang="en-IL" sz="1200" i="0" kern="1200">
                          <a:solidFill>
                            <a:schemeClr val="tx1"/>
                          </a:solidFill>
                          <a:latin typeface="+mn-lt"/>
                          <a:ea typeface="+mn-ea"/>
                          <a:cs typeface="+mn-cs"/>
                        </a:rPr>
                        <m:t>𝒩</m:t>
                      </m:r>
                      <m:d>
                        <m:dPr>
                          <m:ctrlPr>
                            <a:rPr lang="en-IL" sz="1200" i="0" kern="1200">
                              <a:solidFill>
                                <a:schemeClr val="tx1"/>
                              </a:solidFill>
                              <a:latin typeface="+mn-lt"/>
                              <a:ea typeface="+mn-ea"/>
                              <a:cs typeface="+mn-cs"/>
                            </a:rPr>
                          </m:ctrlPr>
                        </m:dPr>
                        <m:e>
                          <m:r>
                            <a:rPr lang="en-IL" sz="1200" i="0" kern="1200">
                              <a:solidFill>
                                <a:schemeClr val="tx1"/>
                              </a:solidFill>
                              <a:latin typeface="+mn-lt"/>
                              <a:ea typeface="+mn-ea"/>
                              <a:cs typeface="+mn-cs"/>
                            </a:rPr>
                            <m:t>0,1</m:t>
                          </m:r>
                        </m:e>
                      </m:d>
                    </m:oMath>
                  </m:oMathPara>
                </a14:m>
                <a:endParaRPr lang="en-IL" sz="1200" kern="1200" dirty="0">
                  <a:solidFill>
                    <a:schemeClr val="tx1"/>
                  </a:solidFill>
                  <a:effectLst/>
                  <a:latin typeface="+mn-lt"/>
                  <a:ea typeface="+mn-ea"/>
                  <a:cs typeface="+mn-cs"/>
                </a:endParaRPr>
              </a:p>
              <a:p>
                <a:pPr lvl="0"/>
                <a:r>
                  <a:rPr lang="en-IL" sz="1200" b="1" kern="1200" dirty="0">
                    <a:solidFill>
                      <a:schemeClr val="tx1"/>
                    </a:solidFill>
                    <a:effectLst/>
                    <a:latin typeface="+mn-lt"/>
                    <a:ea typeface="+mn-ea"/>
                    <a:cs typeface="+mn-cs"/>
                  </a:rPr>
                  <a:t>Values:</a:t>
                </a:r>
                <a:r>
                  <a:rPr lang="en-IL" sz="1200" kern="1200" dirty="0">
                    <a:solidFill>
                      <a:schemeClr val="tx1"/>
                    </a:solidFill>
                    <a:effectLst/>
                    <a:latin typeface="+mn-lt"/>
                    <a:ea typeface="+mn-ea"/>
                    <a:cs typeface="+mn-cs"/>
                  </a:rPr>
                  <a:t> A standard Gaussian distribution with values mostly between </a:t>
                </a:r>
                <a14:m>
                  <m:oMath xmlns:m="http://schemas.openxmlformats.org/officeDocument/2006/math">
                    <m:r>
                      <a:rPr lang="en-IL" sz="1200" kern="1200" smtClean="0">
                        <a:solidFill>
                          <a:schemeClr val="tx1"/>
                        </a:solidFill>
                        <a:latin typeface="+mn-lt"/>
                        <a:ea typeface="+mn-ea"/>
                        <a:cs typeface="+mn-cs"/>
                      </a:rPr>
                      <m:t>−</m:t>
                    </m:r>
                    <m:r>
                      <a:rPr lang="en-IL" sz="1200" i="0" kern="1200">
                        <a:solidFill>
                          <a:schemeClr val="tx1"/>
                        </a:solidFill>
                        <a:latin typeface="+mn-lt"/>
                        <a:ea typeface="+mn-ea"/>
                        <a:cs typeface="+mn-cs"/>
                      </a:rPr>
                      <m:t>3.0</m:t>
                    </m:r>
                  </m:oMath>
                </a14:m>
                <a:r>
                  <a:rPr lang="en-IL" sz="1200" kern="1200" dirty="0">
                    <a:solidFill>
                      <a:schemeClr val="tx1"/>
                    </a:solidFill>
                    <a:effectLst/>
                    <a:latin typeface="+mn-lt"/>
                    <a:ea typeface="+mn-ea"/>
                    <a:cs typeface="+mn-cs"/>
                  </a:rPr>
                  <a:t>and </a:t>
                </a:r>
                <a14:m>
                  <m:oMath xmlns:m="http://schemas.openxmlformats.org/officeDocument/2006/math">
                    <m:r>
                      <a:rPr lang="en-IL" sz="1200" kern="1200" smtClean="0">
                        <a:solidFill>
                          <a:schemeClr val="tx1"/>
                        </a:solidFill>
                        <a:latin typeface="+mn-lt"/>
                        <a:ea typeface="+mn-ea"/>
                        <a:cs typeface="+mn-cs"/>
                      </a:rPr>
                      <m:t>+</m:t>
                    </m:r>
                    <m:r>
                      <a:rPr lang="en-IL" sz="1200" i="0" kern="1200">
                        <a:solidFill>
                          <a:schemeClr val="tx1"/>
                        </a:solidFill>
                        <a:latin typeface="+mn-lt"/>
                        <a:ea typeface="+mn-ea"/>
                        <a:cs typeface="+mn-cs"/>
                      </a:rPr>
                      <m:t>3.0</m:t>
                    </m:r>
                  </m:oMath>
                </a14:m>
                <a:r>
                  <a:rPr lang="en-IL" sz="1200" kern="1200" dirty="0">
                    <a:solidFill>
                      <a:schemeClr val="tx1"/>
                    </a:solidFill>
                    <a:effectLst/>
                    <a:latin typeface="+mn-lt"/>
                    <a:ea typeface="+mn-ea"/>
                    <a:cs typeface="+mn-cs"/>
                  </a:rPr>
                  <a:t>.</a:t>
                </a:r>
              </a:p>
              <a:p>
                <a:pPr lvl="0"/>
                <a:r>
                  <a:rPr lang="en-IL" sz="1200" b="1" kern="1200" dirty="0">
                    <a:solidFill>
                      <a:schemeClr val="tx1"/>
                    </a:solidFill>
                    <a:effectLst/>
                    <a:latin typeface="+mn-lt"/>
                    <a:ea typeface="+mn-ea"/>
                    <a:cs typeface="+mn-cs"/>
                  </a:rPr>
                  <a:t>In Q15 Format:</a:t>
                </a:r>
                <a:r>
                  <a:rPr lang="en-IL" sz="1200" kern="1200" dirty="0">
                    <a:solidFill>
                      <a:schemeClr val="tx1"/>
                    </a:solidFill>
                    <a:effectLst/>
                    <a:latin typeface="+mn-lt"/>
                    <a:ea typeface="+mn-ea"/>
                    <a:cs typeface="+mn-cs"/>
                  </a:rPr>
                  <a:t> Scaled and normalized so that multiplying against activations does not cause 32-bit integer overflow during accumulation.</a:t>
                </a:r>
              </a:p>
              <a:p>
                <a:r>
                  <a:rPr lang="en-IL" sz="1200" b="1" kern="1200" dirty="0">
                    <a:solidFill>
                      <a:schemeClr val="tx1"/>
                    </a:solidFill>
                    <a:effectLst/>
                    <a:latin typeface="+mn-lt"/>
                    <a:ea typeface="+mn-ea"/>
                    <a:cs typeface="+mn-cs"/>
                  </a:rPr>
                  <a:t>4. How They Are Created </a:t>
                </a:r>
              </a:p>
              <a:p>
                <a:r>
                  <a:rPr lang="en-IL" sz="1200" kern="1200" dirty="0">
                    <a:solidFill>
                      <a:schemeClr val="tx1"/>
                    </a:solidFill>
                    <a:effectLst/>
                    <a:latin typeface="+mn-lt"/>
                    <a:ea typeface="+mn-ea"/>
                    <a:cs typeface="+mn-cs"/>
                  </a:rPr>
                  <a:t>They are generated offline via an initialization script (typically in Python using NumPy/SciPy) and exported directly as static C header arrays[cite: 5]. </a:t>
                </a:r>
              </a:p>
              <a:p>
                <a:r>
                  <a:rPr lang="en-IL" sz="1200" b="1" kern="1200" dirty="0">
                    <a:solidFill>
                      <a:schemeClr val="tx1"/>
                    </a:solidFill>
                    <a:effectLst/>
                    <a:latin typeface="+mn-lt"/>
                    <a:ea typeface="+mn-ea"/>
                    <a:cs typeface="+mn-cs"/>
                  </a:rPr>
                  <a:t>Mathematical Generation Process </a:t>
                </a:r>
              </a:p>
              <a:p>
                <a:pPr lvl="0"/>
                <a:r>
                  <a:rPr lang="en-IL" sz="1200" b="1" kern="1200" dirty="0">
                    <a:solidFill>
                      <a:schemeClr val="tx1"/>
                    </a:solidFill>
                    <a:effectLst/>
                    <a:latin typeface="+mn-lt"/>
                    <a:ea typeface="+mn-ea"/>
                    <a:cs typeface="+mn-cs"/>
                  </a:rPr>
                  <a:t>Generating the Haar Matrix </a:t>
                </a:r>
                <a14:m>
                  <m:oMath xmlns:m="http://schemas.openxmlformats.org/officeDocument/2006/math">
                    <m:r>
                      <a:rPr lang="en-IL" sz="1200" i="1" kern="1200" smtClean="0">
                        <a:solidFill>
                          <a:schemeClr val="tx1"/>
                        </a:solidFill>
                        <a:latin typeface="+mn-lt"/>
                        <a:ea typeface="+mn-ea"/>
                        <a:cs typeface="+mn-cs"/>
                      </a:rPr>
                      <m:t>𝐻</m:t>
                    </m:r>
                  </m:oMath>
                </a14:m>
                <a:r>
                  <a:rPr lang="en-IL" sz="1200" b="1" kern="1200" dirty="0">
                    <a:solidFill>
                      <a:schemeClr val="tx1"/>
                    </a:solidFill>
                    <a:effectLst/>
                    <a:latin typeface="+mn-lt"/>
                    <a:ea typeface="+mn-ea"/>
                    <a:cs typeface="+mn-cs"/>
                  </a:rPr>
                  <a:t>via Stewart’s Algorithm (QR Decomposition):</a:t>
                </a:r>
                <a:r>
                  <a:rPr lang="en-IL" sz="1200" kern="1200" dirty="0">
                    <a:solidFill>
                      <a:schemeClr val="tx1"/>
                    </a:solidFill>
                    <a:effectLst/>
                    <a:latin typeface="+mn-lt"/>
                    <a:ea typeface="+mn-ea"/>
                    <a:cs typeface="+mn-cs"/>
                  </a:rPr>
                  <a:t> </a:t>
                </a:r>
              </a:p>
              <a:p>
                <a:pPr lvl="1"/>
                <a:r>
                  <a:rPr lang="en-IL" sz="1200" kern="1200" dirty="0">
                    <a:solidFill>
                      <a:schemeClr val="tx1"/>
                    </a:solidFill>
                    <a:effectLst/>
                    <a:latin typeface="+mn-lt"/>
                    <a:ea typeface="+mn-ea"/>
                    <a:cs typeface="+mn-cs"/>
                  </a:rPr>
                  <a:t>Sample an auxiliary matrix </a:t>
                </a:r>
                <a14:m>
                  <m:oMath xmlns:m="http://schemas.openxmlformats.org/officeDocument/2006/math">
                    <m:r>
                      <a:rPr lang="en-IL" sz="1200" i="1" kern="1200" smtClean="0">
                        <a:solidFill>
                          <a:schemeClr val="tx1"/>
                        </a:solidFill>
                        <a:latin typeface="+mn-lt"/>
                        <a:ea typeface="+mn-ea"/>
                        <a:cs typeface="+mn-cs"/>
                      </a:rPr>
                      <m:t>𝐺</m:t>
                    </m:r>
                    <m:r>
                      <a:rPr lang="en-IL" sz="1200" i="0" kern="1200">
                        <a:solidFill>
                          <a:schemeClr val="tx1"/>
                        </a:solidFill>
                        <a:latin typeface="+mn-lt"/>
                        <a:ea typeface="+mn-ea"/>
                        <a:cs typeface="+mn-cs"/>
                      </a:rPr>
                      <m:t>∈</m:t>
                    </m:r>
                    <m:sSup>
                      <m:sSupPr>
                        <m:ctrlPr>
                          <a:rPr lang="en-IL" sz="1200" i="0" kern="1200">
                            <a:solidFill>
                              <a:schemeClr val="tx1"/>
                            </a:solidFill>
                            <a:latin typeface="+mn-lt"/>
                            <a:ea typeface="+mn-ea"/>
                            <a:cs typeface="+mn-cs"/>
                          </a:rPr>
                        </m:ctrlPr>
                      </m:sSupPr>
                      <m:e>
                        <m:r>
                          <a:rPr lang="en-IL" sz="1200" i="0" kern="1200">
                            <a:solidFill>
                              <a:schemeClr val="tx1"/>
                            </a:solidFill>
                            <a:latin typeface="+mn-lt"/>
                            <a:ea typeface="+mn-ea"/>
                            <a:cs typeface="+mn-cs"/>
                          </a:rPr>
                          <m:t>ℝ</m:t>
                        </m:r>
                      </m:e>
                      <m:sup>
                        <m:r>
                          <a:rPr lang="en-IL" sz="1200" i="1" kern="1200">
                            <a:solidFill>
                              <a:schemeClr val="tx1"/>
                            </a:solidFill>
                            <a:latin typeface="+mn-lt"/>
                            <a:ea typeface="+mn-ea"/>
                            <a:cs typeface="+mn-cs"/>
                          </a:rPr>
                          <m:t>𝑑</m:t>
                        </m:r>
                        <m:r>
                          <a:rPr lang="en-IL" sz="1200" i="0" kern="1200">
                            <a:solidFill>
                              <a:schemeClr val="tx1"/>
                            </a:solidFill>
                            <a:latin typeface="+mn-lt"/>
                            <a:ea typeface="+mn-ea"/>
                            <a:cs typeface="+mn-cs"/>
                          </a:rPr>
                          <m:t>×</m:t>
                        </m:r>
                        <m:r>
                          <a:rPr lang="en-IL" sz="1200" i="1" kern="1200">
                            <a:solidFill>
                              <a:schemeClr val="tx1"/>
                            </a:solidFill>
                            <a:latin typeface="+mn-lt"/>
                            <a:ea typeface="+mn-ea"/>
                            <a:cs typeface="+mn-cs"/>
                          </a:rPr>
                          <m:t>𝑑</m:t>
                        </m:r>
                      </m:sup>
                    </m:sSup>
                  </m:oMath>
                </a14:m>
                <a:r>
                  <a:rPr lang="en-IL" sz="1200" kern="1200" dirty="0">
                    <a:solidFill>
                      <a:schemeClr val="tx1"/>
                    </a:solidFill>
                    <a:effectLst/>
                    <a:latin typeface="+mn-lt"/>
                    <a:ea typeface="+mn-ea"/>
                    <a:cs typeface="+mn-cs"/>
                  </a:rPr>
                  <a:t>where every entry is drawn from standard normal noise: </a:t>
                </a:r>
                <a14:m>
                  <m:oMath xmlns:m="http://schemas.openxmlformats.org/officeDocument/2006/math">
                    <m:sSub>
                      <m:sSubPr>
                        <m:ctrlPr>
                          <a:rPr lang="en-IL" sz="1200" i="1" kern="1200">
                            <a:solidFill>
                              <a:schemeClr val="tx1"/>
                            </a:solidFill>
                            <a:latin typeface="+mn-lt"/>
                            <a:ea typeface="+mn-ea"/>
                            <a:cs typeface="+mn-cs"/>
                          </a:rPr>
                        </m:ctrlPr>
                      </m:sSubPr>
                      <m:e>
                        <m:r>
                          <a:rPr lang="en-IL" sz="1200" i="1" kern="1200">
                            <a:solidFill>
                              <a:schemeClr val="tx1"/>
                            </a:solidFill>
                            <a:latin typeface="+mn-lt"/>
                            <a:ea typeface="+mn-ea"/>
                            <a:cs typeface="+mn-cs"/>
                          </a:rPr>
                          <m:t>𝐺</m:t>
                        </m:r>
                      </m:e>
                      <m:sub>
                        <m:r>
                          <a:rPr lang="en-IL" sz="1200" i="1" kern="1200">
                            <a:solidFill>
                              <a:schemeClr val="tx1"/>
                            </a:solidFill>
                            <a:latin typeface="+mn-lt"/>
                            <a:ea typeface="+mn-ea"/>
                            <a:cs typeface="+mn-cs"/>
                          </a:rPr>
                          <m:t>𝑖</m:t>
                        </m:r>
                        <m:r>
                          <a:rPr lang="en-IL" sz="1200" i="0" kern="1200">
                            <a:solidFill>
                              <a:schemeClr val="tx1"/>
                            </a:solidFill>
                            <a:latin typeface="+mn-lt"/>
                            <a:ea typeface="+mn-ea"/>
                            <a:cs typeface="+mn-cs"/>
                          </a:rPr>
                          <m:t>,</m:t>
                        </m:r>
                        <m:r>
                          <a:rPr lang="en-IL" sz="1200" i="1" kern="1200">
                            <a:solidFill>
                              <a:schemeClr val="tx1"/>
                            </a:solidFill>
                            <a:latin typeface="+mn-lt"/>
                            <a:ea typeface="+mn-ea"/>
                            <a:cs typeface="+mn-cs"/>
                          </a:rPr>
                          <m:t>𝑗</m:t>
                        </m:r>
                      </m:sub>
                    </m:sSub>
                    <m:r>
                      <a:rPr lang="en-IL" sz="1200" i="0" kern="1200">
                        <a:solidFill>
                          <a:schemeClr val="tx1"/>
                        </a:solidFill>
                        <a:latin typeface="+mn-lt"/>
                        <a:ea typeface="+mn-ea"/>
                        <a:cs typeface="+mn-cs"/>
                      </a:rPr>
                      <m:t>∼</m:t>
                    </m:r>
                    <m:r>
                      <a:rPr lang="en-IL" sz="1200" i="0" kern="1200">
                        <a:solidFill>
                          <a:schemeClr val="tx1"/>
                        </a:solidFill>
                        <a:latin typeface="+mn-lt"/>
                        <a:ea typeface="+mn-ea"/>
                        <a:cs typeface="+mn-cs"/>
                      </a:rPr>
                      <m:t>𝒩</m:t>
                    </m:r>
                    <m:d>
                      <m:dPr>
                        <m:ctrlPr>
                          <a:rPr lang="en-IL" sz="1200" i="0" kern="1200">
                            <a:solidFill>
                              <a:schemeClr val="tx1"/>
                            </a:solidFill>
                            <a:latin typeface="+mn-lt"/>
                            <a:ea typeface="+mn-ea"/>
                            <a:cs typeface="+mn-cs"/>
                          </a:rPr>
                        </m:ctrlPr>
                      </m:dPr>
                      <m:e>
                        <m:r>
                          <a:rPr lang="en-IL" sz="1200" i="0" kern="1200">
                            <a:solidFill>
                              <a:schemeClr val="tx1"/>
                            </a:solidFill>
                            <a:latin typeface="+mn-lt"/>
                            <a:ea typeface="+mn-ea"/>
                            <a:cs typeface="+mn-cs"/>
                          </a:rPr>
                          <m:t>0,1</m:t>
                        </m:r>
                      </m:e>
                    </m:d>
                  </m:oMath>
                </a14:m>
                <a:r>
                  <a:rPr lang="en-IL" sz="1200" kern="1200" dirty="0">
                    <a:solidFill>
                      <a:schemeClr val="tx1"/>
                    </a:solidFill>
                    <a:effectLst/>
                    <a:latin typeface="+mn-lt"/>
                    <a:ea typeface="+mn-ea"/>
                    <a:cs typeface="+mn-cs"/>
                  </a:rPr>
                  <a:t>[cite: 5]. </a:t>
                </a:r>
              </a:p>
              <a:p>
                <a:pPr lvl="1"/>
                <a:r>
                  <a:rPr lang="en-IL" sz="1200" kern="1200" dirty="0">
                    <a:solidFill>
                      <a:schemeClr val="tx1"/>
                    </a:solidFill>
                    <a:effectLst/>
                    <a:latin typeface="+mn-lt"/>
                    <a:ea typeface="+mn-ea"/>
                    <a:cs typeface="+mn-cs"/>
                  </a:rPr>
                  <a:t>Compute the QR decomposition:</a:t>
                </a:r>
              </a:p>
              <a:p>
                <a:pPr lvl="1"/>
                <a14:m>
                  <m:oMathPara xmlns:m="http://schemas.openxmlformats.org/officeDocument/2006/math">
                    <m:oMath>
                      <m:r>
                        <a:rPr lang="en-IL" sz="1200" i="1" kern="1200" smtClean="0">
                          <a:solidFill>
                            <a:schemeClr val="tx1"/>
                          </a:solidFill>
                          <a:latin typeface="+mn-lt"/>
                          <a:ea typeface="+mn-ea"/>
                          <a:cs typeface="+mn-cs"/>
                        </a:rPr>
                        <m:t>𝐺</m:t>
                      </m:r>
                      <m:r>
                        <a:rPr lang="en-IL" sz="1200" i="0" kern="1200">
                          <a:solidFill>
                            <a:schemeClr val="tx1"/>
                          </a:solidFill>
                          <a:latin typeface="+mn-lt"/>
                          <a:ea typeface="+mn-ea"/>
                          <a:cs typeface="+mn-cs"/>
                        </a:rPr>
                        <m:t>=</m:t>
                      </m:r>
                      <m:r>
                        <a:rPr lang="en-IL" sz="1200" i="1" kern="1200">
                          <a:solidFill>
                            <a:schemeClr val="tx1"/>
                          </a:solidFill>
                          <a:latin typeface="+mn-lt"/>
                          <a:ea typeface="+mn-ea"/>
                          <a:cs typeface="+mn-cs"/>
                        </a:rPr>
                        <m:t>𝑄</m:t>
                      </m:r>
                      <m:r>
                        <a:rPr lang="en-IL" sz="1200" i="0" kern="1200">
                          <a:solidFill>
                            <a:schemeClr val="tx1"/>
                          </a:solidFill>
                          <a:latin typeface="+mn-lt"/>
                          <a:ea typeface="+mn-ea"/>
                          <a:cs typeface="+mn-cs"/>
                        </a:rPr>
                        <m:t>⋅</m:t>
                      </m:r>
                      <m:r>
                        <a:rPr lang="en-IL" sz="1200" i="1" kern="1200">
                          <a:solidFill>
                            <a:schemeClr val="tx1"/>
                          </a:solidFill>
                          <a:latin typeface="+mn-lt"/>
                          <a:ea typeface="+mn-ea"/>
                          <a:cs typeface="+mn-cs"/>
                        </a:rPr>
                        <m:t>𝑅</m:t>
                      </m:r>
                    </m:oMath>
                  </m:oMathPara>
                </a14:m>
                <a:endParaRPr lang="en-IL" sz="1200" kern="1200" dirty="0">
                  <a:solidFill>
                    <a:schemeClr val="tx1"/>
                  </a:solidFill>
                  <a:effectLst/>
                  <a:latin typeface="+mn-lt"/>
                  <a:ea typeface="+mn-ea"/>
                  <a:cs typeface="+mn-cs"/>
                </a:endParaRPr>
              </a:p>
              <a:p>
                <a:pPr lvl="1"/>
                <a:r>
                  <a:rPr lang="en-IL" sz="1200" kern="1200" dirty="0">
                    <a:solidFill>
                      <a:schemeClr val="tx1"/>
                    </a:solidFill>
                    <a:effectLst/>
                    <a:latin typeface="+mn-lt"/>
                    <a:ea typeface="+mn-ea"/>
                    <a:cs typeface="+mn-cs"/>
                  </a:rPr>
                  <a:t>To ensure the distribution is uniformly distributed according to the Haar measure over the orthogonal group </a:t>
                </a:r>
                <a14:m>
                  <m:oMath xmlns:m="http://schemas.openxmlformats.org/officeDocument/2006/math">
                    <m:r>
                      <a:rPr lang="en-IL" sz="1200" kern="1200" smtClean="0">
                        <a:solidFill>
                          <a:schemeClr val="tx1"/>
                        </a:solidFill>
                        <a:latin typeface="+mn-lt"/>
                        <a:ea typeface="+mn-ea"/>
                        <a:cs typeface="+mn-cs"/>
                      </a:rPr>
                      <m:t>𝒪</m:t>
                    </m:r>
                    <m:d>
                      <m:dPr>
                        <m:ctrlPr>
                          <a:rPr lang="en-IL" sz="1200" i="1" kern="1200">
                            <a:solidFill>
                              <a:schemeClr val="tx1"/>
                            </a:solidFill>
                            <a:latin typeface="+mn-lt"/>
                            <a:ea typeface="+mn-ea"/>
                            <a:cs typeface="+mn-cs"/>
                          </a:rPr>
                        </m:ctrlPr>
                      </m:dPr>
                      <m:e>
                        <m:r>
                          <a:rPr lang="en-IL" sz="1200" i="1" kern="1200">
                            <a:solidFill>
                              <a:schemeClr val="tx1"/>
                            </a:solidFill>
                            <a:latin typeface="+mn-lt"/>
                            <a:ea typeface="+mn-ea"/>
                            <a:cs typeface="+mn-cs"/>
                          </a:rPr>
                          <m:t>𝑑</m:t>
                        </m:r>
                      </m:e>
                    </m:d>
                  </m:oMath>
                </a14:m>
                <a:r>
                  <a:rPr lang="en-IL" sz="1200" kern="1200" dirty="0">
                    <a:solidFill>
                      <a:schemeClr val="tx1"/>
                    </a:solidFill>
                    <a:effectLst/>
                    <a:latin typeface="+mn-lt"/>
                    <a:ea typeface="+mn-ea"/>
                    <a:cs typeface="+mn-cs"/>
                  </a:rPr>
                  <a:t>, correct the phase signs using the diagonal of </a:t>
                </a:r>
                <a14:m>
                  <m:oMath xmlns:m="http://schemas.openxmlformats.org/officeDocument/2006/math">
                    <m:r>
                      <a:rPr lang="en-IL" sz="1200" i="1" kern="1200" smtClean="0">
                        <a:solidFill>
                          <a:schemeClr val="tx1"/>
                        </a:solidFill>
                        <a:latin typeface="+mn-lt"/>
                        <a:ea typeface="+mn-ea"/>
                        <a:cs typeface="+mn-cs"/>
                      </a:rPr>
                      <m:t>𝑅</m:t>
                    </m:r>
                  </m:oMath>
                </a14:m>
                <a:r>
                  <a:rPr lang="en-IL" sz="1200" kern="1200" dirty="0">
                    <a:solidFill>
                      <a:schemeClr val="tx1"/>
                    </a:solidFill>
                    <a:effectLst/>
                    <a:latin typeface="+mn-lt"/>
                    <a:ea typeface="+mn-ea"/>
                    <a:cs typeface="+mn-cs"/>
                  </a:rPr>
                  <a:t>:</a:t>
                </a:r>
              </a:p>
              <a:p>
                <a:pPr lvl="1"/>
                <a14:m>
                  <m:oMathPara xmlns:m="http://schemas.openxmlformats.org/officeDocument/2006/math">
                    <m:oMath>
                      <m:r>
                        <a:rPr lang="en-IL" sz="1200" i="1" kern="1200" smtClean="0">
                          <a:solidFill>
                            <a:schemeClr val="tx1"/>
                          </a:solidFill>
                          <a:latin typeface="+mn-lt"/>
                          <a:ea typeface="+mn-ea"/>
                          <a:cs typeface="+mn-cs"/>
                        </a:rPr>
                        <m:t>𝐻</m:t>
                      </m:r>
                      <m:r>
                        <a:rPr lang="en-IL" sz="1200" i="0" kern="1200">
                          <a:solidFill>
                            <a:schemeClr val="tx1"/>
                          </a:solidFill>
                          <a:latin typeface="+mn-lt"/>
                          <a:ea typeface="+mn-ea"/>
                          <a:cs typeface="+mn-cs"/>
                        </a:rPr>
                        <m:t>=</m:t>
                      </m:r>
                      <m:r>
                        <a:rPr lang="en-IL" sz="1200" i="1" kern="1200">
                          <a:solidFill>
                            <a:schemeClr val="tx1"/>
                          </a:solidFill>
                          <a:latin typeface="+mn-lt"/>
                          <a:ea typeface="+mn-ea"/>
                          <a:cs typeface="+mn-cs"/>
                        </a:rPr>
                        <m:t>𝑄</m:t>
                      </m:r>
                      <m:r>
                        <a:rPr lang="en-IL" sz="1200" i="0" kern="1200">
                          <a:solidFill>
                            <a:schemeClr val="tx1"/>
                          </a:solidFill>
                          <a:latin typeface="+mn-lt"/>
                          <a:ea typeface="+mn-ea"/>
                          <a:cs typeface="+mn-cs"/>
                        </a:rPr>
                        <m:t>⋅</m:t>
                      </m:r>
                      <m:func>
                        <m:funcPr>
                          <m:ctrlPr>
                            <a:rPr lang="en-IL" sz="1200" i="0" kern="1200">
                              <a:solidFill>
                                <a:schemeClr val="tx1"/>
                              </a:solidFill>
                              <a:latin typeface="+mn-lt"/>
                              <a:ea typeface="+mn-ea"/>
                              <a:cs typeface="+mn-cs"/>
                            </a:rPr>
                          </m:ctrlPr>
                        </m:funcPr>
                        <m:fName>
                          <m:r>
                            <m:rPr>
                              <m:sty m:val="p"/>
                            </m:rPr>
                            <a:rPr lang="en-IL" sz="1200" i="0" kern="1200">
                              <a:solidFill>
                                <a:schemeClr val="tx1"/>
                              </a:solidFill>
                              <a:latin typeface="+mn-lt"/>
                              <a:ea typeface="+mn-ea"/>
                              <a:cs typeface="+mn-cs"/>
                            </a:rPr>
                            <m:t>diag</m:t>
                          </m:r>
                        </m:fName>
                        <m:e>
                          <m:d>
                            <m:dPr>
                              <m:ctrlPr>
                                <a:rPr lang="en-IL" sz="1200" i="1" kern="1200">
                                  <a:solidFill>
                                    <a:schemeClr val="tx1"/>
                                  </a:solidFill>
                                  <a:latin typeface="+mn-lt"/>
                                  <a:ea typeface="+mn-ea"/>
                                  <a:cs typeface="+mn-cs"/>
                                </a:rPr>
                              </m:ctrlPr>
                            </m:dPr>
                            <m:e>
                              <m:func>
                                <m:funcPr>
                                  <m:ctrlPr>
                                    <a:rPr lang="en-IL" sz="1200" i="0" kern="1200">
                                      <a:solidFill>
                                        <a:schemeClr val="tx1"/>
                                      </a:solidFill>
                                      <a:latin typeface="+mn-lt"/>
                                      <a:ea typeface="+mn-ea"/>
                                      <a:cs typeface="+mn-cs"/>
                                    </a:rPr>
                                  </m:ctrlPr>
                                </m:funcPr>
                                <m:fName>
                                  <m:r>
                                    <m:rPr>
                                      <m:sty m:val="p"/>
                                    </m:rPr>
                                    <a:rPr lang="en-IL" sz="1200" i="0" kern="1200">
                                      <a:solidFill>
                                        <a:schemeClr val="tx1"/>
                                      </a:solidFill>
                                      <a:latin typeface="+mn-lt"/>
                                      <a:ea typeface="+mn-ea"/>
                                      <a:cs typeface="+mn-cs"/>
                                    </a:rPr>
                                    <m:t>sgn</m:t>
                                  </m:r>
                                </m:fName>
                                <m:e>
                                  <m:d>
                                    <m:dPr>
                                      <m:ctrlPr>
                                        <a:rPr lang="en-IL" sz="1200" i="1" kern="1200">
                                          <a:solidFill>
                                            <a:schemeClr val="tx1"/>
                                          </a:solidFill>
                                          <a:latin typeface="+mn-lt"/>
                                          <a:ea typeface="+mn-ea"/>
                                          <a:cs typeface="+mn-cs"/>
                                        </a:rPr>
                                      </m:ctrlPr>
                                    </m:dPr>
                                    <m:e>
                                      <m:func>
                                        <m:funcPr>
                                          <m:ctrlPr>
                                            <a:rPr lang="en-IL" sz="1200" i="0" kern="1200">
                                              <a:solidFill>
                                                <a:schemeClr val="tx1"/>
                                              </a:solidFill>
                                              <a:latin typeface="+mn-lt"/>
                                              <a:ea typeface="+mn-ea"/>
                                              <a:cs typeface="+mn-cs"/>
                                            </a:rPr>
                                          </m:ctrlPr>
                                        </m:funcPr>
                                        <m:fName>
                                          <m:r>
                                            <m:rPr>
                                              <m:sty m:val="p"/>
                                            </m:rPr>
                                            <a:rPr lang="en-IL" sz="1200" i="0" kern="1200">
                                              <a:solidFill>
                                                <a:schemeClr val="tx1"/>
                                              </a:solidFill>
                                              <a:latin typeface="+mn-lt"/>
                                              <a:ea typeface="+mn-ea"/>
                                              <a:cs typeface="+mn-cs"/>
                                            </a:rPr>
                                            <m:t>diag</m:t>
                                          </m:r>
                                        </m:fName>
                                        <m:e>
                                          <m:d>
                                            <m:dPr>
                                              <m:ctrlPr>
                                                <a:rPr lang="en-IL" sz="1200" i="1" kern="1200">
                                                  <a:solidFill>
                                                    <a:schemeClr val="tx1"/>
                                                  </a:solidFill>
                                                  <a:latin typeface="+mn-lt"/>
                                                  <a:ea typeface="+mn-ea"/>
                                                  <a:cs typeface="+mn-cs"/>
                                                </a:rPr>
                                              </m:ctrlPr>
                                            </m:dPr>
                                            <m:e>
                                              <m:r>
                                                <a:rPr lang="en-IL" sz="1200" i="1" kern="1200">
                                                  <a:solidFill>
                                                    <a:schemeClr val="tx1"/>
                                                  </a:solidFill>
                                                  <a:latin typeface="+mn-lt"/>
                                                  <a:ea typeface="+mn-ea"/>
                                                  <a:cs typeface="+mn-cs"/>
                                                </a:rPr>
                                                <m:t>𝑅</m:t>
                                              </m:r>
                                            </m:e>
                                          </m:d>
                                        </m:e>
                                      </m:func>
                                    </m:e>
                                  </m:d>
                                </m:e>
                              </m:func>
                            </m:e>
                          </m:d>
                        </m:e>
                      </m:func>
                    </m:oMath>
                  </m:oMathPara>
                </a14:m>
                <a:endParaRPr lang="en-IL" sz="1200" kern="1200" dirty="0">
                  <a:solidFill>
                    <a:schemeClr val="tx1"/>
                  </a:solidFill>
                  <a:effectLst/>
                  <a:latin typeface="+mn-lt"/>
                  <a:ea typeface="+mn-ea"/>
                  <a:cs typeface="+mn-cs"/>
                </a:endParaRPr>
              </a:p>
              <a:p>
                <a:pPr lvl="1"/>
                <a:r>
                  <a:rPr lang="en-IL" sz="1200" kern="1200" dirty="0">
                    <a:solidFill>
                      <a:schemeClr val="tx1"/>
                    </a:solidFill>
                    <a:effectLst/>
                    <a:latin typeface="+mn-lt"/>
                    <a:ea typeface="+mn-ea"/>
                    <a:cs typeface="+mn-cs"/>
                  </a:rPr>
                  <a:t>Verify that </a:t>
                </a:r>
                <a14:m>
                  <m:oMath xmlns:m="http://schemas.openxmlformats.org/officeDocument/2006/math">
                    <m:r>
                      <a:rPr lang="en-IL" sz="1200" i="1" kern="1200" smtClean="0">
                        <a:solidFill>
                          <a:schemeClr val="tx1"/>
                        </a:solidFill>
                        <a:latin typeface="+mn-lt"/>
                        <a:ea typeface="+mn-ea"/>
                        <a:cs typeface="+mn-cs"/>
                      </a:rPr>
                      <m:t>𝐻</m:t>
                    </m:r>
                    <m:r>
                      <a:rPr lang="en-IL" sz="1200" i="0" kern="1200">
                        <a:solidFill>
                          <a:schemeClr val="tx1"/>
                        </a:solidFill>
                        <a:latin typeface="+mn-lt"/>
                        <a:ea typeface="+mn-ea"/>
                        <a:cs typeface="+mn-cs"/>
                      </a:rPr>
                      <m:t>⋅</m:t>
                    </m:r>
                    <m:sSup>
                      <m:sSupPr>
                        <m:ctrlPr>
                          <a:rPr lang="en-IL" sz="1200" i="1" kern="1200">
                            <a:solidFill>
                              <a:schemeClr val="tx1"/>
                            </a:solidFill>
                            <a:latin typeface="+mn-lt"/>
                            <a:ea typeface="+mn-ea"/>
                            <a:cs typeface="+mn-cs"/>
                          </a:rPr>
                        </m:ctrlPr>
                      </m:sSupPr>
                      <m:e>
                        <m:r>
                          <a:rPr lang="en-IL" sz="1200" i="1" kern="1200">
                            <a:solidFill>
                              <a:schemeClr val="tx1"/>
                            </a:solidFill>
                            <a:latin typeface="+mn-lt"/>
                            <a:ea typeface="+mn-ea"/>
                            <a:cs typeface="+mn-cs"/>
                          </a:rPr>
                          <m:t>𝐻</m:t>
                        </m:r>
                      </m:e>
                      <m:sup>
                        <m:r>
                          <a:rPr lang="en-IL" sz="1200" i="1" kern="1200">
                            <a:solidFill>
                              <a:schemeClr val="tx1"/>
                            </a:solidFill>
                            <a:latin typeface="+mn-lt"/>
                            <a:ea typeface="+mn-ea"/>
                            <a:cs typeface="+mn-cs"/>
                          </a:rPr>
                          <m:t>𝑇</m:t>
                        </m:r>
                      </m:sup>
                    </m:sSup>
                    <m:r>
                      <a:rPr lang="en-IL" sz="1200" i="0" kern="1200">
                        <a:solidFill>
                          <a:schemeClr val="tx1"/>
                        </a:solidFill>
                        <a:latin typeface="+mn-lt"/>
                        <a:ea typeface="+mn-ea"/>
                        <a:cs typeface="+mn-cs"/>
                      </a:rPr>
                      <m:t>=</m:t>
                    </m:r>
                    <m:sSub>
                      <m:sSubPr>
                        <m:ctrlPr>
                          <a:rPr lang="en-IL" sz="1200" i="1" kern="1200">
                            <a:solidFill>
                              <a:schemeClr val="tx1"/>
                            </a:solidFill>
                            <a:latin typeface="+mn-lt"/>
                            <a:ea typeface="+mn-ea"/>
                            <a:cs typeface="+mn-cs"/>
                          </a:rPr>
                        </m:ctrlPr>
                      </m:sSubPr>
                      <m:e>
                        <m:r>
                          <a:rPr lang="en-IL" sz="1200" i="1" kern="1200">
                            <a:solidFill>
                              <a:schemeClr val="tx1"/>
                            </a:solidFill>
                            <a:latin typeface="+mn-lt"/>
                            <a:ea typeface="+mn-ea"/>
                            <a:cs typeface="+mn-cs"/>
                          </a:rPr>
                          <m:t>𝐼</m:t>
                        </m:r>
                      </m:e>
                      <m:sub>
                        <m:r>
                          <a:rPr lang="en-IL" sz="1200" i="1" kern="1200">
                            <a:solidFill>
                              <a:schemeClr val="tx1"/>
                            </a:solidFill>
                            <a:latin typeface="+mn-lt"/>
                            <a:ea typeface="+mn-ea"/>
                            <a:cs typeface="+mn-cs"/>
                          </a:rPr>
                          <m:t>𝑑</m:t>
                        </m:r>
                      </m:sub>
                    </m:sSub>
                  </m:oMath>
                </a14:m>
                <a:r>
                  <a:rPr lang="en-IL" sz="1200" kern="1200" dirty="0">
                    <a:solidFill>
                      <a:schemeClr val="tx1"/>
                    </a:solidFill>
                    <a:effectLst/>
                    <a:latin typeface="+mn-lt"/>
                    <a:ea typeface="+mn-ea"/>
                    <a:cs typeface="+mn-cs"/>
                  </a:rPr>
                  <a:t>. </a:t>
                </a:r>
              </a:p>
              <a:p>
                <a:pPr lvl="0"/>
                <a:r>
                  <a:rPr lang="en-IL" sz="1200" b="1" kern="1200" dirty="0">
                    <a:solidFill>
                      <a:schemeClr val="tx1"/>
                    </a:solidFill>
                    <a:effectLst/>
                    <a:latin typeface="+mn-lt"/>
                    <a:ea typeface="+mn-ea"/>
                    <a:cs typeface="+mn-cs"/>
                  </a:rPr>
                  <a:t>Generating the QJL Matrix </a:t>
                </a:r>
                <a14:m>
                  <m:oMath xmlns:m="http://schemas.openxmlformats.org/officeDocument/2006/math">
                    <m:r>
                      <a:rPr lang="en-IL" sz="1200" i="1" kern="1200" smtClean="0">
                        <a:solidFill>
                          <a:schemeClr val="tx1"/>
                        </a:solidFill>
                        <a:latin typeface="+mn-lt"/>
                        <a:ea typeface="+mn-ea"/>
                        <a:cs typeface="+mn-cs"/>
                      </a:rPr>
                      <m:t>𝑀</m:t>
                    </m:r>
                  </m:oMath>
                </a14:m>
                <a:r>
                  <a:rPr lang="en-IL" sz="1200" b="1" kern="1200" dirty="0">
                    <a:solidFill>
                      <a:schemeClr val="tx1"/>
                    </a:solidFill>
                    <a:effectLst/>
                    <a:latin typeface="+mn-lt"/>
                    <a:ea typeface="+mn-ea"/>
                    <a:cs typeface="+mn-cs"/>
                  </a:rPr>
                  <a:t>:</a:t>
                </a:r>
                <a:r>
                  <a:rPr lang="en-IL" sz="1200" kern="1200" dirty="0">
                    <a:solidFill>
                      <a:schemeClr val="tx1"/>
                    </a:solidFill>
                    <a:effectLst/>
                    <a:latin typeface="+mn-lt"/>
                    <a:ea typeface="+mn-ea"/>
                    <a:cs typeface="+mn-cs"/>
                  </a:rPr>
                  <a:t> </a:t>
                </a:r>
              </a:p>
              <a:p>
                <a:pPr lvl="1"/>
                <a:r>
                  <a:rPr lang="en-IL" sz="1200" kern="1200" dirty="0">
                    <a:solidFill>
                      <a:schemeClr val="tx1"/>
                    </a:solidFill>
                    <a:effectLst/>
                    <a:latin typeface="+mn-lt"/>
                    <a:ea typeface="+mn-ea"/>
                    <a:cs typeface="+mn-cs"/>
                  </a:rPr>
                  <a:t>Sample </a:t>
                </a:r>
                <a14:m>
                  <m:oMath xmlns:m="http://schemas.openxmlformats.org/officeDocument/2006/math">
                    <m:r>
                      <a:rPr lang="en-IL" sz="1200" i="1" kern="1200" smtClean="0">
                        <a:solidFill>
                          <a:schemeClr val="tx1"/>
                        </a:solidFill>
                        <a:latin typeface="+mn-lt"/>
                        <a:ea typeface="+mn-ea"/>
                        <a:cs typeface="+mn-cs"/>
                      </a:rPr>
                      <m:t>𝑀</m:t>
                    </m:r>
                    <m:r>
                      <a:rPr lang="en-IL" sz="1200" i="0" kern="1200">
                        <a:solidFill>
                          <a:schemeClr val="tx1"/>
                        </a:solidFill>
                        <a:latin typeface="+mn-lt"/>
                        <a:ea typeface="+mn-ea"/>
                        <a:cs typeface="+mn-cs"/>
                      </a:rPr>
                      <m:t>∈</m:t>
                    </m:r>
                    <m:sSup>
                      <m:sSupPr>
                        <m:ctrlPr>
                          <a:rPr lang="en-IL" sz="1200" i="0" kern="1200">
                            <a:solidFill>
                              <a:schemeClr val="tx1"/>
                            </a:solidFill>
                            <a:latin typeface="+mn-lt"/>
                            <a:ea typeface="+mn-ea"/>
                            <a:cs typeface="+mn-cs"/>
                          </a:rPr>
                        </m:ctrlPr>
                      </m:sSupPr>
                      <m:e>
                        <m:r>
                          <a:rPr lang="en-IL" sz="1200" i="0" kern="1200">
                            <a:solidFill>
                              <a:schemeClr val="tx1"/>
                            </a:solidFill>
                            <a:latin typeface="+mn-lt"/>
                            <a:ea typeface="+mn-ea"/>
                            <a:cs typeface="+mn-cs"/>
                          </a:rPr>
                          <m:t>ℝ</m:t>
                        </m:r>
                      </m:e>
                      <m:sup>
                        <m:r>
                          <a:rPr lang="en-IL" sz="1200" i="1" kern="1200">
                            <a:solidFill>
                              <a:schemeClr val="tx1"/>
                            </a:solidFill>
                            <a:latin typeface="+mn-lt"/>
                            <a:ea typeface="+mn-ea"/>
                            <a:cs typeface="+mn-cs"/>
                          </a:rPr>
                          <m:t>𝑑</m:t>
                        </m:r>
                        <m:r>
                          <a:rPr lang="en-IL" sz="1200" i="0" kern="1200">
                            <a:solidFill>
                              <a:schemeClr val="tx1"/>
                            </a:solidFill>
                            <a:latin typeface="+mn-lt"/>
                            <a:ea typeface="+mn-ea"/>
                            <a:cs typeface="+mn-cs"/>
                          </a:rPr>
                          <m:t>×</m:t>
                        </m:r>
                        <m:r>
                          <a:rPr lang="en-IL" sz="1200" i="1" kern="1200">
                            <a:solidFill>
                              <a:schemeClr val="tx1"/>
                            </a:solidFill>
                            <a:latin typeface="+mn-lt"/>
                            <a:ea typeface="+mn-ea"/>
                            <a:cs typeface="+mn-cs"/>
                          </a:rPr>
                          <m:t>𝑑</m:t>
                        </m:r>
                      </m:sup>
                    </m:sSup>
                  </m:oMath>
                </a14:m>
                <a:r>
                  <a:rPr lang="en-IL" sz="1200" kern="1200" dirty="0">
                    <a:solidFill>
                      <a:schemeClr val="tx1"/>
                    </a:solidFill>
                    <a:effectLst/>
                    <a:latin typeface="+mn-lt"/>
                    <a:ea typeface="+mn-ea"/>
                    <a:cs typeface="+mn-cs"/>
                  </a:rPr>
                  <a:t>with </a:t>
                </a:r>
                <a:r>
                  <a:rPr lang="en-IL" sz="1200" kern="1200" dirty="0" err="1">
                    <a:solidFill>
                      <a:schemeClr val="tx1"/>
                    </a:solidFill>
                    <a:effectLst/>
                    <a:latin typeface="+mn-lt"/>
                    <a:ea typeface="+mn-ea"/>
                    <a:cs typeface="+mn-cs"/>
                  </a:rPr>
                  <a:t>i.i.d.</a:t>
                </a:r>
                <a:r>
                  <a:rPr lang="en-IL" sz="1200" kern="1200" dirty="0">
                    <a:solidFill>
                      <a:schemeClr val="tx1"/>
                    </a:solidFill>
                    <a:effectLst/>
                    <a:latin typeface="+mn-lt"/>
                    <a:ea typeface="+mn-ea"/>
                    <a:cs typeface="+mn-cs"/>
                  </a:rPr>
                  <a:t> entries </a:t>
                </a:r>
                <a14:m>
                  <m:oMath xmlns:m="http://schemas.openxmlformats.org/officeDocument/2006/math">
                    <m:sSub>
                      <m:sSubPr>
                        <m:ctrlPr>
                          <a:rPr lang="en-IL" sz="1200" i="1" kern="1200">
                            <a:solidFill>
                              <a:schemeClr val="tx1"/>
                            </a:solidFill>
                            <a:latin typeface="+mn-lt"/>
                            <a:ea typeface="+mn-ea"/>
                            <a:cs typeface="+mn-cs"/>
                          </a:rPr>
                        </m:ctrlPr>
                      </m:sSubPr>
                      <m:e>
                        <m:r>
                          <a:rPr lang="en-IL" sz="1200" i="1" kern="1200">
                            <a:solidFill>
                              <a:schemeClr val="tx1"/>
                            </a:solidFill>
                            <a:latin typeface="+mn-lt"/>
                            <a:ea typeface="+mn-ea"/>
                            <a:cs typeface="+mn-cs"/>
                          </a:rPr>
                          <m:t>𝑀</m:t>
                        </m:r>
                      </m:e>
                      <m:sub>
                        <m:r>
                          <a:rPr lang="en-IL" sz="1200" i="1" kern="1200">
                            <a:solidFill>
                              <a:schemeClr val="tx1"/>
                            </a:solidFill>
                            <a:latin typeface="+mn-lt"/>
                            <a:ea typeface="+mn-ea"/>
                            <a:cs typeface="+mn-cs"/>
                          </a:rPr>
                          <m:t>𝑖</m:t>
                        </m:r>
                        <m:r>
                          <a:rPr lang="en-IL" sz="1200" i="0" kern="1200">
                            <a:solidFill>
                              <a:schemeClr val="tx1"/>
                            </a:solidFill>
                            <a:latin typeface="+mn-lt"/>
                            <a:ea typeface="+mn-ea"/>
                            <a:cs typeface="+mn-cs"/>
                          </a:rPr>
                          <m:t>,</m:t>
                        </m:r>
                        <m:r>
                          <a:rPr lang="en-IL" sz="1200" i="1" kern="1200">
                            <a:solidFill>
                              <a:schemeClr val="tx1"/>
                            </a:solidFill>
                            <a:latin typeface="+mn-lt"/>
                            <a:ea typeface="+mn-ea"/>
                            <a:cs typeface="+mn-cs"/>
                          </a:rPr>
                          <m:t>𝑗</m:t>
                        </m:r>
                      </m:sub>
                    </m:sSub>
                    <m:r>
                      <a:rPr lang="en-IL" sz="1200" i="0" kern="1200">
                        <a:solidFill>
                          <a:schemeClr val="tx1"/>
                        </a:solidFill>
                        <a:latin typeface="+mn-lt"/>
                        <a:ea typeface="+mn-ea"/>
                        <a:cs typeface="+mn-cs"/>
                      </a:rPr>
                      <m:t>∼</m:t>
                    </m:r>
                    <m:r>
                      <a:rPr lang="en-IL" sz="1200" i="0" kern="1200">
                        <a:solidFill>
                          <a:schemeClr val="tx1"/>
                        </a:solidFill>
                        <a:latin typeface="+mn-lt"/>
                        <a:ea typeface="+mn-ea"/>
                        <a:cs typeface="+mn-cs"/>
                      </a:rPr>
                      <m:t>𝒩</m:t>
                    </m:r>
                    <m:d>
                      <m:dPr>
                        <m:ctrlPr>
                          <a:rPr lang="en-IL" sz="1200" i="0" kern="1200">
                            <a:solidFill>
                              <a:schemeClr val="tx1"/>
                            </a:solidFill>
                            <a:latin typeface="+mn-lt"/>
                            <a:ea typeface="+mn-ea"/>
                            <a:cs typeface="+mn-cs"/>
                          </a:rPr>
                        </m:ctrlPr>
                      </m:dPr>
                      <m:e>
                        <m:r>
                          <a:rPr lang="en-IL" sz="1200" i="0" kern="1200">
                            <a:solidFill>
                              <a:schemeClr val="tx1"/>
                            </a:solidFill>
                            <a:latin typeface="+mn-lt"/>
                            <a:ea typeface="+mn-ea"/>
                            <a:cs typeface="+mn-cs"/>
                          </a:rPr>
                          <m:t>0,1</m:t>
                        </m:r>
                      </m:e>
                    </m:d>
                  </m:oMath>
                </a14:m>
                <a:r>
                  <a:rPr lang="en-IL" sz="1200" kern="1200" dirty="0">
                    <a:solidFill>
                      <a:schemeClr val="tx1"/>
                    </a:solidFill>
                    <a:effectLst/>
                    <a:latin typeface="+mn-lt"/>
                    <a:ea typeface="+mn-ea"/>
                    <a:cs typeface="+mn-cs"/>
                  </a:rPr>
                  <a:t>using the fixed seed[cite: 5]. </a:t>
                </a:r>
              </a:p>
              <a:p>
                <a:pPr lvl="0"/>
                <a:r>
                  <a:rPr lang="en-IL" sz="1200" b="1" kern="1200" dirty="0">
                    <a:solidFill>
                      <a:schemeClr val="tx1"/>
                    </a:solidFill>
                    <a:effectLst/>
                    <a:latin typeface="+mn-lt"/>
                    <a:ea typeface="+mn-ea"/>
                    <a:cs typeface="+mn-cs"/>
                  </a:rPr>
                  <a:t>Fixed-Point Quantization (Q15):</a:t>
                </a:r>
                <a:endParaRPr lang="en-IL" sz="1200" kern="1200" dirty="0">
                  <a:solidFill>
                    <a:schemeClr val="tx1"/>
                  </a:solidFill>
                  <a:effectLst/>
                  <a:latin typeface="+mn-lt"/>
                  <a:ea typeface="+mn-ea"/>
                  <a:cs typeface="+mn-cs"/>
                </a:endParaRPr>
              </a:p>
              <a:p>
                <a:pPr lvl="1"/>
                <a:r>
                  <a:rPr lang="en-IL" sz="1200" kern="1200" dirty="0">
                    <a:solidFill>
                      <a:schemeClr val="tx1"/>
                    </a:solidFill>
                    <a:effectLst/>
                    <a:latin typeface="+mn-lt"/>
                    <a:ea typeface="+mn-ea"/>
                    <a:cs typeface="+mn-cs"/>
                  </a:rPr>
                  <a:t>Map floating-point values to signed 16-bit integers:</a:t>
                </a:r>
              </a:p>
              <a:p>
                <a:pPr lvl="1"/>
                <a14:m>
                  <m:oMathPara xmlns:m="http://schemas.openxmlformats.org/officeDocument/2006/math">
                    <m:oMath>
                      <m:r>
                        <m:rPr>
                          <m:nor/>
                        </m:rPr>
                        <a:rPr lang="en-IL" sz="1200" i="0" kern="1200" smtClean="0">
                          <a:solidFill>
                            <a:schemeClr val="tx1"/>
                          </a:solidFill>
                          <a:latin typeface="+mn-lt"/>
                          <a:ea typeface="+mn-ea"/>
                          <a:cs typeface="+mn-cs"/>
                        </a:rPr>
                        <m:t>fixed_val</m:t>
                      </m:r>
                      <m:r>
                        <a:rPr lang="en-IL" sz="1200" i="0" kern="1200">
                          <a:solidFill>
                            <a:schemeClr val="tx1"/>
                          </a:solidFill>
                          <a:latin typeface="+mn-lt"/>
                          <a:ea typeface="+mn-ea"/>
                          <a:cs typeface="+mn-cs"/>
                        </a:rPr>
                        <m:t>=</m:t>
                      </m:r>
                      <m:func>
                        <m:funcPr>
                          <m:ctrlPr>
                            <a:rPr lang="en-IL" sz="1200" i="0" kern="1200">
                              <a:solidFill>
                                <a:schemeClr val="tx1"/>
                              </a:solidFill>
                              <a:latin typeface="+mn-lt"/>
                              <a:ea typeface="+mn-ea"/>
                              <a:cs typeface="+mn-cs"/>
                            </a:rPr>
                          </m:ctrlPr>
                        </m:funcPr>
                        <m:fName>
                          <m:r>
                            <m:rPr>
                              <m:sty m:val="p"/>
                            </m:rPr>
                            <a:rPr lang="en-IL" sz="1200" i="0" kern="1200">
                              <a:solidFill>
                                <a:schemeClr val="tx1"/>
                              </a:solidFill>
                              <a:latin typeface="+mn-lt"/>
                              <a:ea typeface="+mn-ea"/>
                              <a:cs typeface="+mn-cs"/>
                            </a:rPr>
                            <m:t>clamp</m:t>
                          </m:r>
                        </m:fName>
                        <m:e>
                          <m:d>
                            <m:dPr>
                              <m:ctrlPr>
                                <a:rPr lang="en-IL" sz="1200" i="1" kern="1200">
                                  <a:solidFill>
                                    <a:schemeClr val="tx1"/>
                                  </a:solidFill>
                                  <a:latin typeface="+mn-lt"/>
                                  <a:ea typeface="+mn-ea"/>
                                  <a:cs typeface="+mn-cs"/>
                                </a:rPr>
                              </m:ctrlPr>
                            </m:dPr>
                            <m:e>
                              <m:func>
                                <m:funcPr>
                                  <m:ctrlPr>
                                    <a:rPr lang="en-IL" sz="1200" i="0" kern="1200">
                                      <a:solidFill>
                                        <a:schemeClr val="tx1"/>
                                      </a:solidFill>
                                      <a:latin typeface="+mn-lt"/>
                                      <a:ea typeface="+mn-ea"/>
                                      <a:cs typeface="+mn-cs"/>
                                    </a:rPr>
                                  </m:ctrlPr>
                                </m:funcPr>
                                <m:fName>
                                  <m:r>
                                    <m:rPr>
                                      <m:sty m:val="p"/>
                                    </m:rPr>
                                    <a:rPr lang="en-IL" sz="1200" i="0" kern="1200">
                                      <a:solidFill>
                                        <a:schemeClr val="tx1"/>
                                      </a:solidFill>
                                      <a:latin typeface="+mn-lt"/>
                                      <a:ea typeface="+mn-ea"/>
                                      <a:cs typeface="+mn-cs"/>
                                    </a:rPr>
                                    <m:t>round</m:t>
                                  </m:r>
                                </m:fName>
                                <m:e>
                                  <m:d>
                                    <m:dPr>
                                      <m:ctrlPr>
                                        <a:rPr lang="en-IL" sz="1200" i="0" kern="1200">
                                          <a:solidFill>
                                            <a:schemeClr val="tx1"/>
                                          </a:solidFill>
                                          <a:latin typeface="+mn-lt"/>
                                          <a:ea typeface="+mn-ea"/>
                                          <a:cs typeface="+mn-cs"/>
                                        </a:rPr>
                                      </m:ctrlPr>
                                    </m:dPr>
                                    <m:e>
                                      <m:r>
                                        <m:rPr>
                                          <m:nor/>
                                        </m:rPr>
                                        <a:rPr lang="en-IL" sz="1200" i="0" kern="1200">
                                          <a:solidFill>
                                            <a:schemeClr val="tx1"/>
                                          </a:solidFill>
                                          <a:latin typeface="+mn-lt"/>
                                          <a:ea typeface="+mn-ea"/>
                                          <a:cs typeface="+mn-cs"/>
                                        </a:rPr>
                                        <m:t>float_val</m:t>
                                      </m:r>
                                      <m:r>
                                        <a:rPr lang="en-IL" sz="1200" i="0" kern="1200">
                                          <a:solidFill>
                                            <a:schemeClr val="tx1"/>
                                          </a:solidFill>
                                          <a:latin typeface="+mn-lt"/>
                                          <a:ea typeface="+mn-ea"/>
                                          <a:cs typeface="+mn-cs"/>
                                        </a:rPr>
                                        <m:t>×32767</m:t>
                                      </m:r>
                                    </m:e>
                                  </m:d>
                                </m:e>
                              </m:func>
                              <m:r>
                                <a:rPr lang="en-IL" sz="1200" i="0" kern="1200">
                                  <a:solidFill>
                                    <a:schemeClr val="tx1"/>
                                  </a:solidFill>
                                  <a:latin typeface="+mn-lt"/>
                                  <a:ea typeface="+mn-ea"/>
                                  <a:cs typeface="+mn-cs"/>
                                </a:rPr>
                                <m:t>,−32768,32767</m:t>
                              </m:r>
                            </m:e>
                          </m:d>
                        </m:e>
                      </m:func>
                    </m:oMath>
                  </m:oMathPara>
                </a14:m>
                <a:endParaRPr lang="en-IL" sz="1200" kern="1200" dirty="0">
                  <a:solidFill>
                    <a:schemeClr val="tx1"/>
                  </a:solidFill>
                  <a:effectLst/>
                  <a:latin typeface="+mn-lt"/>
                  <a:ea typeface="+mn-ea"/>
                  <a:cs typeface="+mn-cs"/>
                </a:endParaRPr>
              </a:p>
              <a:p>
                <a:endParaRPr lang="en-IL" dirty="0"/>
              </a:p>
            </p:txBody>
          </p:sp>
        </mc:Choice>
        <mc:Fallback>
          <p:sp>
            <p:nvSpPr>
              <p:cNvPr id="3" name="Notes Placeholder 2"/>
              <p:cNvSpPr>
                <a:spLocks noGrp="1"/>
              </p:cNvSpPr>
              <p:nvPr>
                <p:ph type="body" idx="1"/>
              </p:nvPr>
            </p:nvSpPr>
            <p:spPr/>
            <p:txBody>
              <a:bodyPr/>
              <a:lstStyle/>
              <a:p>
                <a:r>
                  <a:rPr lang="en-IL" sz="1200" kern="1200" dirty="0">
                    <a:solidFill>
                      <a:schemeClr val="tx1"/>
                    </a:solidFill>
                    <a:effectLst/>
                    <a:latin typeface="+mn-lt"/>
                    <a:ea typeface="+mn-ea"/>
                    <a:cs typeface="+mn-cs"/>
                  </a:rPr>
                  <a:t>The </a:t>
                </a:r>
                <a:r>
                  <a:rPr lang="en-IL" sz="1200" i="0" kern="1200">
                    <a:solidFill>
                      <a:schemeClr val="tx1"/>
                    </a:solidFill>
                    <a:latin typeface="+mn-lt"/>
                    <a:ea typeface="+mn-ea"/>
                    <a:cs typeface="+mn-cs"/>
                  </a:rPr>
                  <a:t>𝐻</a:t>
                </a:r>
                <a:r>
                  <a:rPr lang="en-IL" sz="1200" b="1" kern="1200" dirty="0">
                    <a:solidFill>
                      <a:schemeClr val="tx1"/>
                    </a:solidFill>
                    <a:effectLst/>
                    <a:latin typeface="+mn-lt"/>
                    <a:ea typeface="+mn-ea"/>
                    <a:cs typeface="+mn-cs"/>
                  </a:rPr>
                  <a:t>(Haar / orthogonal rotation)</a:t>
                </a:r>
                <a:r>
                  <a:rPr lang="en-IL" sz="1200" kern="1200" dirty="0">
                    <a:solidFill>
                      <a:schemeClr val="tx1"/>
                    </a:solidFill>
                    <a:effectLst/>
                    <a:latin typeface="+mn-lt"/>
                    <a:ea typeface="+mn-ea"/>
                    <a:cs typeface="+mn-cs"/>
                  </a:rPr>
                  <a:t> and </a:t>
                </a:r>
                <a:r>
                  <a:rPr lang="en-IL" sz="1200" i="0" kern="1200">
                    <a:solidFill>
                      <a:schemeClr val="tx1"/>
                    </a:solidFill>
                    <a:latin typeface="+mn-lt"/>
                    <a:ea typeface="+mn-ea"/>
                    <a:cs typeface="+mn-cs"/>
                  </a:rPr>
                  <a:t>𝑀</a:t>
                </a:r>
                <a:r>
                  <a:rPr lang="en-IL" sz="1200" b="1" kern="1200" dirty="0">
                    <a:solidFill>
                      <a:schemeClr val="tx1"/>
                    </a:solidFill>
                    <a:effectLst/>
                    <a:latin typeface="+mn-lt"/>
                    <a:ea typeface="+mn-ea"/>
                    <a:cs typeface="+mn-cs"/>
                  </a:rPr>
                  <a:t>(Gaussian QJL projection)</a:t>
                </a:r>
                <a:r>
                  <a:rPr lang="en-IL" sz="1200" kern="1200" dirty="0">
                    <a:solidFill>
                      <a:schemeClr val="tx1"/>
                    </a:solidFill>
                    <a:effectLst/>
                    <a:latin typeface="+mn-lt"/>
                    <a:ea typeface="+mn-ea"/>
                    <a:cs typeface="+mn-cs"/>
                  </a:rPr>
                  <a:t> matrices can be fully precomputed offline because the </a:t>
                </a:r>
                <a:r>
                  <a:rPr lang="en-IL" sz="1200" kern="1200" dirty="0" err="1">
                    <a:solidFill>
                      <a:schemeClr val="tx1"/>
                    </a:solidFill>
                    <a:effectLst/>
                    <a:latin typeface="+mn-lt"/>
                    <a:ea typeface="+mn-ea"/>
                    <a:cs typeface="+mn-cs"/>
                  </a:rPr>
                  <a:t>TurboQuant</a:t>
                </a:r>
                <a:r>
                  <a:rPr lang="en-IL" sz="1200" kern="1200" dirty="0">
                    <a:solidFill>
                      <a:schemeClr val="tx1"/>
                    </a:solidFill>
                    <a:effectLst/>
                    <a:latin typeface="+mn-lt"/>
                    <a:ea typeface="+mn-ea"/>
                    <a:cs typeface="+mn-cs"/>
                  </a:rPr>
                  <a:t> algorithm is mathematically </a:t>
                </a:r>
                <a:r>
                  <a:rPr lang="en-IL" sz="1200" b="1" kern="1200" dirty="0">
                    <a:solidFill>
                      <a:schemeClr val="tx1"/>
                    </a:solidFill>
                    <a:effectLst/>
                    <a:latin typeface="+mn-lt"/>
                    <a:ea typeface="+mn-ea"/>
                    <a:cs typeface="+mn-cs"/>
                  </a:rPr>
                  <a:t>data-oblivious</a:t>
                </a:r>
                <a:r>
                  <a:rPr lang="en-IL" sz="1200" kern="1200" dirty="0">
                    <a:solidFill>
                      <a:schemeClr val="tx1"/>
                    </a:solidFill>
                    <a:effectLst/>
                    <a:latin typeface="+mn-lt"/>
                    <a:ea typeface="+mn-ea"/>
                    <a:cs typeface="+mn-cs"/>
                  </a:rPr>
                  <a:t>[cite: 4, 5]. They do not rely on training data, model weights, or input tokens[cite: 5]. </a:t>
                </a:r>
              </a:p>
              <a:p>
                <a:r>
                  <a:rPr lang="en-IL" sz="1200" b="1" kern="1200" dirty="0">
                    <a:solidFill>
                      <a:schemeClr val="tx1"/>
                    </a:solidFill>
                    <a:effectLst/>
                    <a:latin typeface="+mn-lt"/>
                    <a:ea typeface="+mn-ea"/>
                    <a:cs typeface="+mn-cs"/>
                  </a:rPr>
                  <a:t>1. Why We Can Create </a:t>
                </a:r>
                <a:r>
                  <a:rPr lang="en-IL" sz="1200" i="0" kern="1200">
                    <a:solidFill>
                      <a:schemeClr val="tx1"/>
                    </a:solidFill>
                    <a:latin typeface="+mn-lt"/>
                    <a:ea typeface="+mn-ea"/>
                    <a:cs typeface="+mn-cs"/>
                  </a:rPr>
                  <a:t>𝐻</a:t>
                </a:r>
                <a:r>
                  <a:rPr lang="en-IL" sz="1200" b="1" kern="1200" dirty="0">
                    <a:solidFill>
                      <a:schemeClr val="tx1"/>
                    </a:solidFill>
                    <a:effectLst/>
                    <a:latin typeface="+mn-lt"/>
                    <a:ea typeface="+mn-ea"/>
                    <a:cs typeface="+mn-cs"/>
                  </a:rPr>
                  <a:t>and </a:t>
                </a:r>
                <a:r>
                  <a:rPr lang="en-IL" sz="1200" i="0" kern="1200">
                    <a:solidFill>
                      <a:schemeClr val="tx1"/>
                    </a:solidFill>
                    <a:latin typeface="+mn-lt"/>
                    <a:ea typeface="+mn-ea"/>
                    <a:cs typeface="+mn-cs"/>
                  </a:rPr>
                  <a:t>𝑀</a:t>
                </a:r>
                <a:r>
                  <a:rPr lang="en-IL" sz="1200" b="1" kern="1200" dirty="0">
                    <a:solidFill>
                      <a:schemeClr val="tx1"/>
                    </a:solidFill>
                    <a:effectLst/>
                    <a:latin typeface="+mn-lt"/>
                    <a:ea typeface="+mn-ea"/>
                    <a:cs typeface="+mn-cs"/>
                  </a:rPr>
                  <a:t>Offline</a:t>
                </a:r>
              </a:p>
              <a:p>
                <a:pPr lvl="0"/>
                <a:r>
                  <a:rPr lang="en-IL" sz="1200" b="1" kern="1200" dirty="0">
                    <a:solidFill>
                      <a:schemeClr val="tx1"/>
                    </a:solidFill>
                    <a:effectLst/>
                    <a:latin typeface="+mn-lt"/>
                    <a:ea typeface="+mn-ea"/>
                    <a:cs typeface="+mn-cs"/>
                  </a:rPr>
                  <a:t>Data-Oblivious Property:</a:t>
                </a:r>
                <a:r>
                  <a:rPr lang="en-IL" sz="1200" kern="1200" dirty="0">
                    <a:solidFill>
                      <a:schemeClr val="tx1"/>
                    </a:solidFill>
                    <a:effectLst/>
                    <a:latin typeface="+mn-lt"/>
                    <a:ea typeface="+mn-ea"/>
                    <a:cs typeface="+mn-cs"/>
                  </a:rPr>
                  <a:t> Unlike traditional vector quantization methods (such as k-means or learned Product Quantization) that must learn codebooks from calibration data, </a:t>
                </a:r>
                <a:r>
                  <a:rPr lang="en-IL" sz="1200" kern="1200" dirty="0" err="1">
                    <a:solidFill>
                      <a:schemeClr val="tx1"/>
                    </a:solidFill>
                    <a:effectLst/>
                    <a:latin typeface="+mn-lt"/>
                    <a:ea typeface="+mn-ea"/>
                    <a:cs typeface="+mn-cs"/>
                  </a:rPr>
                  <a:t>TurboQuant’s</a:t>
                </a:r>
                <a:r>
                  <a:rPr lang="en-IL" sz="1200" kern="1200" dirty="0">
                    <a:solidFill>
                      <a:schemeClr val="tx1"/>
                    </a:solidFill>
                    <a:effectLst/>
                    <a:latin typeface="+mn-lt"/>
                    <a:ea typeface="+mn-ea"/>
                    <a:cs typeface="+mn-cs"/>
                  </a:rPr>
                  <a:t> theoretical guarantees hold for </a:t>
                </a:r>
                <a:r>
                  <a:rPr lang="en-IL" sz="1200" b="1" kern="1200" dirty="0">
                    <a:solidFill>
                      <a:schemeClr val="tx1"/>
                    </a:solidFill>
                    <a:effectLst/>
                    <a:latin typeface="+mn-lt"/>
                    <a:ea typeface="+mn-ea"/>
                    <a:cs typeface="+mn-cs"/>
                  </a:rPr>
                  <a:t>any</a:t>
                </a:r>
                <a:r>
                  <a:rPr lang="en-IL" sz="1200" kern="1200" dirty="0">
                    <a:solidFill>
                      <a:schemeClr val="tx1"/>
                    </a:solidFill>
                    <a:effectLst/>
                    <a:latin typeface="+mn-lt"/>
                    <a:ea typeface="+mn-ea"/>
                    <a:cs typeface="+mn-cs"/>
                  </a:rPr>
                  <a:t> arbitrary vector in Euclidean space.</a:t>
                </a:r>
              </a:p>
              <a:p>
                <a:pPr lvl="0"/>
                <a:r>
                  <a:rPr lang="en-IL" sz="1200" b="1" kern="1200" dirty="0">
                    <a:solidFill>
                      <a:schemeClr val="tx1"/>
                    </a:solidFill>
                    <a:effectLst/>
                    <a:latin typeface="+mn-lt"/>
                    <a:ea typeface="+mn-ea"/>
                    <a:cs typeface="+mn-cs"/>
                  </a:rPr>
                  <a:t>Isometry and Rotational Invariance (</a:t>
                </a:r>
                <a:r>
                  <a:rPr lang="en-IL" sz="1200" i="0" kern="1200">
                    <a:solidFill>
                      <a:schemeClr val="tx1"/>
                    </a:solidFill>
                    <a:latin typeface="+mn-lt"/>
                    <a:ea typeface="+mn-ea"/>
                    <a:cs typeface="+mn-cs"/>
                  </a:rPr>
                  <a:t>𝐻</a:t>
                </a:r>
                <a:r>
                  <a:rPr lang="en-IL" sz="1200" b="1" kern="1200" dirty="0">
                    <a:solidFill>
                      <a:schemeClr val="tx1"/>
                    </a:solidFill>
                    <a:effectLst/>
                    <a:latin typeface="+mn-lt"/>
                    <a:ea typeface="+mn-ea"/>
                    <a:cs typeface="+mn-cs"/>
                  </a:rPr>
                  <a:t>):</a:t>
                </a:r>
                <a:r>
                  <a:rPr lang="en-IL" sz="1200" kern="1200" dirty="0">
                    <a:solidFill>
                      <a:schemeClr val="tx1"/>
                    </a:solidFill>
                    <a:effectLst/>
                    <a:latin typeface="+mn-lt"/>
                    <a:ea typeface="+mn-ea"/>
                    <a:cs typeface="+mn-cs"/>
                  </a:rPr>
                  <a:t> The Haar matrix </a:t>
                </a:r>
                <a:r>
                  <a:rPr lang="en-IL" sz="1200" i="0" kern="1200">
                    <a:solidFill>
                      <a:schemeClr val="tx1"/>
                    </a:solidFill>
                    <a:latin typeface="+mn-lt"/>
                    <a:ea typeface="+mn-ea"/>
                    <a:cs typeface="+mn-cs"/>
                  </a:rPr>
                  <a:t>𝐻</a:t>
                </a:r>
                <a:r>
                  <a:rPr lang="en-IL" sz="1200" kern="1200" dirty="0">
                    <a:solidFill>
                      <a:schemeClr val="tx1"/>
                    </a:solidFill>
                    <a:effectLst/>
                    <a:latin typeface="+mn-lt"/>
                    <a:ea typeface="+mn-ea"/>
                    <a:cs typeface="+mn-cs"/>
                  </a:rPr>
                  <a:t>is a random orthogonal transformation (</a:t>
                </a:r>
                <a:r>
                  <a:rPr lang="en-IL" sz="1200" i="0" kern="1200">
                    <a:solidFill>
                      <a:schemeClr val="tx1"/>
                    </a:solidFill>
                    <a:latin typeface="+mn-lt"/>
                    <a:ea typeface="+mn-ea"/>
                    <a:cs typeface="+mn-cs"/>
                  </a:rPr>
                  <a:t>𝐻^𝑇 𝐻=𝐼</a:t>
                </a:r>
                <a:r>
                  <a:rPr lang="en-IL" sz="1200" kern="1200" dirty="0">
                    <a:solidFill>
                      <a:schemeClr val="tx1"/>
                    </a:solidFill>
                    <a:effectLst/>
                    <a:latin typeface="+mn-lt"/>
                    <a:ea typeface="+mn-ea"/>
                    <a:cs typeface="+mn-cs"/>
                  </a:rPr>
                  <a:t>)[cite: 4, 5]. Applying a random rotation to a high-dimensional vector spreads its energy uniformly across all coordinates[cite: 4]. By the Central Limit Theorem / measure concentration, the coordinates of </a:t>
                </a:r>
                <a:r>
                  <a:rPr lang="en-IL" sz="1200" i="0" kern="1200">
                    <a:solidFill>
                      <a:schemeClr val="tx1"/>
                    </a:solidFill>
                    <a:latin typeface="+mn-lt"/>
                    <a:ea typeface="+mn-ea"/>
                    <a:cs typeface="+mn-cs"/>
                  </a:rPr>
                  <a:t>𝐻⋅𝑥</a:t>
                </a:r>
                <a:r>
                  <a:rPr lang="en-IL" sz="1200" kern="1200" dirty="0">
                    <a:solidFill>
                      <a:schemeClr val="tx1"/>
                    </a:solidFill>
                    <a:effectLst/>
                    <a:latin typeface="+mn-lt"/>
                    <a:ea typeface="+mn-ea"/>
                    <a:cs typeface="+mn-cs"/>
                  </a:rPr>
                  <a:t>follow an identical, known distribution (a Beta distribution, converging to a Gaussian </a:t>
                </a:r>
                <a:r>
                  <a:rPr lang="en-IL" sz="1200" i="0" kern="1200">
                    <a:solidFill>
                      <a:schemeClr val="tx1"/>
                    </a:solidFill>
                    <a:latin typeface="+mn-lt"/>
                    <a:ea typeface="+mn-ea"/>
                    <a:cs typeface="+mn-cs"/>
                  </a:rPr>
                  <a:t>𝒩(0,1/𝑑)</a:t>
                </a:r>
                <a:r>
                  <a:rPr lang="en-IL" sz="1200" kern="1200" dirty="0">
                    <a:solidFill>
                      <a:schemeClr val="tx1"/>
                    </a:solidFill>
                    <a:effectLst/>
                    <a:latin typeface="+mn-lt"/>
                    <a:ea typeface="+mn-ea"/>
                    <a:cs typeface="+mn-cs"/>
                  </a:rPr>
                  <a:t>) regardless of where </a:t>
                </a:r>
                <a:r>
                  <a:rPr lang="en-IL" sz="1200" i="0" kern="1200">
                    <a:solidFill>
                      <a:schemeClr val="tx1"/>
                    </a:solidFill>
                    <a:latin typeface="+mn-lt"/>
                    <a:ea typeface="+mn-ea"/>
                    <a:cs typeface="+mn-cs"/>
                  </a:rPr>
                  <a:t>𝑥</a:t>
                </a:r>
                <a:r>
                  <a:rPr lang="en-IL" sz="1200" kern="1200" dirty="0">
                    <a:solidFill>
                      <a:schemeClr val="tx1"/>
                    </a:solidFill>
                    <a:effectLst/>
                    <a:latin typeface="+mn-lt"/>
                    <a:ea typeface="+mn-ea"/>
                    <a:cs typeface="+mn-cs"/>
                  </a:rPr>
                  <a:t>originally pointed. Because the post-rotation distribution is known beforehand, both the rotation matrix and the quantization codebook can be frozen before inference begins. </a:t>
                </a:r>
              </a:p>
              <a:p>
                <a:pPr lvl="0"/>
                <a:r>
                  <a:rPr lang="en-IL" sz="1200" b="1" kern="1200" dirty="0">
                    <a:solidFill>
                      <a:schemeClr val="tx1"/>
                    </a:solidFill>
                    <a:effectLst/>
                    <a:latin typeface="+mn-lt"/>
                    <a:ea typeface="+mn-ea"/>
                    <a:cs typeface="+mn-cs"/>
                  </a:rPr>
                  <a:t>Johnson-</a:t>
                </a:r>
                <a:r>
                  <a:rPr lang="en-IL" sz="1200" b="1" kern="1200" dirty="0" err="1">
                    <a:solidFill>
                      <a:schemeClr val="tx1"/>
                    </a:solidFill>
                    <a:effectLst/>
                    <a:latin typeface="+mn-lt"/>
                    <a:ea typeface="+mn-ea"/>
                    <a:cs typeface="+mn-cs"/>
                  </a:rPr>
                  <a:t>Lindenstrauss</a:t>
                </a:r>
                <a:r>
                  <a:rPr lang="en-IL" sz="1200" b="1" kern="1200" dirty="0">
                    <a:solidFill>
                      <a:schemeClr val="tx1"/>
                    </a:solidFill>
                    <a:effectLst/>
                    <a:latin typeface="+mn-lt"/>
                    <a:ea typeface="+mn-ea"/>
                    <a:cs typeface="+mn-cs"/>
                  </a:rPr>
                  <a:t> Lemma (</a:t>
                </a:r>
                <a:r>
                  <a:rPr lang="en-IL" sz="1200" i="0" kern="1200">
                    <a:solidFill>
                      <a:schemeClr val="tx1"/>
                    </a:solidFill>
                    <a:latin typeface="+mn-lt"/>
                    <a:ea typeface="+mn-ea"/>
                    <a:cs typeface="+mn-cs"/>
                  </a:rPr>
                  <a:t>𝑀</a:t>
                </a:r>
                <a:r>
                  <a:rPr lang="en-IL" sz="1200" b="1" kern="1200" dirty="0">
                    <a:solidFill>
                      <a:schemeClr val="tx1"/>
                    </a:solidFill>
                    <a:effectLst/>
                    <a:latin typeface="+mn-lt"/>
                    <a:ea typeface="+mn-ea"/>
                    <a:cs typeface="+mn-cs"/>
                  </a:rPr>
                  <a:t>):</a:t>
                </a:r>
                <a:r>
                  <a:rPr lang="en-IL" sz="1200" kern="1200" dirty="0">
                    <a:solidFill>
                      <a:schemeClr val="tx1"/>
                    </a:solidFill>
                    <a:effectLst/>
                    <a:latin typeface="+mn-lt"/>
                    <a:ea typeface="+mn-ea"/>
                    <a:cs typeface="+mn-cs"/>
                  </a:rPr>
                  <a:t> The QJL matrix </a:t>
                </a:r>
                <a:r>
                  <a:rPr lang="en-IL" sz="1200" i="0" kern="1200">
                    <a:solidFill>
                      <a:schemeClr val="tx1"/>
                    </a:solidFill>
                    <a:latin typeface="+mn-lt"/>
                    <a:ea typeface="+mn-ea"/>
                    <a:cs typeface="+mn-cs"/>
                  </a:rPr>
                  <a:t>𝑀</a:t>
                </a:r>
                <a:r>
                  <a:rPr lang="en-IL" sz="1200" kern="1200" dirty="0">
                    <a:solidFill>
                      <a:schemeClr val="tx1"/>
                    </a:solidFill>
                    <a:effectLst/>
                    <a:latin typeface="+mn-lt"/>
                    <a:ea typeface="+mn-ea"/>
                    <a:cs typeface="+mn-cs"/>
                  </a:rPr>
                  <a:t>relies on random hyperplane projections to capture residual quantization errors in 1 bit[cite: 4]. The Johnson-</a:t>
                </a:r>
                <a:r>
                  <a:rPr lang="en-IL" sz="1200" kern="1200" dirty="0" err="1">
                    <a:solidFill>
                      <a:schemeClr val="tx1"/>
                    </a:solidFill>
                    <a:effectLst/>
                    <a:latin typeface="+mn-lt"/>
                    <a:ea typeface="+mn-ea"/>
                    <a:cs typeface="+mn-cs"/>
                  </a:rPr>
                  <a:t>Lindenstrauss</a:t>
                </a:r>
                <a:r>
                  <a:rPr lang="en-IL" sz="1200" kern="1200" dirty="0">
                    <a:solidFill>
                      <a:schemeClr val="tx1"/>
                    </a:solidFill>
                    <a:effectLst/>
                    <a:latin typeface="+mn-lt"/>
                    <a:ea typeface="+mn-ea"/>
                    <a:cs typeface="+mn-cs"/>
                  </a:rPr>
                  <a:t> lemma guarantees that pairwise distances and inner products are preserved in expectation using any random Gaussian matrix, requiring zero data-driven tuning. </a:t>
                </a:r>
              </a:p>
              <a:p>
                <a:pPr lvl="0"/>
                <a:r>
                  <a:rPr lang="en-IL" sz="1200" b="1" kern="1200" dirty="0">
                    <a:solidFill>
                      <a:schemeClr val="tx1"/>
                    </a:solidFill>
                    <a:effectLst/>
                    <a:latin typeface="+mn-lt"/>
                    <a:ea typeface="+mn-ea"/>
                    <a:cs typeface="+mn-cs"/>
                  </a:rPr>
                  <a:t>Zero Runtime Overhead:</a:t>
                </a:r>
                <a:r>
                  <a:rPr lang="en-IL" sz="1200" kern="1200" dirty="0">
                    <a:solidFill>
                      <a:schemeClr val="tx1"/>
                    </a:solidFill>
                    <a:effectLst/>
                    <a:latin typeface="+mn-lt"/>
                    <a:ea typeface="+mn-ea"/>
                    <a:cs typeface="+mn-cs"/>
                  </a:rPr>
                  <a:t> Performing QR decomposition or drawing thousands of Gaussian random numbers on an embedded processor like Xtensa during token generation would introduce massive latency and memory pressure[cite: 5]. Precomputing them offline allows baking them into flash/ROM as static lookup arrays[cite: 5]. </a:t>
                </a:r>
              </a:p>
              <a:p>
                <a:r>
                  <a:rPr lang="en-IL" sz="1200" b="1" kern="1200" dirty="0">
                    <a:solidFill>
                      <a:schemeClr val="tx1"/>
                    </a:solidFill>
                    <a:effectLst/>
                    <a:latin typeface="+mn-lt"/>
                    <a:ea typeface="+mn-ea"/>
                    <a:cs typeface="+mn-cs"/>
                  </a:rPr>
                  <a:t>2. On What They Depend</a:t>
                </a:r>
              </a:p>
              <a:p>
                <a:r>
                  <a:rPr lang="en-IL" sz="1200" kern="1200" dirty="0">
                    <a:solidFill>
                      <a:schemeClr val="tx1"/>
                    </a:solidFill>
                    <a:effectLst/>
                    <a:latin typeface="+mn-lt"/>
                    <a:ea typeface="+mn-ea"/>
                    <a:cs typeface="+mn-cs"/>
                  </a:rPr>
                  <a:t>The matrices depend strictly on </a:t>
                </a:r>
                <a:r>
                  <a:rPr lang="en-IL" sz="1200" b="1" kern="1200" dirty="0">
                    <a:solidFill>
                      <a:schemeClr val="tx1"/>
                    </a:solidFill>
                    <a:effectLst/>
                    <a:latin typeface="+mn-lt"/>
                    <a:ea typeface="+mn-ea"/>
                    <a:cs typeface="+mn-cs"/>
                  </a:rPr>
                  <a:t>two structural hyperparameters</a:t>
                </a:r>
                <a:r>
                  <a:rPr lang="en-IL" sz="1200" kern="1200" dirty="0">
                    <a:solidFill>
                      <a:schemeClr val="tx1"/>
                    </a:solidFill>
                    <a:effectLst/>
                    <a:latin typeface="+mn-lt"/>
                    <a:ea typeface="+mn-ea"/>
                    <a:cs typeface="+mn-cs"/>
                  </a:rPr>
                  <a:t>:</a:t>
                </a:r>
              </a:p>
              <a:p>
                <a:r>
                  <a:rPr lang="en-IL" sz="1200" b="1" kern="1200" dirty="0" err="1">
                    <a:solidFill>
                      <a:schemeClr val="tx1"/>
                    </a:solidFill>
                    <a:effectLst/>
                    <a:latin typeface="+mn-lt"/>
                    <a:ea typeface="+mn-ea"/>
                    <a:cs typeface="+mn-cs"/>
                  </a:rPr>
                  <a:t>DependencyDescription</a:t>
                </a:r>
                <a:endParaRPr lang="en-IL" sz="1200" kern="1200" dirty="0">
                  <a:solidFill>
                    <a:schemeClr val="tx1"/>
                  </a:solidFill>
                  <a:effectLst/>
                  <a:latin typeface="+mn-lt"/>
                  <a:ea typeface="+mn-ea"/>
                  <a:cs typeface="+mn-cs"/>
                </a:endParaRPr>
              </a:p>
              <a:p>
                <a:r>
                  <a:rPr lang="en-IL" sz="1200" b="1" kern="1200" dirty="0">
                    <a:solidFill>
                      <a:schemeClr val="tx1"/>
                    </a:solidFill>
                    <a:effectLst/>
                    <a:latin typeface="+mn-lt"/>
                    <a:ea typeface="+mn-ea"/>
                    <a:cs typeface="+mn-cs"/>
                  </a:rPr>
                  <a:t>Head Dimension (</a:t>
                </a:r>
                <a:r>
                  <a:rPr lang="en-IL" sz="1200" i="0" kern="1200">
                    <a:solidFill>
                      <a:schemeClr val="tx1"/>
                    </a:solidFill>
                    <a:latin typeface="+mn-lt"/>
                    <a:ea typeface="+mn-ea"/>
                    <a:cs typeface="+mn-cs"/>
                  </a:rPr>
                  <a:t>𝑑</a:t>
                </a:r>
                <a:r>
                  <a:rPr lang="en-IL" sz="1200" b="1" kern="1200" dirty="0">
                    <a:solidFill>
                      <a:schemeClr val="tx1"/>
                    </a:solidFill>
                    <a:effectLst/>
                    <a:latin typeface="+mn-lt"/>
                    <a:ea typeface="+mn-ea"/>
                    <a:cs typeface="+mn-cs"/>
                  </a:rPr>
                  <a:t>)</a:t>
                </a:r>
                <a:r>
                  <a:rPr lang="en-IL" sz="1200" kern="1200" dirty="0">
                    <a:solidFill>
                      <a:schemeClr val="tx1"/>
                    </a:solidFill>
                    <a:effectLst/>
                    <a:latin typeface="+mn-lt"/>
                    <a:ea typeface="+mn-ea"/>
                    <a:cs typeface="+mn-cs"/>
                  </a:rPr>
                  <a:t>The vector length of each attention head (</a:t>
                </a:r>
                <a:r>
                  <a:rPr lang="en-IL" sz="1200" i="0" kern="1200">
                    <a:solidFill>
                      <a:schemeClr val="tx1"/>
                    </a:solidFill>
                    <a:latin typeface="+mn-lt"/>
                    <a:ea typeface="+mn-ea"/>
                    <a:cs typeface="+mn-cs"/>
                  </a:rPr>
                  <a:t>𝑑=𝑑_"model" /ℎ</a:t>
                </a:r>
                <a:r>
                  <a:rPr lang="en-IL" sz="1200" kern="1200" dirty="0">
                    <a:solidFill>
                      <a:schemeClr val="tx1"/>
                    </a:solidFill>
                    <a:effectLst/>
                    <a:latin typeface="+mn-lt"/>
                    <a:ea typeface="+mn-ea"/>
                    <a:cs typeface="+mn-cs"/>
                  </a:rPr>
                  <a:t>). For TinyStories-15M, </a:t>
                </a:r>
                <a:r>
                  <a:rPr lang="en-IL" sz="1200" i="0" kern="1200">
                    <a:solidFill>
                      <a:schemeClr val="tx1"/>
                    </a:solidFill>
                    <a:latin typeface="+mn-lt"/>
                    <a:ea typeface="+mn-ea"/>
                    <a:cs typeface="+mn-cs"/>
                  </a:rPr>
                  <a:t>𝑑_"model" =288</a:t>
                </a:r>
                <a:r>
                  <a:rPr lang="en-IL" sz="1200" kern="1200" dirty="0">
                    <a:solidFill>
                      <a:schemeClr val="tx1"/>
                    </a:solidFill>
                    <a:effectLst/>
                    <a:latin typeface="+mn-lt"/>
                    <a:ea typeface="+mn-ea"/>
                    <a:cs typeface="+mn-cs"/>
                  </a:rPr>
                  <a:t>across 6 heads, so </a:t>
                </a:r>
                <a:r>
                  <a:rPr lang="en-IL" sz="1200" i="0" kern="1200">
                    <a:solidFill>
                      <a:schemeClr val="tx1"/>
                    </a:solidFill>
                    <a:latin typeface="+mn-lt"/>
                    <a:ea typeface="+mn-ea"/>
                    <a:cs typeface="+mn-cs"/>
                  </a:rPr>
                  <a:t>𝑑=48</a:t>
                </a:r>
                <a:r>
                  <a:rPr lang="en-IL" sz="1200" kern="1200" dirty="0">
                    <a:solidFill>
                      <a:schemeClr val="tx1"/>
                    </a:solidFill>
                    <a:effectLst/>
                    <a:latin typeface="+mn-lt"/>
                    <a:ea typeface="+mn-ea"/>
                    <a:cs typeface="+mn-cs"/>
                  </a:rPr>
                  <a:t>. Both </a:t>
                </a:r>
                <a:r>
                  <a:rPr lang="en-IL" sz="1200" i="0" kern="1200">
                    <a:solidFill>
                      <a:schemeClr val="tx1"/>
                    </a:solidFill>
                    <a:latin typeface="+mn-lt"/>
                    <a:ea typeface="+mn-ea"/>
                    <a:cs typeface="+mn-cs"/>
                  </a:rPr>
                  <a:t>𝐻</a:t>
                </a:r>
                <a:r>
                  <a:rPr lang="en-IL" sz="1200" kern="1200" dirty="0">
                    <a:solidFill>
                      <a:schemeClr val="tx1"/>
                    </a:solidFill>
                    <a:effectLst/>
                    <a:latin typeface="+mn-lt"/>
                    <a:ea typeface="+mn-ea"/>
                    <a:cs typeface="+mn-cs"/>
                  </a:rPr>
                  <a:t>and </a:t>
                </a:r>
                <a:r>
                  <a:rPr lang="en-IL" sz="1200" i="0" kern="1200">
                    <a:solidFill>
                      <a:schemeClr val="tx1"/>
                    </a:solidFill>
                    <a:latin typeface="+mn-lt"/>
                    <a:ea typeface="+mn-ea"/>
                    <a:cs typeface="+mn-cs"/>
                  </a:rPr>
                  <a:t>𝑀</a:t>
                </a:r>
                <a:r>
                  <a:rPr lang="en-IL" sz="1200" kern="1200" dirty="0">
                    <a:solidFill>
                      <a:schemeClr val="tx1"/>
                    </a:solidFill>
                    <a:effectLst/>
                    <a:latin typeface="+mn-lt"/>
                    <a:ea typeface="+mn-ea"/>
                    <a:cs typeface="+mn-cs"/>
                  </a:rPr>
                  <a:t>are square matrices of size </a:t>
                </a:r>
                <a:r>
                  <a:rPr lang="en-IL" sz="1200" i="0" kern="1200">
                    <a:solidFill>
                      <a:schemeClr val="tx1"/>
                    </a:solidFill>
                    <a:latin typeface="+mn-lt"/>
                    <a:ea typeface="+mn-ea"/>
                    <a:cs typeface="+mn-cs"/>
                  </a:rPr>
                  <a:t>𝑑×𝑑</a:t>
                </a:r>
                <a:r>
                  <a:rPr lang="en-IL" sz="1200" kern="1200" dirty="0">
                    <a:solidFill>
                      <a:schemeClr val="tx1"/>
                    </a:solidFill>
                    <a:effectLst/>
                    <a:latin typeface="+mn-lt"/>
                    <a:ea typeface="+mn-ea"/>
                    <a:cs typeface="+mn-cs"/>
                  </a:rPr>
                  <a:t>(</a:t>
                </a:r>
                <a:r>
                  <a:rPr lang="en-IL" sz="1200" i="0" kern="1200">
                    <a:solidFill>
                      <a:schemeClr val="tx1"/>
                    </a:solidFill>
                    <a:latin typeface="+mn-lt"/>
                    <a:ea typeface="+mn-ea"/>
                    <a:cs typeface="+mn-cs"/>
                  </a:rPr>
                  <a:t>48×48</a:t>
                </a:r>
                <a:r>
                  <a:rPr lang="en-IL" sz="1200" kern="1200" dirty="0">
                    <a:solidFill>
                      <a:schemeClr val="tx1"/>
                    </a:solidFill>
                    <a:effectLst/>
                    <a:latin typeface="+mn-lt"/>
                    <a:ea typeface="+mn-ea"/>
                    <a:cs typeface="+mn-cs"/>
                  </a:rPr>
                  <a:t>).</a:t>
                </a:r>
              </a:p>
              <a:p>
                <a:r>
                  <a:rPr lang="en-IL" sz="1200" b="1" kern="1200" dirty="0">
                    <a:solidFill>
                      <a:schemeClr val="tx1"/>
                    </a:solidFill>
                    <a:effectLst/>
                    <a:latin typeface="+mn-lt"/>
                    <a:ea typeface="+mn-ea"/>
                    <a:cs typeface="+mn-cs"/>
                  </a:rPr>
                  <a:t>Pseudo-Random </a:t>
                </a:r>
                <a:r>
                  <a:rPr lang="en-IL" sz="1200" b="1" kern="1200" dirty="0" err="1">
                    <a:solidFill>
                      <a:schemeClr val="tx1"/>
                    </a:solidFill>
                    <a:effectLst/>
                    <a:latin typeface="+mn-lt"/>
                    <a:ea typeface="+mn-ea"/>
                    <a:cs typeface="+mn-cs"/>
                  </a:rPr>
                  <a:t>Seed</a:t>
                </a:r>
                <a:r>
                  <a:rPr lang="en-IL" sz="1200" kern="1200" dirty="0" err="1">
                    <a:solidFill>
                      <a:schemeClr val="tx1"/>
                    </a:solidFill>
                    <a:effectLst/>
                    <a:latin typeface="+mn-lt"/>
                    <a:ea typeface="+mn-ea"/>
                    <a:cs typeface="+mn-cs"/>
                  </a:rPr>
                  <a:t>A</a:t>
                </a:r>
                <a:r>
                  <a:rPr lang="en-IL" sz="1200" kern="1200" dirty="0">
                    <a:solidFill>
                      <a:schemeClr val="tx1"/>
                    </a:solidFill>
                    <a:effectLst/>
                    <a:latin typeface="+mn-lt"/>
                    <a:ea typeface="+mn-ea"/>
                    <a:cs typeface="+mn-cs"/>
                  </a:rPr>
                  <a:t> fixed integer seed (e.g., seed = 42) passed to the pseudo-random generator[cite: 5]. Because the Query projection and Key/Value dequantization must use the </a:t>
                </a:r>
                <a:r>
                  <a:rPr lang="en-IL" sz="1200" b="1" kern="1200" dirty="0">
                    <a:solidFill>
                      <a:schemeClr val="tx1"/>
                    </a:solidFill>
                    <a:effectLst/>
                    <a:latin typeface="+mn-lt"/>
                    <a:ea typeface="+mn-ea"/>
                    <a:cs typeface="+mn-cs"/>
                  </a:rPr>
                  <a:t>exact same coordinate system</a:t>
                </a:r>
                <a:r>
                  <a:rPr lang="en-IL" sz="1200" kern="1200" dirty="0">
                    <a:solidFill>
                      <a:schemeClr val="tx1"/>
                    </a:solidFill>
                    <a:effectLst/>
                    <a:latin typeface="+mn-lt"/>
                    <a:ea typeface="+mn-ea"/>
                    <a:cs typeface="+mn-cs"/>
                  </a:rPr>
                  <a:t>, both sender and receiver (or encoder and decoder) must share identical matrix constants[cite: 4, 5].</a:t>
                </a:r>
              </a:p>
              <a:p>
                <a:r>
                  <a:rPr lang="en-IL" sz="1200" b="1" kern="1200" dirty="0">
                    <a:solidFill>
                      <a:schemeClr val="tx1"/>
                    </a:solidFill>
                    <a:effectLst/>
                    <a:latin typeface="+mn-lt"/>
                    <a:ea typeface="+mn-ea"/>
                    <a:cs typeface="+mn-cs"/>
                  </a:rPr>
                  <a:t>Target Fixed-Point </a:t>
                </a:r>
                <a:r>
                  <a:rPr lang="en-IL" sz="1200" b="1" kern="1200" dirty="0" err="1">
                    <a:solidFill>
                      <a:schemeClr val="tx1"/>
                    </a:solidFill>
                    <a:effectLst/>
                    <a:latin typeface="+mn-lt"/>
                    <a:ea typeface="+mn-ea"/>
                    <a:cs typeface="+mn-cs"/>
                  </a:rPr>
                  <a:t>Format</a:t>
                </a:r>
                <a:r>
                  <a:rPr lang="en-IL" sz="1200" kern="1200" dirty="0" err="1">
                    <a:solidFill>
                      <a:schemeClr val="tx1"/>
                    </a:solidFill>
                    <a:effectLst/>
                    <a:latin typeface="+mn-lt"/>
                    <a:ea typeface="+mn-ea"/>
                    <a:cs typeface="+mn-cs"/>
                  </a:rPr>
                  <a:t>The</a:t>
                </a:r>
                <a:r>
                  <a:rPr lang="en-IL" sz="1200" kern="1200" dirty="0">
                    <a:solidFill>
                      <a:schemeClr val="tx1"/>
                    </a:solidFill>
                    <a:effectLst/>
                    <a:latin typeface="+mn-lt"/>
                    <a:ea typeface="+mn-ea"/>
                    <a:cs typeface="+mn-cs"/>
                  </a:rPr>
                  <a:t> numeric format of the target hardware (e.g., 16-bit signed integers in </a:t>
                </a:r>
                <a:r>
                  <a:rPr lang="en-IL" sz="1200" b="1" kern="1200" dirty="0">
                    <a:solidFill>
                      <a:schemeClr val="tx1"/>
                    </a:solidFill>
                    <a:effectLst/>
                    <a:latin typeface="+mn-lt"/>
                    <a:ea typeface="+mn-ea"/>
                    <a:cs typeface="+mn-cs"/>
                  </a:rPr>
                  <a:t>Q15 format</a:t>
                </a:r>
                <a:r>
                  <a:rPr lang="en-IL" sz="1200" kern="1200" dirty="0">
                    <a:solidFill>
                      <a:schemeClr val="tx1"/>
                    </a:solidFill>
                    <a:effectLst/>
                    <a:latin typeface="+mn-lt"/>
                    <a:ea typeface="+mn-ea"/>
                    <a:cs typeface="+mn-cs"/>
                  </a:rPr>
                  <a:t> for Xtensa DSP/TIE instructions).</a:t>
                </a:r>
              </a:p>
              <a:p>
                <a:r>
                  <a:rPr lang="en-IL" sz="1200" b="1" kern="1200" dirty="0">
                    <a:solidFill>
                      <a:schemeClr val="tx1"/>
                    </a:solidFill>
                    <a:effectLst/>
                    <a:latin typeface="+mn-lt"/>
                    <a:ea typeface="+mn-ea"/>
                    <a:cs typeface="+mn-cs"/>
                  </a:rPr>
                  <a:t>They DO NOT depend on:</a:t>
                </a:r>
                <a:endParaRPr lang="en-IL" sz="1200" kern="1200" dirty="0">
                  <a:solidFill>
                    <a:schemeClr val="tx1"/>
                  </a:solidFill>
                  <a:effectLst/>
                  <a:latin typeface="+mn-lt"/>
                  <a:ea typeface="+mn-ea"/>
                  <a:cs typeface="+mn-cs"/>
                </a:endParaRPr>
              </a:p>
              <a:p>
                <a:pPr lvl="0"/>
                <a:r>
                  <a:rPr lang="en-IL" sz="1200" kern="1200" dirty="0">
                    <a:solidFill>
                      <a:schemeClr val="tx1"/>
                    </a:solidFill>
                    <a:effectLst/>
                    <a:latin typeface="+mn-lt"/>
                    <a:ea typeface="+mn-ea"/>
                    <a:cs typeface="+mn-cs"/>
                  </a:rPr>
                  <a:t>Transformer weights (</a:t>
                </a:r>
                <a:r>
                  <a:rPr lang="en-IL" sz="1200" i="0" kern="1200">
                    <a:solidFill>
                      <a:schemeClr val="tx1"/>
                    </a:solidFill>
                    <a:latin typeface="+mn-lt"/>
                    <a:ea typeface="+mn-ea"/>
                    <a:cs typeface="+mn-cs"/>
                  </a:rPr>
                  <a:t>𝑊_𝑞,𝑊_𝑘,𝑊_𝑣</a:t>
                </a:r>
                <a:r>
                  <a:rPr lang="en-IL" sz="1200" kern="1200" dirty="0">
                    <a:solidFill>
                      <a:schemeClr val="tx1"/>
                    </a:solidFill>
                    <a:effectLst/>
                    <a:latin typeface="+mn-lt"/>
                    <a:ea typeface="+mn-ea"/>
                    <a:cs typeface="+mn-cs"/>
                  </a:rPr>
                  <a:t>, etc.)</a:t>
                </a:r>
              </a:p>
              <a:p>
                <a:pPr lvl="0"/>
                <a:r>
                  <a:rPr lang="en-IL" sz="1200" kern="1200" dirty="0">
                    <a:solidFill>
                      <a:schemeClr val="tx1"/>
                    </a:solidFill>
                    <a:effectLst/>
                    <a:latin typeface="+mn-lt"/>
                    <a:ea typeface="+mn-ea"/>
                    <a:cs typeface="+mn-cs"/>
                  </a:rPr>
                  <a:t>Training datasets or fine-tuning checkpoints</a:t>
                </a:r>
              </a:p>
              <a:p>
                <a:pPr lvl="0"/>
                <a:r>
                  <a:rPr lang="en-IL" sz="1200" kern="1200" dirty="0">
                    <a:solidFill>
                      <a:schemeClr val="tx1"/>
                    </a:solidFill>
                    <a:effectLst/>
                    <a:latin typeface="+mn-lt"/>
                    <a:ea typeface="+mn-ea"/>
                    <a:cs typeface="+mn-cs"/>
                  </a:rPr>
                  <a:t>Context prompts or runtime tokens</a:t>
                </a:r>
              </a:p>
              <a:p>
                <a:r>
                  <a:rPr lang="en-IL" sz="1200" b="1" kern="1200" dirty="0">
                    <a:solidFill>
                      <a:schemeClr val="tx1"/>
                    </a:solidFill>
                    <a:effectLst/>
                    <a:latin typeface="+mn-lt"/>
                    <a:ea typeface="+mn-ea"/>
                    <a:cs typeface="+mn-cs"/>
                  </a:rPr>
                  <a:t>3. How They Look</a:t>
                </a:r>
              </a:p>
              <a:p>
                <a:r>
                  <a:rPr lang="en-IL" sz="1200" b="1" kern="1200" dirty="0">
                    <a:solidFill>
                      <a:schemeClr val="tx1"/>
                    </a:solidFill>
                    <a:effectLst/>
                    <a:latin typeface="+mn-lt"/>
                    <a:ea typeface="+mn-ea"/>
                    <a:cs typeface="+mn-cs"/>
                  </a:rPr>
                  <a:t>Matrix </a:t>
                </a:r>
                <a:r>
                  <a:rPr lang="en-IL" sz="1200" i="0" kern="1200">
                    <a:solidFill>
                      <a:schemeClr val="tx1"/>
                    </a:solidFill>
                    <a:latin typeface="+mn-lt"/>
                    <a:ea typeface="+mn-ea"/>
                    <a:cs typeface="+mn-cs"/>
                  </a:rPr>
                  <a:t>𝐻</a:t>
                </a:r>
                <a:r>
                  <a:rPr lang="en-IL" sz="1200" b="1" kern="1200" dirty="0">
                    <a:solidFill>
                      <a:schemeClr val="tx1"/>
                    </a:solidFill>
                    <a:effectLst/>
                    <a:latin typeface="+mn-lt"/>
                    <a:ea typeface="+mn-ea"/>
                    <a:cs typeface="+mn-cs"/>
                  </a:rPr>
                  <a:t>(Haar Orthogonal Rotation Matrix) </a:t>
                </a:r>
              </a:p>
              <a:p>
                <a:pPr lvl="0"/>
                <a:r>
                  <a:rPr lang="en-IL" sz="1200" b="1" kern="1200" dirty="0">
                    <a:solidFill>
                      <a:schemeClr val="tx1"/>
                    </a:solidFill>
                    <a:effectLst/>
                    <a:latin typeface="+mn-lt"/>
                    <a:ea typeface="+mn-ea"/>
                    <a:cs typeface="+mn-cs"/>
                  </a:rPr>
                  <a:t>Shape:</a:t>
                </a:r>
                <a:r>
                  <a:rPr lang="en-IL" sz="1200" kern="1200" dirty="0">
                    <a:solidFill>
                      <a:schemeClr val="tx1"/>
                    </a:solidFill>
                    <a:effectLst/>
                    <a:latin typeface="+mn-lt"/>
                    <a:ea typeface="+mn-ea"/>
                    <a:cs typeface="+mn-cs"/>
                  </a:rPr>
                  <a:t> </a:t>
                </a:r>
                <a:r>
                  <a:rPr lang="en-IL" sz="1200" i="0" kern="1200">
                    <a:solidFill>
                      <a:schemeClr val="tx1"/>
                    </a:solidFill>
                    <a:latin typeface="+mn-lt"/>
                    <a:ea typeface="+mn-ea"/>
                    <a:cs typeface="+mn-cs"/>
                  </a:rPr>
                  <a:t>𝑑×𝑑</a:t>
                </a:r>
                <a:r>
                  <a:rPr lang="en-IL" sz="1200" kern="1200" dirty="0">
                    <a:solidFill>
                      <a:schemeClr val="tx1"/>
                    </a:solidFill>
                    <a:effectLst/>
                    <a:latin typeface="+mn-lt"/>
                    <a:ea typeface="+mn-ea"/>
                    <a:cs typeface="+mn-cs"/>
                  </a:rPr>
                  <a:t>(e.g., </a:t>
                </a:r>
                <a:r>
                  <a:rPr lang="en-IL" sz="1200" i="0" kern="1200">
                    <a:solidFill>
                      <a:schemeClr val="tx1"/>
                    </a:solidFill>
                    <a:latin typeface="+mn-lt"/>
                    <a:ea typeface="+mn-ea"/>
                    <a:cs typeface="+mn-cs"/>
                  </a:rPr>
                  <a:t>48×48</a:t>
                </a:r>
                <a:r>
                  <a:rPr lang="en-IL" sz="1200" kern="1200" dirty="0">
                    <a:solidFill>
                      <a:schemeClr val="tx1"/>
                    </a:solidFill>
                    <a:effectLst/>
                    <a:latin typeface="+mn-lt"/>
                    <a:ea typeface="+mn-ea"/>
                    <a:cs typeface="+mn-cs"/>
                  </a:rPr>
                  <a:t>elements)[cite: 4]. </a:t>
                </a:r>
              </a:p>
              <a:p>
                <a:pPr lvl="0"/>
                <a:r>
                  <a:rPr lang="en-IL" sz="1200" b="1" kern="1200" dirty="0">
                    <a:solidFill>
                      <a:schemeClr val="tx1"/>
                    </a:solidFill>
                    <a:effectLst/>
                    <a:latin typeface="+mn-lt"/>
                    <a:ea typeface="+mn-ea"/>
                    <a:cs typeface="+mn-cs"/>
                  </a:rPr>
                  <a:t>Properties:</a:t>
                </a:r>
                <a:r>
                  <a:rPr lang="en-IL" sz="1200" kern="1200" dirty="0">
                    <a:solidFill>
                      <a:schemeClr val="tx1"/>
                    </a:solidFill>
                    <a:effectLst/>
                    <a:latin typeface="+mn-lt"/>
                    <a:ea typeface="+mn-ea"/>
                    <a:cs typeface="+mn-cs"/>
                  </a:rPr>
                  <a:t> Strictly orthonormal (</a:t>
                </a:r>
                <a:r>
                  <a:rPr lang="en-IL" sz="1200" i="0" kern="1200">
                    <a:solidFill>
                      <a:schemeClr val="tx1"/>
                    </a:solidFill>
                    <a:latin typeface="+mn-lt"/>
                    <a:ea typeface="+mn-ea"/>
                    <a:cs typeface="+mn-cs"/>
                  </a:rPr>
                  <a:t>𝐻⋅𝐻^𝑇=𝐼</a:t>
                </a:r>
                <a:r>
                  <a:rPr lang="en-IL" sz="1200" kern="1200" dirty="0">
                    <a:solidFill>
                      <a:schemeClr val="tx1"/>
                    </a:solidFill>
                    <a:effectLst/>
                    <a:latin typeface="+mn-lt"/>
                    <a:ea typeface="+mn-ea"/>
                    <a:cs typeface="+mn-cs"/>
                  </a:rPr>
                  <a:t> and </a:t>
                </a:r>
                <a:r>
                  <a:rPr lang="en-IL" sz="1200" i="0" kern="1200">
                    <a:solidFill>
                      <a:schemeClr val="tx1"/>
                    </a:solidFill>
                    <a:latin typeface="+mn-lt"/>
                    <a:ea typeface="+mn-ea"/>
                    <a:cs typeface="+mn-cs"/>
                  </a:rPr>
                  <a:t>det⁡(𝐻)=±1</a:t>
                </a:r>
                <a:r>
                  <a:rPr lang="en-IL" sz="1200" kern="1200" dirty="0">
                    <a:solidFill>
                      <a:schemeClr val="tx1"/>
                    </a:solidFill>
                    <a:effectLst/>
                    <a:latin typeface="+mn-lt"/>
                    <a:ea typeface="+mn-ea"/>
                    <a:cs typeface="+mn-cs"/>
                  </a:rPr>
                  <a:t>)[cite: 4, 5]. Every row and column has unit Euclidean norm (</a:t>
                </a:r>
                <a:r>
                  <a:rPr lang="en-IL" sz="1200" i="0" kern="1200">
                    <a:solidFill>
                      <a:schemeClr val="tx1"/>
                    </a:solidFill>
                    <a:latin typeface="+mn-lt"/>
                    <a:ea typeface="+mn-ea"/>
                    <a:cs typeface="+mn-cs"/>
                  </a:rPr>
                  <a:t>‖𝐻_(𝑖,:) ‖​_2=1</a:t>
                </a:r>
                <a:r>
                  <a:rPr lang="en-IL" sz="1200" kern="1200" dirty="0">
                    <a:solidFill>
                      <a:schemeClr val="tx1"/>
                    </a:solidFill>
                    <a:effectLst/>
                    <a:latin typeface="+mn-lt"/>
                    <a:ea typeface="+mn-ea"/>
                    <a:cs typeface="+mn-cs"/>
                  </a:rPr>
                  <a:t>), and all pairs of distinct rows are orthogonal (</a:t>
                </a:r>
                <a:r>
                  <a:rPr lang="en-IL" sz="1200" i="0" kern="1200">
                    <a:solidFill>
                      <a:schemeClr val="tx1"/>
                    </a:solidFill>
                    <a:latin typeface="+mn-lt"/>
                    <a:ea typeface="+mn-ea"/>
                    <a:cs typeface="+mn-cs"/>
                  </a:rPr>
                  <a:t>𝐻_𝑖⋅𝐻_𝑗=0</a:t>
                </a:r>
                <a:r>
                  <a:rPr lang="en-IL" sz="1200" kern="1200" dirty="0">
                    <a:solidFill>
                      <a:schemeClr val="tx1"/>
                    </a:solidFill>
                    <a:effectLst/>
                    <a:latin typeface="+mn-lt"/>
                    <a:ea typeface="+mn-ea"/>
                    <a:cs typeface="+mn-cs"/>
                  </a:rPr>
                  <a:t>). </a:t>
                </a:r>
              </a:p>
              <a:p>
                <a:pPr lvl="0"/>
                <a:r>
                  <a:rPr lang="en-IL" sz="1200" b="1" kern="1200" dirty="0">
                    <a:solidFill>
                      <a:schemeClr val="tx1"/>
                    </a:solidFill>
                    <a:effectLst/>
                    <a:latin typeface="+mn-lt"/>
                    <a:ea typeface="+mn-ea"/>
                    <a:cs typeface="+mn-cs"/>
                  </a:rPr>
                  <a:t>Values:</a:t>
                </a:r>
                <a:r>
                  <a:rPr lang="en-IL" sz="1200" kern="1200" dirty="0">
                    <a:solidFill>
                      <a:schemeClr val="tx1"/>
                    </a:solidFill>
                    <a:effectLst/>
                    <a:latin typeface="+mn-lt"/>
                    <a:ea typeface="+mn-ea"/>
                    <a:cs typeface="+mn-cs"/>
                  </a:rPr>
                  <a:t> Entries are dense, zero-mean, bell-curve-distributed values roughly scaled by </a:t>
                </a:r>
                <a:r>
                  <a:rPr lang="en-IL" sz="1200" i="0" kern="1200">
                    <a:solidFill>
                      <a:schemeClr val="tx1"/>
                    </a:solidFill>
                    <a:latin typeface="+mn-lt"/>
                    <a:ea typeface="+mn-ea"/>
                    <a:cs typeface="+mn-cs"/>
                  </a:rPr>
                  <a:t>≈1/√𝑑</a:t>
                </a:r>
                <a:r>
                  <a:rPr lang="en-IL" sz="1200" kern="1200" dirty="0">
                    <a:solidFill>
                      <a:schemeClr val="tx1"/>
                    </a:solidFill>
                    <a:effectLst/>
                    <a:latin typeface="+mn-lt"/>
                    <a:ea typeface="+mn-ea"/>
                    <a:cs typeface="+mn-cs"/>
                  </a:rPr>
                  <a:t>(for </a:t>
                </a:r>
                <a:r>
                  <a:rPr lang="en-IL" sz="1200" i="0" kern="1200">
                    <a:solidFill>
                      <a:schemeClr val="tx1"/>
                    </a:solidFill>
                    <a:latin typeface="+mn-lt"/>
                    <a:ea typeface="+mn-ea"/>
                    <a:cs typeface="+mn-cs"/>
                  </a:rPr>
                  <a:t>𝑑=48</a:t>
                </a:r>
                <a:r>
                  <a:rPr lang="en-IL" sz="1200" kern="1200" dirty="0">
                    <a:solidFill>
                      <a:schemeClr val="tx1"/>
                    </a:solidFill>
                    <a:effectLst/>
                    <a:latin typeface="+mn-lt"/>
                    <a:ea typeface="+mn-ea"/>
                    <a:cs typeface="+mn-cs"/>
                  </a:rPr>
                  <a:t>, entries fluctuate between roughly </a:t>
                </a:r>
                <a:r>
                  <a:rPr lang="en-IL" sz="1200" i="0" kern="1200">
                    <a:solidFill>
                      <a:schemeClr val="tx1"/>
                    </a:solidFill>
                    <a:latin typeface="+mn-lt"/>
                    <a:ea typeface="+mn-ea"/>
                    <a:cs typeface="+mn-cs"/>
                  </a:rPr>
                  <a:t>−0.25</a:t>
                </a:r>
                <a:r>
                  <a:rPr lang="en-IL" sz="1200" kern="1200" dirty="0">
                    <a:solidFill>
                      <a:schemeClr val="tx1"/>
                    </a:solidFill>
                    <a:effectLst/>
                    <a:latin typeface="+mn-lt"/>
                    <a:ea typeface="+mn-ea"/>
                    <a:cs typeface="+mn-cs"/>
                  </a:rPr>
                  <a:t>and </a:t>
                </a:r>
                <a:r>
                  <a:rPr lang="en-IL" sz="1200" i="0" kern="1200">
                    <a:solidFill>
                      <a:schemeClr val="tx1"/>
                    </a:solidFill>
                    <a:latin typeface="+mn-lt"/>
                    <a:ea typeface="+mn-ea"/>
                    <a:cs typeface="+mn-cs"/>
                  </a:rPr>
                  <a:t>+0.25</a:t>
                </a:r>
                <a:r>
                  <a:rPr lang="en-IL" sz="1200" kern="1200" dirty="0">
                    <a:solidFill>
                      <a:schemeClr val="tx1"/>
                    </a:solidFill>
                    <a:effectLst/>
                    <a:latin typeface="+mn-lt"/>
                    <a:ea typeface="+mn-ea"/>
                    <a:cs typeface="+mn-cs"/>
                  </a:rPr>
                  <a:t>).</a:t>
                </a:r>
              </a:p>
              <a:p>
                <a:pPr lvl="0"/>
                <a:r>
                  <a:rPr lang="en-IL" sz="1200" b="1" kern="1200" dirty="0">
                    <a:solidFill>
                      <a:schemeClr val="tx1"/>
                    </a:solidFill>
                    <a:effectLst/>
                    <a:latin typeface="+mn-lt"/>
                    <a:ea typeface="+mn-ea"/>
                    <a:cs typeface="+mn-cs"/>
                  </a:rPr>
                  <a:t>In Q15 Format:</a:t>
                </a:r>
                <a:r>
                  <a:rPr lang="en-IL" sz="1200" kern="1200" dirty="0">
                    <a:solidFill>
                      <a:schemeClr val="tx1"/>
                    </a:solidFill>
                    <a:effectLst/>
                    <a:latin typeface="+mn-lt"/>
                    <a:ea typeface="+mn-ea"/>
                    <a:cs typeface="+mn-cs"/>
                  </a:rPr>
                  <a:t> Stored as signed 16-bit integers (int16_t) spanning roughly [-8192, 8192]. </a:t>
                </a:r>
              </a:p>
              <a:p>
                <a:r>
                  <a:rPr lang="en-IL" sz="1200" b="1" kern="1200" dirty="0">
                    <a:solidFill>
                      <a:schemeClr val="tx1"/>
                    </a:solidFill>
                    <a:effectLst/>
                    <a:latin typeface="+mn-lt"/>
                    <a:ea typeface="+mn-ea"/>
                    <a:cs typeface="+mn-cs"/>
                  </a:rPr>
                  <a:t>Matrix </a:t>
                </a:r>
                <a:r>
                  <a:rPr lang="en-IL" sz="1200" i="0" kern="1200">
                    <a:solidFill>
                      <a:schemeClr val="tx1"/>
                    </a:solidFill>
                    <a:latin typeface="+mn-lt"/>
                    <a:ea typeface="+mn-ea"/>
                    <a:cs typeface="+mn-cs"/>
                  </a:rPr>
                  <a:t>𝑀</a:t>
                </a:r>
                <a:r>
                  <a:rPr lang="en-IL" sz="1200" b="1" kern="1200" dirty="0">
                    <a:solidFill>
                      <a:schemeClr val="tx1"/>
                    </a:solidFill>
                    <a:effectLst/>
                    <a:latin typeface="+mn-lt"/>
                    <a:ea typeface="+mn-ea"/>
                    <a:cs typeface="+mn-cs"/>
                  </a:rPr>
                  <a:t>(Gaussian QJL Projection Matrix) </a:t>
                </a:r>
              </a:p>
              <a:p>
                <a:pPr lvl="0"/>
                <a:r>
                  <a:rPr lang="en-IL" sz="1200" b="1" kern="1200" dirty="0">
                    <a:solidFill>
                      <a:schemeClr val="tx1"/>
                    </a:solidFill>
                    <a:effectLst/>
                    <a:latin typeface="+mn-lt"/>
                    <a:ea typeface="+mn-ea"/>
                    <a:cs typeface="+mn-cs"/>
                  </a:rPr>
                  <a:t>Shape:</a:t>
                </a:r>
                <a:r>
                  <a:rPr lang="en-IL" sz="1200" kern="1200" dirty="0">
                    <a:solidFill>
                      <a:schemeClr val="tx1"/>
                    </a:solidFill>
                    <a:effectLst/>
                    <a:latin typeface="+mn-lt"/>
                    <a:ea typeface="+mn-ea"/>
                    <a:cs typeface="+mn-cs"/>
                  </a:rPr>
                  <a:t> </a:t>
                </a:r>
                <a:r>
                  <a:rPr lang="en-IL" sz="1200" i="0" kern="1200">
                    <a:solidFill>
                      <a:schemeClr val="tx1"/>
                    </a:solidFill>
                    <a:latin typeface="+mn-lt"/>
                    <a:ea typeface="+mn-ea"/>
                    <a:cs typeface="+mn-cs"/>
                  </a:rPr>
                  <a:t>𝑑×𝑑</a:t>
                </a:r>
                <a:r>
                  <a:rPr lang="en-IL" sz="1200" kern="1200" dirty="0">
                    <a:solidFill>
                      <a:schemeClr val="tx1"/>
                    </a:solidFill>
                    <a:effectLst/>
                    <a:latin typeface="+mn-lt"/>
                    <a:ea typeface="+mn-ea"/>
                    <a:cs typeface="+mn-cs"/>
                  </a:rPr>
                  <a:t>(or </a:t>
                </a:r>
                <a:r>
                  <a:rPr lang="en-IL" sz="1200" i="0" kern="1200">
                    <a:solidFill>
                      <a:schemeClr val="tx1"/>
                    </a:solidFill>
                    <a:latin typeface="+mn-lt"/>
                    <a:ea typeface="+mn-ea"/>
                    <a:cs typeface="+mn-cs"/>
                  </a:rPr>
                  <a:t>𝑚×𝑑</a:t>
                </a:r>
                <a:r>
                  <a:rPr lang="en-IL" sz="1200" kern="1200" dirty="0">
                    <a:solidFill>
                      <a:schemeClr val="tx1"/>
                    </a:solidFill>
                    <a:effectLst/>
                    <a:latin typeface="+mn-lt"/>
                    <a:ea typeface="+mn-ea"/>
                    <a:cs typeface="+mn-cs"/>
                  </a:rPr>
                  <a:t>for </a:t>
                </a:r>
                <a:r>
                  <a:rPr lang="en-IL" sz="1200" i="0" kern="1200">
                    <a:solidFill>
                      <a:schemeClr val="tx1"/>
                    </a:solidFill>
                    <a:latin typeface="+mn-lt"/>
                    <a:ea typeface="+mn-ea"/>
                    <a:cs typeface="+mn-cs"/>
                  </a:rPr>
                  <a:t>𝑚</a:t>
                </a:r>
                <a:r>
                  <a:rPr lang="en-IL" sz="1200" kern="1200" dirty="0">
                    <a:solidFill>
                      <a:schemeClr val="tx1"/>
                    </a:solidFill>
                    <a:effectLst/>
                    <a:latin typeface="+mn-lt"/>
                    <a:ea typeface="+mn-ea"/>
                    <a:cs typeface="+mn-cs"/>
                  </a:rPr>
                  <a:t>residual projection dimensions)[cite: 4]. </a:t>
                </a:r>
              </a:p>
              <a:p>
                <a:pPr lvl="0"/>
                <a:r>
                  <a:rPr lang="en-IL" sz="1200" b="1" kern="1200" dirty="0">
                    <a:solidFill>
                      <a:schemeClr val="tx1"/>
                    </a:solidFill>
                    <a:effectLst/>
                    <a:latin typeface="+mn-lt"/>
                    <a:ea typeface="+mn-ea"/>
                    <a:cs typeface="+mn-cs"/>
                  </a:rPr>
                  <a:t>Properties:</a:t>
                </a:r>
                <a:r>
                  <a:rPr lang="en-IL" sz="1200" kern="1200" dirty="0">
                    <a:solidFill>
                      <a:schemeClr val="tx1"/>
                    </a:solidFill>
                    <a:effectLst/>
                    <a:latin typeface="+mn-lt"/>
                    <a:ea typeface="+mn-ea"/>
                    <a:cs typeface="+mn-cs"/>
                  </a:rPr>
                  <a:t> Independent and identically distributed (</a:t>
                </a:r>
                <a:r>
                  <a:rPr lang="en-IL" sz="1200" kern="1200" dirty="0" err="1">
                    <a:solidFill>
                      <a:schemeClr val="tx1"/>
                    </a:solidFill>
                    <a:effectLst/>
                    <a:latin typeface="+mn-lt"/>
                    <a:ea typeface="+mn-ea"/>
                    <a:cs typeface="+mn-cs"/>
                  </a:rPr>
                  <a:t>i.i.d.</a:t>
                </a:r>
                <a:r>
                  <a:rPr lang="en-IL" sz="1200" kern="1200" dirty="0">
                    <a:solidFill>
                      <a:schemeClr val="tx1"/>
                    </a:solidFill>
                    <a:effectLst/>
                    <a:latin typeface="+mn-lt"/>
                    <a:ea typeface="+mn-ea"/>
                    <a:cs typeface="+mn-cs"/>
                  </a:rPr>
                  <a:t>) standard normal entries:</a:t>
                </a:r>
              </a:p>
              <a:p>
                <a:pPr lvl="0"/>
                <a:r>
                  <a:rPr lang="en-IL" sz="1200" i="0" kern="1200">
                    <a:solidFill>
                      <a:schemeClr val="tx1"/>
                    </a:solidFill>
                    <a:latin typeface="+mn-lt"/>
                    <a:ea typeface="+mn-ea"/>
                    <a:cs typeface="+mn-cs"/>
                  </a:rPr>
                  <a:t>𝑀_(𝑖,𝑗)∼𝒩(0,1)</a:t>
                </a:r>
                <a:endParaRPr lang="en-IL" sz="1200" kern="1200" dirty="0">
                  <a:solidFill>
                    <a:schemeClr val="tx1"/>
                  </a:solidFill>
                  <a:effectLst/>
                  <a:latin typeface="+mn-lt"/>
                  <a:ea typeface="+mn-ea"/>
                  <a:cs typeface="+mn-cs"/>
                </a:endParaRPr>
              </a:p>
              <a:p>
                <a:pPr lvl="0"/>
                <a:r>
                  <a:rPr lang="en-IL" sz="1200" b="1" kern="1200" dirty="0">
                    <a:solidFill>
                      <a:schemeClr val="tx1"/>
                    </a:solidFill>
                    <a:effectLst/>
                    <a:latin typeface="+mn-lt"/>
                    <a:ea typeface="+mn-ea"/>
                    <a:cs typeface="+mn-cs"/>
                  </a:rPr>
                  <a:t>Values:</a:t>
                </a:r>
                <a:r>
                  <a:rPr lang="en-IL" sz="1200" kern="1200" dirty="0">
                    <a:solidFill>
                      <a:schemeClr val="tx1"/>
                    </a:solidFill>
                    <a:effectLst/>
                    <a:latin typeface="+mn-lt"/>
                    <a:ea typeface="+mn-ea"/>
                    <a:cs typeface="+mn-cs"/>
                  </a:rPr>
                  <a:t> A standard Gaussian distribution with values mostly between </a:t>
                </a:r>
                <a:r>
                  <a:rPr lang="en-IL" sz="1200" i="0" kern="1200">
                    <a:solidFill>
                      <a:schemeClr val="tx1"/>
                    </a:solidFill>
                    <a:latin typeface="+mn-lt"/>
                    <a:ea typeface="+mn-ea"/>
                    <a:cs typeface="+mn-cs"/>
                  </a:rPr>
                  <a:t>−3.0</a:t>
                </a:r>
                <a:r>
                  <a:rPr lang="en-IL" sz="1200" kern="1200" dirty="0">
                    <a:solidFill>
                      <a:schemeClr val="tx1"/>
                    </a:solidFill>
                    <a:effectLst/>
                    <a:latin typeface="+mn-lt"/>
                    <a:ea typeface="+mn-ea"/>
                    <a:cs typeface="+mn-cs"/>
                  </a:rPr>
                  <a:t>and </a:t>
                </a:r>
                <a:r>
                  <a:rPr lang="en-IL" sz="1200" i="0" kern="1200">
                    <a:solidFill>
                      <a:schemeClr val="tx1"/>
                    </a:solidFill>
                    <a:latin typeface="+mn-lt"/>
                    <a:ea typeface="+mn-ea"/>
                    <a:cs typeface="+mn-cs"/>
                  </a:rPr>
                  <a:t>+3.0</a:t>
                </a:r>
                <a:r>
                  <a:rPr lang="en-IL" sz="1200" kern="1200" dirty="0">
                    <a:solidFill>
                      <a:schemeClr val="tx1"/>
                    </a:solidFill>
                    <a:effectLst/>
                    <a:latin typeface="+mn-lt"/>
                    <a:ea typeface="+mn-ea"/>
                    <a:cs typeface="+mn-cs"/>
                  </a:rPr>
                  <a:t>.</a:t>
                </a:r>
              </a:p>
              <a:p>
                <a:pPr lvl="0"/>
                <a:r>
                  <a:rPr lang="en-IL" sz="1200" b="1" kern="1200" dirty="0">
                    <a:solidFill>
                      <a:schemeClr val="tx1"/>
                    </a:solidFill>
                    <a:effectLst/>
                    <a:latin typeface="+mn-lt"/>
                    <a:ea typeface="+mn-ea"/>
                    <a:cs typeface="+mn-cs"/>
                  </a:rPr>
                  <a:t>In Q15 Format:</a:t>
                </a:r>
                <a:r>
                  <a:rPr lang="en-IL" sz="1200" kern="1200" dirty="0">
                    <a:solidFill>
                      <a:schemeClr val="tx1"/>
                    </a:solidFill>
                    <a:effectLst/>
                    <a:latin typeface="+mn-lt"/>
                    <a:ea typeface="+mn-ea"/>
                    <a:cs typeface="+mn-cs"/>
                  </a:rPr>
                  <a:t> Scaled and normalized so that multiplying against activations does not cause 32-bit integer overflow during accumulation.</a:t>
                </a:r>
              </a:p>
              <a:p>
                <a:r>
                  <a:rPr lang="en-IL" sz="1200" b="1" kern="1200" dirty="0">
                    <a:solidFill>
                      <a:schemeClr val="tx1"/>
                    </a:solidFill>
                    <a:effectLst/>
                    <a:latin typeface="+mn-lt"/>
                    <a:ea typeface="+mn-ea"/>
                    <a:cs typeface="+mn-cs"/>
                  </a:rPr>
                  <a:t>4. How They Are Created </a:t>
                </a:r>
              </a:p>
              <a:p>
                <a:r>
                  <a:rPr lang="en-IL" sz="1200" kern="1200" dirty="0">
                    <a:solidFill>
                      <a:schemeClr val="tx1"/>
                    </a:solidFill>
                    <a:effectLst/>
                    <a:latin typeface="+mn-lt"/>
                    <a:ea typeface="+mn-ea"/>
                    <a:cs typeface="+mn-cs"/>
                  </a:rPr>
                  <a:t>They are generated offline via an initialization script (typically in Python using NumPy/SciPy) and exported directly as static C header arrays[cite: 5]. </a:t>
                </a:r>
              </a:p>
              <a:p>
                <a:r>
                  <a:rPr lang="en-IL" sz="1200" b="1" kern="1200" dirty="0">
                    <a:solidFill>
                      <a:schemeClr val="tx1"/>
                    </a:solidFill>
                    <a:effectLst/>
                    <a:latin typeface="+mn-lt"/>
                    <a:ea typeface="+mn-ea"/>
                    <a:cs typeface="+mn-cs"/>
                  </a:rPr>
                  <a:t>Mathematical Generation Process </a:t>
                </a:r>
              </a:p>
              <a:p>
                <a:pPr lvl="0"/>
                <a:r>
                  <a:rPr lang="en-IL" sz="1200" b="1" kern="1200" dirty="0">
                    <a:solidFill>
                      <a:schemeClr val="tx1"/>
                    </a:solidFill>
                    <a:effectLst/>
                    <a:latin typeface="+mn-lt"/>
                    <a:ea typeface="+mn-ea"/>
                    <a:cs typeface="+mn-cs"/>
                  </a:rPr>
                  <a:t>Generating the Haar Matrix </a:t>
                </a:r>
                <a:r>
                  <a:rPr lang="en-IL" sz="1200" i="0" kern="1200">
                    <a:solidFill>
                      <a:schemeClr val="tx1"/>
                    </a:solidFill>
                    <a:latin typeface="+mn-lt"/>
                    <a:ea typeface="+mn-ea"/>
                    <a:cs typeface="+mn-cs"/>
                  </a:rPr>
                  <a:t>𝐻</a:t>
                </a:r>
                <a:r>
                  <a:rPr lang="en-IL" sz="1200" b="1" kern="1200" dirty="0">
                    <a:solidFill>
                      <a:schemeClr val="tx1"/>
                    </a:solidFill>
                    <a:effectLst/>
                    <a:latin typeface="+mn-lt"/>
                    <a:ea typeface="+mn-ea"/>
                    <a:cs typeface="+mn-cs"/>
                  </a:rPr>
                  <a:t>via Stewart’s Algorithm (QR Decomposition):</a:t>
                </a:r>
                <a:r>
                  <a:rPr lang="en-IL" sz="1200" kern="1200" dirty="0">
                    <a:solidFill>
                      <a:schemeClr val="tx1"/>
                    </a:solidFill>
                    <a:effectLst/>
                    <a:latin typeface="+mn-lt"/>
                    <a:ea typeface="+mn-ea"/>
                    <a:cs typeface="+mn-cs"/>
                  </a:rPr>
                  <a:t> </a:t>
                </a:r>
              </a:p>
              <a:p>
                <a:pPr lvl="1"/>
                <a:r>
                  <a:rPr lang="en-IL" sz="1200" kern="1200" dirty="0">
                    <a:solidFill>
                      <a:schemeClr val="tx1"/>
                    </a:solidFill>
                    <a:effectLst/>
                    <a:latin typeface="+mn-lt"/>
                    <a:ea typeface="+mn-ea"/>
                    <a:cs typeface="+mn-cs"/>
                  </a:rPr>
                  <a:t>Sample an auxiliary matrix </a:t>
                </a:r>
                <a:r>
                  <a:rPr lang="en-IL" sz="1200" i="0" kern="1200">
                    <a:solidFill>
                      <a:schemeClr val="tx1"/>
                    </a:solidFill>
                    <a:latin typeface="+mn-lt"/>
                    <a:ea typeface="+mn-ea"/>
                    <a:cs typeface="+mn-cs"/>
                  </a:rPr>
                  <a:t>𝐺∈ℝ^(𝑑×𝑑)</a:t>
                </a:r>
                <a:r>
                  <a:rPr lang="en-IL" sz="1200" kern="1200" dirty="0">
                    <a:solidFill>
                      <a:schemeClr val="tx1"/>
                    </a:solidFill>
                    <a:effectLst/>
                    <a:latin typeface="+mn-lt"/>
                    <a:ea typeface="+mn-ea"/>
                    <a:cs typeface="+mn-cs"/>
                  </a:rPr>
                  <a:t>where every entry is drawn from standard normal noise: </a:t>
                </a:r>
                <a:r>
                  <a:rPr lang="en-IL" sz="1200" i="0" kern="1200">
                    <a:solidFill>
                      <a:schemeClr val="tx1"/>
                    </a:solidFill>
                    <a:latin typeface="+mn-lt"/>
                    <a:ea typeface="+mn-ea"/>
                    <a:cs typeface="+mn-cs"/>
                  </a:rPr>
                  <a:t>𝐺_(𝑖,𝑗)∼𝒩(0,1)</a:t>
                </a:r>
                <a:r>
                  <a:rPr lang="en-IL" sz="1200" kern="1200" dirty="0">
                    <a:solidFill>
                      <a:schemeClr val="tx1"/>
                    </a:solidFill>
                    <a:effectLst/>
                    <a:latin typeface="+mn-lt"/>
                    <a:ea typeface="+mn-ea"/>
                    <a:cs typeface="+mn-cs"/>
                  </a:rPr>
                  <a:t>[cite: 5]. </a:t>
                </a:r>
              </a:p>
              <a:p>
                <a:pPr lvl="1"/>
                <a:r>
                  <a:rPr lang="en-IL" sz="1200" kern="1200" dirty="0">
                    <a:solidFill>
                      <a:schemeClr val="tx1"/>
                    </a:solidFill>
                    <a:effectLst/>
                    <a:latin typeface="+mn-lt"/>
                    <a:ea typeface="+mn-ea"/>
                    <a:cs typeface="+mn-cs"/>
                  </a:rPr>
                  <a:t>Compute the QR decomposition:</a:t>
                </a:r>
              </a:p>
              <a:p>
                <a:pPr lvl="1"/>
                <a:r>
                  <a:rPr lang="en-IL" sz="1200" i="0" kern="1200">
                    <a:solidFill>
                      <a:schemeClr val="tx1"/>
                    </a:solidFill>
                    <a:latin typeface="+mn-lt"/>
                    <a:ea typeface="+mn-ea"/>
                    <a:cs typeface="+mn-cs"/>
                  </a:rPr>
                  <a:t>𝐺=𝑄⋅𝑅</a:t>
                </a:r>
                <a:endParaRPr lang="en-IL" sz="1200" kern="1200" dirty="0">
                  <a:solidFill>
                    <a:schemeClr val="tx1"/>
                  </a:solidFill>
                  <a:effectLst/>
                  <a:latin typeface="+mn-lt"/>
                  <a:ea typeface="+mn-ea"/>
                  <a:cs typeface="+mn-cs"/>
                </a:endParaRPr>
              </a:p>
              <a:p>
                <a:pPr lvl="1"/>
                <a:r>
                  <a:rPr lang="en-IL" sz="1200" kern="1200" dirty="0">
                    <a:solidFill>
                      <a:schemeClr val="tx1"/>
                    </a:solidFill>
                    <a:effectLst/>
                    <a:latin typeface="+mn-lt"/>
                    <a:ea typeface="+mn-ea"/>
                    <a:cs typeface="+mn-cs"/>
                  </a:rPr>
                  <a:t>To ensure the distribution is uniformly distributed according to the Haar measure over the orthogonal group </a:t>
                </a:r>
                <a:r>
                  <a:rPr lang="en-IL" sz="1200" i="0" kern="1200">
                    <a:solidFill>
                      <a:schemeClr val="tx1"/>
                    </a:solidFill>
                    <a:latin typeface="+mn-lt"/>
                    <a:ea typeface="+mn-ea"/>
                    <a:cs typeface="+mn-cs"/>
                  </a:rPr>
                  <a:t>𝒪(𝑑)</a:t>
                </a:r>
                <a:r>
                  <a:rPr lang="en-IL" sz="1200" kern="1200" dirty="0">
                    <a:solidFill>
                      <a:schemeClr val="tx1"/>
                    </a:solidFill>
                    <a:effectLst/>
                    <a:latin typeface="+mn-lt"/>
                    <a:ea typeface="+mn-ea"/>
                    <a:cs typeface="+mn-cs"/>
                  </a:rPr>
                  <a:t>, correct the phase signs using the diagonal of </a:t>
                </a:r>
                <a:r>
                  <a:rPr lang="en-IL" sz="1200" i="0" kern="1200">
                    <a:solidFill>
                      <a:schemeClr val="tx1"/>
                    </a:solidFill>
                    <a:latin typeface="+mn-lt"/>
                    <a:ea typeface="+mn-ea"/>
                    <a:cs typeface="+mn-cs"/>
                  </a:rPr>
                  <a:t>𝑅</a:t>
                </a:r>
                <a:r>
                  <a:rPr lang="en-IL" sz="1200" kern="1200" dirty="0">
                    <a:solidFill>
                      <a:schemeClr val="tx1"/>
                    </a:solidFill>
                    <a:effectLst/>
                    <a:latin typeface="+mn-lt"/>
                    <a:ea typeface="+mn-ea"/>
                    <a:cs typeface="+mn-cs"/>
                  </a:rPr>
                  <a:t>:</a:t>
                </a:r>
              </a:p>
              <a:p>
                <a:pPr lvl="1"/>
                <a:r>
                  <a:rPr lang="en-IL" sz="1200" i="0" kern="1200">
                    <a:solidFill>
                      <a:schemeClr val="tx1"/>
                    </a:solidFill>
                    <a:latin typeface="+mn-lt"/>
                    <a:ea typeface="+mn-ea"/>
                    <a:cs typeface="+mn-cs"/>
                  </a:rPr>
                  <a:t>𝐻=𝑄⋅diag⁡(sgn⁡(diag⁡(𝑅) ) )</a:t>
                </a:r>
                <a:endParaRPr lang="en-IL" sz="1200" kern="1200" dirty="0">
                  <a:solidFill>
                    <a:schemeClr val="tx1"/>
                  </a:solidFill>
                  <a:effectLst/>
                  <a:latin typeface="+mn-lt"/>
                  <a:ea typeface="+mn-ea"/>
                  <a:cs typeface="+mn-cs"/>
                </a:endParaRPr>
              </a:p>
              <a:p>
                <a:pPr lvl="1"/>
                <a:r>
                  <a:rPr lang="en-IL" sz="1200" kern="1200" dirty="0">
                    <a:solidFill>
                      <a:schemeClr val="tx1"/>
                    </a:solidFill>
                    <a:effectLst/>
                    <a:latin typeface="+mn-lt"/>
                    <a:ea typeface="+mn-ea"/>
                    <a:cs typeface="+mn-cs"/>
                  </a:rPr>
                  <a:t>Verify that </a:t>
                </a:r>
                <a:r>
                  <a:rPr lang="en-IL" sz="1200" i="0" kern="1200">
                    <a:solidFill>
                      <a:schemeClr val="tx1"/>
                    </a:solidFill>
                    <a:latin typeface="+mn-lt"/>
                    <a:ea typeface="+mn-ea"/>
                    <a:cs typeface="+mn-cs"/>
                  </a:rPr>
                  <a:t>𝐻⋅𝐻^𝑇=𝐼_𝑑</a:t>
                </a:r>
                <a:r>
                  <a:rPr lang="en-IL" sz="1200" kern="1200" dirty="0">
                    <a:solidFill>
                      <a:schemeClr val="tx1"/>
                    </a:solidFill>
                    <a:effectLst/>
                    <a:latin typeface="+mn-lt"/>
                    <a:ea typeface="+mn-ea"/>
                    <a:cs typeface="+mn-cs"/>
                  </a:rPr>
                  <a:t>. </a:t>
                </a:r>
              </a:p>
              <a:p>
                <a:pPr lvl="0"/>
                <a:r>
                  <a:rPr lang="en-IL" sz="1200" b="1" kern="1200" dirty="0">
                    <a:solidFill>
                      <a:schemeClr val="tx1"/>
                    </a:solidFill>
                    <a:effectLst/>
                    <a:latin typeface="+mn-lt"/>
                    <a:ea typeface="+mn-ea"/>
                    <a:cs typeface="+mn-cs"/>
                  </a:rPr>
                  <a:t>Generating the QJL Matrix </a:t>
                </a:r>
                <a:r>
                  <a:rPr lang="en-IL" sz="1200" i="0" kern="1200">
                    <a:solidFill>
                      <a:schemeClr val="tx1"/>
                    </a:solidFill>
                    <a:latin typeface="+mn-lt"/>
                    <a:ea typeface="+mn-ea"/>
                    <a:cs typeface="+mn-cs"/>
                  </a:rPr>
                  <a:t>𝑀</a:t>
                </a:r>
                <a:r>
                  <a:rPr lang="en-IL" sz="1200" b="1" kern="1200" dirty="0">
                    <a:solidFill>
                      <a:schemeClr val="tx1"/>
                    </a:solidFill>
                    <a:effectLst/>
                    <a:latin typeface="+mn-lt"/>
                    <a:ea typeface="+mn-ea"/>
                    <a:cs typeface="+mn-cs"/>
                  </a:rPr>
                  <a:t>:</a:t>
                </a:r>
                <a:r>
                  <a:rPr lang="en-IL" sz="1200" kern="1200" dirty="0">
                    <a:solidFill>
                      <a:schemeClr val="tx1"/>
                    </a:solidFill>
                    <a:effectLst/>
                    <a:latin typeface="+mn-lt"/>
                    <a:ea typeface="+mn-ea"/>
                    <a:cs typeface="+mn-cs"/>
                  </a:rPr>
                  <a:t> </a:t>
                </a:r>
              </a:p>
              <a:p>
                <a:pPr lvl="1"/>
                <a:r>
                  <a:rPr lang="en-IL" sz="1200" kern="1200" dirty="0">
                    <a:solidFill>
                      <a:schemeClr val="tx1"/>
                    </a:solidFill>
                    <a:effectLst/>
                    <a:latin typeface="+mn-lt"/>
                    <a:ea typeface="+mn-ea"/>
                    <a:cs typeface="+mn-cs"/>
                  </a:rPr>
                  <a:t>Sample </a:t>
                </a:r>
                <a:r>
                  <a:rPr lang="en-IL" sz="1200" i="0" kern="1200">
                    <a:solidFill>
                      <a:schemeClr val="tx1"/>
                    </a:solidFill>
                    <a:latin typeface="+mn-lt"/>
                    <a:ea typeface="+mn-ea"/>
                    <a:cs typeface="+mn-cs"/>
                  </a:rPr>
                  <a:t>𝑀∈ℝ^(𝑑×𝑑)</a:t>
                </a:r>
                <a:r>
                  <a:rPr lang="en-IL" sz="1200" kern="1200" dirty="0">
                    <a:solidFill>
                      <a:schemeClr val="tx1"/>
                    </a:solidFill>
                    <a:effectLst/>
                    <a:latin typeface="+mn-lt"/>
                    <a:ea typeface="+mn-ea"/>
                    <a:cs typeface="+mn-cs"/>
                  </a:rPr>
                  <a:t>with </a:t>
                </a:r>
                <a:r>
                  <a:rPr lang="en-IL" sz="1200" kern="1200" dirty="0" err="1">
                    <a:solidFill>
                      <a:schemeClr val="tx1"/>
                    </a:solidFill>
                    <a:effectLst/>
                    <a:latin typeface="+mn-lt"/>
                    <a:ea typeface="+mn-ea"/>
                    <a:cs typeface="+mn-cs"/>
                  </a:rPr>
                  <a:t>i.i.d.</a:t>
                </a:r>
                <a:r>
                  <a:rPr lang="en-IL" sz="1200" kern="1200" dirty="0">
                    <a:solidFill>
                      <a:schemeClr val="tx1"/>
                    </a:solidFill>
                    <a:effectLst/>
                    <a:latin typeface="+mn-lt"/>
                    <a:ea typeface="+mn-ea"/>
                    <a:cs typeface="+mn-cs"/>
                  </a:rPr>
                  <a:t> entries </a:t>
                </a:r>
                <a:r>
                  <a:rPr lang="en-IL" sz="1200" i="0" kern="1200">
                    <a:solidFill>
                      <a:schemeClr val="tx1"/>
                    </a:solidFill>
                    <a:latin typeface="+mn-lt"/>
                    <a:ea typeface="+mn-ea"/>
                    <a:cs typeface="+mn-cs"/>
                  </a:rPr>
                  <a:t>𝑀_(𝑖,𝑗)∼𝒩(0,1)</a:t>
                </a:r>
                <a:r>
                  <a:rPr lang="en-IL" sz="1200" kern="1200" dirty="0">
                    <a:solidFill>
                      <a:schemeClr val="tx1"/>
                    </a:solidFill>
                    <a:effectLst/>
                    <a:latin typeface="+mn-lt"/>
                    <a:ea typeface="+mn-ea"/>
                    <a:cs typeface="+mn-cs"/>
                  </a:rPr>
                  <a:t>using the fixed seed[cite: 5]. </a:t>
                </a:r>
              </a:p>
              <a:p>
                <a:pPr lvl="0"/>
                <a:r>
                  <a:rPr lang="en-IL" sz="1200" b="1" kern="1200" dirty="0">
                    <a:solidFill>
                      <a:schemeClr val="tx1"/>
                    </a:solidFill>
                    <a:effectLst/>
                    <a:latin typeface="+mn-lt"/>
                    <a:ea typeface="+mn-ea"/>
                    <a:cs typeface="+mn-cs"/>
                  </a:rPr>
                  <a:t>Fixed-Point Quantization (Q15):</a:t>
                </a:r>
                <a:endParaRPr lang="en-IL" sz="1200" kern="1200" dirty="0">
                  <a:solidFill>
                    <a:schemeClr val="tx1"/>
                  </a:solidFill>
                  <a:effectLst/>
                  <a:latin typeface="+mn-lt"/>
                  <a:ea typeface="+mn-ea"/>
                  <a:cs typeface="+mn-cs"/>
                </a:endParaRPr>
              </a:p>
              <a:p>
                <a:pPr lvl="1"/>
                <a:r>
                  <a:rPr lang="en-IL" sz="1200" kern="1200" dirty="0">
                    <a:solidFill>
                      <a:schemeClr val="tx1"/>
                    </a:solidFill>
                    <a:effectLst/>
                    <a:latin typeface="+mn-lt"/>
                    <a:ea typeface="+mn-ea"/>
                    <a:cs typeface="+mn-cs"/>
                  </a:rPr>
                  <a:t>Map floating-point values to signed 16-bit integers:</a:t>
                </a:r>
              </a:p>
              <a:p>
                <a:pPr lvl="1"/>
                <a:r>
                  <a:rPr lang="en-IL" sz="1200" i="0" kern="1200">
                    <a:solidFill>
                      <a:schemeClr val="tx1"/>
                    </a:solidFill>
                    <a:latin typeface="Cambria Math" panose="02040503050406030204" pitchFamily="18" charset="0"/>
                    <a:ea typeface="+mn-ea"/>
                    <a:cs typeface="+mn-cs"/>
                  </a:rPr>
                  <a:t>"fixed_val</a:t>
                </a:r>
                <a:r>
                  <a:rPr lang="en-IL" sz="1200" i="0" kern="1200">
                    <a:solidFill>
                      <a:schemeClr val="tx1"/>
                    </a:solidFill>
                    <a:latin typeface="+mn-lt"/>
                    <a:ea typeface="+mn-ea"/>
                    <a:cs typeface="+mn-cs"/>
                  </a:rPr>
                  <a:t>"=clamp⁡(round⁡("float_val" ×32767),−32768,32767)</a:t>
                </a:r>
                <a:endParaRPr lang="en-IL" sz="1200" kern="1200" dirty="0">
                  <a:solidFill>
                    <a:schemeClr val="tx1"/>
                  </a:solidFill>
                  <a:effectLst/>
                  <a:latin typeface="+mn-lt"/>
                  <a:ea typeface="+mn-ea"/>
                  <a:cs typeface="+mn-cs"/>
                </a:endParaRPr>
              </a:p>
              <a:p>
                <a:endParaRPr lang="en-IL" dirty="0"/>
              </a:p>
            </p:txBody>
          </p:sp>
        </mc:Fallback>
      </mc:AlternateContent>
      <p:sp>
        <p:nvSpPr>
          <p:cNvPr id="4" name="Slide Number Placeholder 3"/>
          <p:cNvSpPr>
            <a:spLocks noGrp="1"/>
          </p:cNvSpPr>
          <p:nvPr>
            <p:ph type="sldNum" sz="quarter" idx="5"/>
          </p:nvPr>
        </p:nvSpPr>
        <p:spPr/>
        <p:txBody>
          <a:bodyPr/>
          <a:lstStyle/>
          <a:p>
            <a:fld id="{12BA8379-D9C5-4CE3-8B4D-43AFDCD47F13}" type="slidenum">
              <a:rPr lang="en-IL" smtClean="0"/>
              <a:t>12</a:t>
            </a:fld>
            <a:endParaRPr lang="en-IL"/>
          </a:p>
        </p:txBody>
      </p:sp>
    </p:spTree>
    <p:extLst>
      <p:ext uri="{BB962C8B-B14F-4D97-AF65-F5344CB8AC3E}">
        <p14:creationId xmlns:p14="http://schemas.microsoft.com/office/powerpoint/2010/main" val="3145523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L" sz="1200" b="1" kern="1200" dirty="0">
                <a:solidFill>
                  <a:schemeClr val="tx1"/>
                </a:solidFill>
                <a:effectLst/>
                <a:latin typeface="+mn-lt"/>
                <a:ea typeface="+mn-ea"/>
                <a:cs typeface="+mn-cs"/>
              </a:rPr>
              <a:t>Pipeline</a:t>
            </a:r>
          </a:p>
          <a:p>
            <a:pPr rtl="0"/>
            <a:r>
              <a:rPr lang="en-IL" sz="1200" kern="1200" dirty="0">
                <a:solidFill>
                  <a:schemeClr val="tx1"/>
                </a:solidFill>
                <a:effectLst/>
                <a:latin typeface="+mn-lt"/>
                <a:ea typeface="+mn-ea"/>
                <a:cs typeface="+mn-cs"/>
              </a:rPr>
              <a:t>Instead of bouncing between CPU registers and data memory with scalar loads, your implementation uses an </a:t>
            </a:r>
            <a:r>
              <a:rPr lang="en-IL" sz="1200" b="1" kern="1200" dirty="0">
                <a:solidFill>
                  <a:schemeClr val="tx1"/>
                </a:solidFill>
                <a:effectLst/>
                <a:latin typeface="+mn-lt"/>
                <a:ea typeface="+mn-ea"/>
                <a:cs typeface="+mn-cs"/>
              </a:rPr>
              <a:t>on-chip hardware </a:t>
            </a:r>
            <a:r>
              <a:rPr lang="en-IL" sz="1200" b="1" kern="1200" dirty="0" err="1">
                <a:solidFill>
                  <a:schemeClr val="tx1"/>
                </a:solidFill>
                <a:effectLst/>
                <a:latin typeface="+mn-lt"/>
                <a:ea typeface="+mn-ea"/>
                <a:cs typeface="+mn-cs"/>
              </a:rPr>
              <a:t>datapath</a:t>
            </a:r>
            <a:r>
              <a:rPr lang="en-IL" sz="1200" b="1" kern="1200" dirty="0">
                <a:solidFill>
                  <a:schemeClr val="tx1"/>
                </a:solidFill>
                <a:effectLst/>
                <a:latin typeface="+mn-lt"/>
                <a:ea typeface="+mn-ea"/>
                <a:cs typeface="+mn-cs"/>
              </a:rPr>
              <a:t> with internal TIE state registers and embedded ROM</a:t>
            </a:r>
            <a:r>
              <a:rPr lang="en-IL" sz="1200" kern="1200" dirty="0">
                <a:solidFill>
                  <a:schemeClr val="tx1"/>
                </a:solidFill>
                <a:effectLst/>
                <a:latin typeface="+mn-lt"/>
                <a:ea typeface="+mn-ea"/>
                <a:cs typeface="+mn-cs"/>
              </a:rPr>
              <a:t>[cite: 5, 10, 11]: </a:t>
            </a:r>
          </a:p>
          <a:p>
            <a:pPr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rtl="0"/>
            <a:r>
              <a:rPr lang="en-IL" sz="1200" kern="1200" dirty="0">
                <a:solidFill>
                  <a:schemeClr val="tx1"/>
                </a:solidFill>
                <a:effectLst/>
                <a:latin typeface="+mn-lt"/>
                <a:ea typeface="+mn-ea"/>
                <a:cs typeface="+mn-cs"/>
              </a:rPr>
              <a:t>Plaintext</a:t>
            </a:r>
          </a:p>
          <a:p>
            <a:pPr rtl="0"/>
            <a:r>
              <a:rPr lang="en-IL" sz="1200" b="0" i="0" kern="1200" dirty="0">
                <a:solidFill>
                  <a:schemeClr val="tx1"/>
                </a:solidFill>
                <a:effectLst/>
                <a:latin typeface="+mn-lt"/>
                <a:ea typeface="+mn-ea"/>
                <a:cs typeface="+mn-cs"/>
              </a:rPr>
              <a:t>               ┌────────────────────────────────────────────────────────┐</a:t>
            </a:r>
          </a:p>
          <a:p>
            <a:pPr rtl="0"/>
            <a:r>
              <a:rPr lang="en-IL" sz="1200" b="0" i="0" kern="1200" dirty="0">
                <a:solidFill>
                  <a:schemeClr val="tx1"/>
                </a:solidFill>
                <a:effectLst/>
                <a:latin typeface="+mn-lt"/>
                <a:ea typeface="+mn-ea"/>
                <a:cs typeface="+mn-cs"/>
              </a:rPr>
              <a:t>               │              Actual Pipeline in Your Repo              │</a:t>
            </a:r>
          </a:p>
          <a:p>
            <a:pPr rtl="0"/>
            <a:r>
              <a:rPr lang="en-IL" sz="1200" b="0" i="0" kern="1200" dirty="0">
                <a:solidFill>
                  <a:schemeClr val="tx1"/>
                </a:solidFill>
                <a:effectLst/>
                <a:latin typeface="+mn-lt"/>
                <a:ea typeface="+mn-ea"/>
                <a:cs typeface="+mn-cs"/>
              </a:rPr>
              <a:t>               └────────────────────────────────────────────────────────┘</a:t>
            </a:r>
          </a:p>
          <a:p>
            <a:pPr rtl="0"/>
            <a:endParaRPr lang="en-IL" sz="1200" b="0" i="0" kern="1200" dirty="0">
              <a:solidFill>
                <a:schemeClr val="tx1"/>
              </a:solidFill>
              <a:effectLst/>
              <a:latin typeface="+mn-lt"/>
              <a:ea typeface="+mn-ea"/>
              <a:cs typeface="+mn-cs"/>
            </a:endParaRPr>
          </a:p>
          <a:p>
            <a:pPr rtl="0"/>
            <a:r>
              <a:rPr lang="en-IL" sz="1200" b="0" i="0" kern="1200" dirty="0">
                <a:solidFill>
                  <a:schemeClr val="tx1"/>
                </a:solidFill>
                <a:effectLst/>
                <a:latin typeface="+mn-lt"/>
                <a:ea typeface="+mn-ea"/>
                <a:cs typeface="+mn-cs"/>
              </a:rPr>
              <a:t>  KV-Cache Packed Word (32-bit)</a:t>
            </a:r>
          </a:p>
          <a:p>
            <a:pPr rtl="0"/>
            <a:r>
              <a:rPr lang="en-IL" sz="1200" b="0" i="0" kern="1200" dirty="0">
                <a:solidFill>
                  <a:schemeClr val="tx1"/>
                </a:solidFill>
                <a:effectLst/>
                <a:latin typeface="+mn-lt"/>
                <a:ea typeface="+mn-ea"/>
                <a:cs typeface="+mn-cs"/>
              </a:rPr>
              <a:t>               │</a:t>
            </a:r>
          </a:p>
          <a:p>
            <a:pPr rtl="0"/>
            <a:r>
              <a:rPr lang="en-IL" sz="1200" b="0" i="0" kern="1200" dirty="0">
                <a:solidFill>
                  <a:schemeClr val="tx1"/>
                </a:solidFill>
                <a:effectLst/>
                <a:latin typeface="+mn-lt"/>
                <a:ea typeface="+mn-ea"/>
                <a:cs typeface="+mn-cs"/>
              </a:rPr>
              <a:t>               ▼</a:t>
            </a:r>
          </a:p>
          <a:p>
            <a:pPr rtl="0"/>
            <a:r>
              <a:rPr lang="en-IL" sz="1200" b="0" i="0" kern="1200" dirty="0">
                <a:solidFill>
                  <a:schemeClr val="tx1"/>
                </a:solidFill>
                <a:effectLst/>
                <a:latin typeface="+mn-lt"/>
                <a:ea typeface="+mn-ea"/>
                <a:cs typeface="+mn-cs"/>
              </a:rPr>
              <a:t>      [ TQ_IDX_LOAD ] ──────────────► Writes directly into a TIE State Register</a:t>
            </a:r>
          </a:p>
          <a:p>
            <a:pPr rtl="0"/>
            <a:r>
              <a:rPr lang="en-IL" sz="1200" b="0" i="0" kern="1200" dirty="0">
                <a:solidFill>
                  <a:schemeClr val="tx1"/>
                </a:solidFill>
                <a:effectLst/>
                <a:latin typeface="+mn-lt"/>
                <a:ea typeface="+mn-ea"/>
                <a:cs typeface="+mn-cs"/>
              </a:rPr>
              <a:t>                                      (Zero-cycle unpacking, stays in hardware state)</a:t>
            </a:r>
          </a:p>
          <a:p>
            <a:pPr rtl="0"/>
            <a:r>
              <a:rPr lang="en-IL" sz="1200" b="0" i="0" kern="1200" dirty="0">
                <a:solidFill>
                  <a:schemeClr val="tx1"/>
                </a:solidFill>
                <a:effectLst/>
                <a:latin typeface="+mn-lt"/>
                <a:ea typeface="+mn-ea"/>
                <a:cs typeface="+mn-cs"/>
              </a:rPr>
              <a:t>                                                   │</a:t>
            </a:r>
          </a:p>
          <a:p>
            <a:pPr rtl="0"/>
            <a:r>
              <a:rPr lang="en-IL" sz="1200" b="0" i="0" kern="1200" dirty="0">
                <a:solidFill>
                  <a:schemeClr val="tx1"/>
                </a:solidFill>
                <a:effectLst/>
                <a:latin typeface="+mn-lt"/>
                <a:ea typeface="+mn-ea"/>
                <a:cs typeface="+mn-cs"/>
              </a:rPr>
              <a:t>                                                   ▼</a:t>
            </a:r>
          </a:p>
          <a:p>
            <a:pPr rtl="0"/>
            <a:r>
              <a:rPr lang="en-IL" sz="1200" b="0" i="0" kern="1200" dirty="0">
                <a:solidFill>
                  <a:schemeClr val="tx1"/>
                </a:solidFill>
                <a:effectLst/>
                <a:latin typeface="+mn-lt"/>
                <a:ea typeface="+mn-ea"/>
                <a:cs typeface="+mn-cs"/>
              </a:rPr>
              <a:t>  Query Vector Q (Q15 fixed-point) ──► [ TQ_DECMAC2 (Step 3) ]</a:t>
            </a:r>
          </a:p>
          <a:p>
            <a:pPr rtl="0"/>
            <a:r>
              <a:rPr lang="en-IL" sz="1200" b="0" i="0" kern="1200" dirty="0">
                <a:solidFill>
                  <a:schemeClr val="tx1"/>
                </a:solidFill>
                <a:effectLst/>
                <a:latin typeface="+mn-lt"/>
                <a:ea typeface="+mn-ea"/>
                <a:cs typeface="+mn-cs"/>
              </a:rPr>
              <a:t>                                                   ▲</a:t>
            </a:r>
          </a:p>
          <a:p>
            <a:pPr rtl="0"/>
            <a:r>
              <a:rPr lang="en-IL" sz="1200" b="0" i="0" kern="1200" dirty="0">
                <a:solidFill>
                  <a:schemeClr val="tx1"/>
                </a:solidFill>
                <a:effectLst/>
                <a:latin typeface="+mn-lt"/>
                <a:ea typeface="+mn-ea"/>
                <a:cs typeface="+mn-cs"/>
              </a:rPr>
              <a:t>                                                   │  (Fetches from Hardcoded Hardware ROM)</a:t>
            </a:r>
          </a:p>
          <a:p>
            <a:pPr rtl="0"/>
            <a:r>
              <a:rPr lang="en-IL" sz="1200" b="0" i="0" kern="1200" dirty="0">
                <a:solidFill>
                  <a:schemeClr val="tx1"/>
                </a:solidFill>
                <a:effectLst/>
                <a:latin typeface="+mn-lt"/>
                <a:ea typeface="+mn-ea"/>
                <a:cs typeface="+mn-cs"/>
              </a:rPr>
              <a:t>                                                   │  (2 Parallel MACs per cycle!)</a:t>
            </a:r>
          </a:p>
          <a:p>
            <a:pPr rtl="0"/>
            <a:r>
              <a:rPr lang="en-IL" sz="1200" b="0" i="0" kern="1200" dirty="0">
                <a:solidFill>
                  <a:schemeClr val="tx1"/>
                </a:solidFill>
                <a:effectLst/>
                <a:latin typeface="+mn-lt"/>
                <a:ea typeface="+mn-ea"/>
                <a:cs typeface="+mn-cs"/>
              </a:rPr>
              <a:t>                                                   │</a:t>
            </a:r>
          </a:p>
          <a:p>
            <a:pPr rtl="0"/>
            <a:r>
              <a:rPr lang="en-IL" sz="1200" b="0" i="0" kern="1200" dirty="0">
                <a:solidFill>
                  <a:schemeClr val="tx1"/>
                </a:solidFill>
                <a:effectLst/>
                <a:latin typeface="+mn-lt"/>
                <a:ea typeface="+mn-ea"/>
                <a:cs typeface="+mn-cs"/>
              </a:rPr>
              <a:t>                                      Centroid Hardware ROM</a:t>
            </a:r>
          </a:p>
          <a:p>
            <a:pPr rtl="0"/>
            <a:r>
              <a:rPr lang="en-IL" sz="1200" b="0" i="0" kern="1200" dirty="0">
                <a:solidFill>
                  <a:schemeClr val="tx1"/>
                </a:solidFill>
                <a:effectLst/>
                <a:latin typeface="+mn-lt"/>
                <a:ea typeface="+mn-ea"/>
                <a:cs typeface="+mn-cs"/>
              </a:rPr>
              <a:t>                                                   │</a:t>
            </a:r>
          </a:p>
          <a:p>
            <a:pPr rtl="0"/>
            <a:r>
              <a:rPr lang="en-IL" sz="1200" b="0" i="0" kern="1200" dirty="0">
                <a:solidFill>
                  <a:schemeClr val="tx1"/>
                </a:solidFill>
                <a:effectLst/>
                <a:latin typeface="+mn-lt"/>
                <a:ea typeface="+mn-ea"/>
                <a:cs typeface="+mn-cs"/>
              </a:rPr>
              <a:t>                                                   ▼</a:t>
            </a:r>
          </a:p>
          <a:p>
            <a:pPr rtl="0"/>
            <a:r>
              <a:rPr lang="en-IL" sz="1200" b="0" i="0" kern="1200" dirty="0">
                <a:solidFill>
                  <a:schemeClr val="tx1"/>
                </a:solidFill>
                <a:effectLst/>
                <a:latin typeface="+mn-lt"/>
                <a:ea typeface="+mn-ea"/>
                <a:cs typeface="+mn-cs"/>
              </a:rPr>
              <a:t>                                      Internal Hardware Accumulator</a:t>
            </a:r>
          </a:p>
          <a:p>
            <a:pPr rtl="0"/>
            <a:r>
              <a:rPr lang="en-IL" sz="1200" b="0" i="0" kern="1200" dirty="0">
                <a:solidFill>
                  <a:schemeClr val="tx1"/>
                </a:solidFill>
                <a:effectLst/>
                <a:latin typeface="+mn-lt"/>
                <a:ea typeface="+mn-ea"/>
                <a:cs typeface="+mn-cs"/>
              </a:rPr>
              <a:t>                                                   │</a:t>
            </a:r>
          </a:p>
          <a:p>
            <a:pPr rtl="0"/>
            <a:r>
              <a:rPr lang="en-IL" sz="1200" b="0" i="0" kern="1200" dirty="0">
                <a:solidFill>
                  <a:schemeClr val="tx1"/>
                </a:solidFill>
                <a:effectLst/>
                <a:latin typeface="+mn-lt"/>
                <a:ea typeface="+mn-ea"/>
                <a:cs typeface="+mn-cs"/>
              </a:rPr>
              <a:t>                                                   ▼</a:t>
            </a:r>
          </a:p>
          <a:p>
            <a:pPr rtl="0"/>
            <a:r>
              <a:rPr lang="en-IL" sz="1200" b="0" i="0" kern="1200" dirty="0">
                <a:solidFill>
                  <a:schemeClr val="tx1"/>
                </a:solidFill>
                <a:effectLst/>
                <a:latin typeface="+mn-lt"/>
                <a:ea typeface="+mn-ea"/>
                <a:cs typeface="+mn-cs"/>
              </a:rPr>
              <a:t>                                             [ TQ_ACC_RD ] ──► Final Attention Score</a:t>
            </a:r>
          </a:p>
          <a:p>
            <a:pPr rtl="0"/>
            <a:r>
              <a:rPr lang="en-IL" sz="1200" b="1" kern="1200" dirty="0">
                <a:solidFill>
                  <a:schemeClr val="tx1"/>
                </a:solidFill>
                <a:effectLst/>
                <a:latin typeface="+mn-lt"/>
                <a:ea typeface="+mn-ea"/>
                <a:cs typeface="+mn-cs"/>
              </a:rPr>
              <a:t>Key Differences Between the Diagram and Your Actual Code</a:t>
            </a:r>
          </a:p>
          <a:p>
            <a:pPr rtl="0"/>
            <a:r>
              <a:rPr lang="en-IL" sz="1200" b="1" kern="1200" dirty="0">
                <a:solidFill>
                  <a:schemeClr val="tx1"/>
                </a:solidFill>
                <a:effectLst/>
                <a:latin typeface="+mn-lt"/>
                <a:ea typeface="+mn-ea"/>
                <a:cs typeface="+mn-cs"/>
              </a:rPr>
              <a:t>1. No </a:t>
            </a:r>
            <a:r>
              <a:rPr lang="en-IL" sz="1200" b="0" i="0" kern="1200" dirty="0">
                <a:solidFill>
                  <a:schemeClr val="tx1"/>
                </a:solidFill>
                <a:effectLst/>
                <a:latin typeface="+mn-lt"/>
                <a:ea typeface="+mn-ea"/>
                <a:cs typeface="+mn-cs"/>
              </a:rPr>
              <a:t>L16SI</a:t>
            </a:r>
            <a:r>
              <a:rPr lang="en-IL" sz="1200" b="1" kern="1200" dirty="0">
                <a:solidFill>
                  <a:schemeClr val="tx1"/>
                </a:solidFill>
                <a:effectLst/>
                <a:latin typeface="+mn-lt"/>
                <a:ea typeface="+mn-ea"/>
                <a:cs typeface="+mn-cs"/>
              </a:rPr>
              <a:t> / </a:t>
            </a:r>
            <a:r>
              <a:rPr lang="en-IL" sz="1200" b="0" i="0" kern="1200" dirty="0">
                <a:solidFill>
                  <a:schemeClr val="tx1"/>
                </a:solidFill>
                <a:effectLst/>
                <a:latin typeface="+mn-lt"/>
                <a:ea typeface="+mn-ea"/>
                <a:cs typeface="+mn-cs"/>
              </a:rPr>
              <a:t>L32I</a:t>
            </a:r>
            <a:r>
              <a:rPr lang="en-IL" sz="1200" b="1" kern="1200" dirty="0">
                <a:solidFill>
                  <a:schemeClr val="tx1"/>
                </a:solidFill>
                <a:effectLst/>
                <a:latin typeface="+mn-lt"/>
                <a:ea typeface="+mn-ea"/>
                <a:cs typeface="+mn-cs"/>
              </a:rPr>
              <a:t> Memory Loads from SRAM/DRAM</a:t>
            </a:r>
          </a:p>
          <a:p>
            <a:pPr lvl="0" rtl="0"/>
            <a:r>
              <a:rPr lang="en-IL" sz="1200" b="1" kern="1200" dirty="0">
                <a:solidFill>
                  <a:schemeClr val="tx1"/>
                </a:solidFill>
                <a:effectLst/>
                <a:latin typeface="+mn-lt"/>
                <a:ea typeface="+mn-ea"/>
                <a:cs typeface="+mn-cs"/>
              </a:rPr>
              <a:t>What the previous diagram showed:</a:t>
            </a:r>
            <a:r>
              <a:rPr lang="en-IL" sz="1200" kern="1200" dirty="0">
                <a:solidFill>
                  <a:schemeClr val="tx1"/>
                </a:solidFill>
                <a:effectLst/>
                <a:latin typeface="+mn-lt"/>
                <a:ea typeface="+mn-ea"/>
                <a:cs typeface="+mn-cs"/>
              </a:rPr>
              <a:t> </a:t>
            </a:r>
            <a:r>
              <a:rPr lang="en-IL" sz="1200" b="0" i="0" kern="1200" dirty="0">
                <a:solidFill>
                  <a:schemeClr val="tx1"/>
                </a:solidFill>
                <a:effectLst/>
                <a:latin typeface="+mn-lt"/>
                <a:ea typeface="+mn-ea"/>
                <a:cs typeface="+mn-cs"/>
              </a:rPr>
              <a:t>TQ_IDX_LOAD</a:t>
            </a:r>
            <a:r>
              <a:rPr lang="en-IL" sz="1200" kern="1200" dirty="0">
                <a:solidFill>
                  <a:schemeClr val="tx1"/>
                </a:solidFill>
                <a:effectLst/>
                <a:latin typeface="+mn-lt"/>
                <a:ea typeface="+mn-ea"/>
                <a:cs typeface="+mn-cs"/>
              </a:rPr>
              <a:t> outputs a RAM pointer, and C executes </a:t>
            </a:r>
            <a:r>
              <a:rPr lang="en-IL" sz="1200" b="0" i="0" kern="1200" dirty="0">
                <a:solidFill>
                  <a:schemeClr val="tx1"/>
                </a:solidFill>
                <a:effectLst/>
                <a:latin typeface="+mn-lt"/>
                <a:ea typeface="+mn-ea"/>
                <a:cs typeface="+mn-cs"/>
              </a:rPr>
              <a:t>*(int16_t*)</a:t>
            </a:r>
            <a:r>
              <a:rPr lang="en-IL" sz="1200" b="0" i="0" kern="1200" dirty="0" err="1">
                <a:solidFill>
                  <a:schemeClr val="tx1"/>
                </a:solidFill>
                <a:effectLst/>
                <a:latin typeface="+mn-lt"/>
                <a:ea typeface="+mn-ea"/>
                <a:cs typeface="+mn-cs"/>
              </a:rPr>
              <a:t>cent_addr</a:t>
            </a:r>
            <a:r>
              <a:rPr lang="en-IL" sz="1200" kern="1200" dirty="0">
                <a:solidFill>
                  <a:schemeClr val="tx1"/>
                </a:solidFill>
                <a:effectLst/>
                <a:latin typeface="+mn-lt"/>
                <a:ea typeface="+mn-ea"/>
                <a:cs typeface="+mn-cs"/>
              </a:rPr>
              <a:t> via </a:t>
            </a:r>
            <a:r>
              <a:rPr lang="en-IL" sz="1200" b="0" i="0" kern="1200" dirty="0">
                <a:solidFill>
                  <a:schemeClr val="tx1"/>
                </a:solidFill>
                <a:effectLst/>
                <a:latin typeface="+mn-lt"/>
                <a:ea typeface="+mn-ea"/>
                <a:cs typeface="+mn-cs"/>
              </a:rPr>
              <a:t>L16SI</a:t>
            </a:r>
            <a:r>
              <a:rPr lang="en-IL" sz="1200" kern="1200" dirty="0">
                <a:solidFill>
                  <a:schemeClr val="tx1"/>
                </a:solidFill>
                <a:effectLst/>
                <a:latin typeface="+mn-lt"/>
                <a:ea typeface="+mn-ea"/>
                <a:cs typeface="+mn-cs"/>
              </a:rPr>
              <a:t>. </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What your code actually does:</a:t>
            </a:r>
            <a:r>
              <a:rPr lang="en-IL" sz="1200" kern="1200" dirty="0">
                <a:solidFill>
                  <a:schemeClr val="tx1"/>
                </a:solidFill>
                <a:effectLst/>
                <a:latin typeface="+mn-lt"/>
                <a:ea typeface="+mn-ea"/>
                <a:cs typeface="+mn-cs"/>
              </a:rPr>
              <a:t> There are </a:t>
            </a:r>
            <a:r>
              <a:rPr lang="en-IL" sz="1200" b="1" kern="1200" dirty="0">
                <a:solidFill>
                  <a:schemeClr val="tx1"/>
                </a:solidFill>
                <a:effectLst/>
                <a:latin typeface="+mn-lt"/>
                <a:ea typeface="+mn-ea"/>
                <a:cs typeface="+mn-cs"/>
              </a:rPr>
              <a:t>zero memory load instructions for centroids in the inner loop</a:t>
            </a:r>
            <a:r>
              <a:rPr lang="en-IL" sz="1200" kern="1200" dirty="0">
                <a:solidFill>
                  <a:schemeClr val="tx1"/>
                </a:solidFill>
                <a:effectLst/>
                <a:latin typeface="+mn-lt"/>
                <a:ea typeface="+mn-ea"/>
                <a:cs typeface="+mn-cs"/>
              </a:rPr>
              <a:t>[cite: 10, 11]. The centroids are hardcoded directly into the processor's </a:t>
            </a:r>
            <a:r>
              <a:rPr lang="en-IL" sz="1200" b="1" kern="1200" dirty="0">
                <a:solidFill>
                  <a:schemeClr val="tx1"/>
                </a:solidFill>
                <a:effectLst/>
                <a:latin typeface="+mn-lt"/>
                <a:ea typeface="+mn-ea"/>
                <a:cs typeface="+mn-cs"/>
              </a:rPr>
              <a:t>combinational hardware ROM / lookup logic</a:t>
            </a:r>
            <a:r>
              <a:rPr lang="en-IL" sz="1200" kern="1200" dirty="0">
                <a:solidFill>
                  <a:schemeClr val="tx1"/>
                </a:solidFill>
                <a:effectLst/>
                <a:latin typeface="+mn-lt"/>
                <a:ea typeface="+mn-ea"/>
                <a:cs typeface="+mn-cs"/>
              </a:rPr>
              <a:t>[cite: 11]. The execution unit decodes the values internally without touching the L1 data cache or memory buses[cite: 1, 11]. </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rtl="0"/>
            <a:r>
              <a:rPr lang="en-IL" sz="1200" b="1" kern="1200" dirty="0">
                <a:solidFill>
                  <a:schemeClr val="tx1"/>
                </a:solidFill>
                <a:effectLst/>
                <a:latin typeface="+mn-lt"/>
                <a:ea typeface="+mn-ea"/>
                <a:cs typeface="+mn-cs"/>
              </a:rPr>
              <a:t>2. </a:t>
            </a:r>
            <a:r>
              <a:rPr lang="en-IL" sz="1200" b="0" i="0" kern="1200" dirty="0">
                <a:solidFill>
                  <a:schemeClr val="tx1"/>
                </a:solidFill>
                <a:effectLst/>
                <a:latin typeface="+mn-lt"/>
                <a:ea typeface="+mn-ea"/>
                <a:cs typeface="+mn-cs"/>
              </a:rPr>
              <a:t>TQ_IDX_LOAD</a:t>
            </a:r>
            <a:r>
              <a:rPr lang="en-IL" sz="1200" b="1" kern="1200" dirty="0">
                <a:solidFill>
                  <a:schemeClr val="tx1"/>
                </a:solidFill>
                <a:effectLst/>
                <a:latin typeface="+mn-lt"/>
                <a:ea typeface="+mn-ea"/>
                <a:cs typeface="+mn-cs"/>
              </a:rPr>
              <a:t> Targets a Hardware State Register</a:t>
            </a:r>
          </a:p>
          <a:p>
            <a:pPr lvl="0" rtl="0"/>
            <a:r>
              <a:rPr lang="en-IL" sz="1200" b="1" kern="1200" dirty="0">
                <a:solidFill>
                  <a:schemeClr val="tx1"/>
                </a:solidFill>
                <a:effectLst/>
                <a:latin typeface="+mn-lt"/>
                <a:ea typeface="+mn-ea"/>
                <a:cs typeface="+mn-cs"/>
              </a:rPr>
              <a:t>What the previous diagram showed:</a:t>
            </a:r>
            <a:r>
              <a:rPr lang="en-IL" sz="1200" kern="1200" dirty="0">
                <a:solidFill>
                  <a:schemeClr val="tx1"/>
                </a:solidFill>
                <a:effectLst/>
                <a:latin typeface="+mn-lt"/>
                <a:ea typeface="+mn-ea"/>
                <a:cs typeface="+mn-cs"/>
              </a:rPr>
              <a:t> Outputting a single 32-bit address into a general-purpose register (</a:t>
            </a:r>
            <a:r>
              <a:rPr lang="en-IL" sz="1200" b="0" i="0" kern="1200" dirty="0">
                <a:solidFill>
                  <a:schemeClr val="tx1"/>
                </a:solidFill>
                <a:effectLst/>
                <a:latin typeface="+mn-lt"/>
                <a:ea typeface="+mn-ea"/>
                <a:cs typeface="+mn-cs"/>
              </a:rPr>
              <a:t>out AR </a:t>
            </a:r>
            <a:r>
              <a:rPr lang="en-IL" sz="1200" b="0" i="0" kern="1200" dirty="0" err="1">
                <a:solidFill>
                  <a:schemeClr val="tx1"/>
                </a:solidFill>
                <a:effectLst/>
                <a:latin typeface="+mn-lt"/>
                <a:ea typeface="+mn-ea"/>
                <a:cs typeface="+mn-cs"/>
              </a:rPr>
              <a:t>target_addr</a:t>
            </a:r>
            <a:r>
              <a:rPr lang="en-IL" sz="1200" kern="1200" dirty="0">
                <a:solidFill>
                  <a:schemeClr val="tx1"/>
                </a:solidFill>
                <a:effectLst/>
                <a:latin typeface="+mn-lt"/>
                <a:ea typeface="+mn-ea"/>
                <a:cs typeface="+mn-cs"/>
              </a:rPr>
              <a:t>). </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What your code actually does:</a:t>
            </a:r>
            <a:r>
              <a:rPr lang="en-IL" sz="1200" kern="1200" dirty="0">
                <a:solidFill>
                  <a:schemeClr val="tx1"/>
                </a:solidFill>
                <a:effectLst/>
                <a:latin typeface="+mn-lt"/>
                <a:ea typeface="+mn-ea"/>
                <a:cs typeface="+mn-cs"/>
              </a:rPr>
              <a:t> </a:t>
            </a:r>
            <a:r>
              <a:rPr lang="en-IL" sz="1200" b="0" i="0" kern="1200" dirty="0">
                <a:solidFill>
                  <a:schemeClr val="tx1"/>
                </a:solidFill>
                <a:effectLst/>
                <a:latin typeface="+mn-lt"/>
                <a:ea typeface="+mn-ea"/>
                <a:cs typeface="+mn-cs"/>
              </a:rPr>
              <a:t>TQ_IDX_LOAD</a:t>
            </a:r>
            <a:r>
              <a:rPr lang="en-IL" sz="1200" kern="1200" dirty="0">
                <a:solidFill>
                  <a:schemeClr val="tx1"/>
                </a:solidFill>
                <a:effectLst/>
                <a:latin typeface="+mn-lt"/>
                <a:ea typeface="+mn-ea"/>
                <a:cs typeface="+mn-cs"/>
              </a:rPr>
              <a:t> loads the packed indices directly into an </a:t>
            </a:r>
            <a:r>
              <a:rPr lang="en-IL" sz="1200" b="1" kern="1200" dirty="0">
                <a:solidFill>
                  <a:schemeClr val="tx1"/>
                </a:solidFill>
                <a:effectLst/>
                <a:latin typeface="+mn-lt"/>
                <a:ea typeface="+mn-ea"/>
                <a:cs typeface="+mn-cs"/>
              </a:rPr>
              <a:t>Xtensa TIE internal state register</a:t>
            </a:r>
            <a:r>
              <a:rPr lang="en-IL" sz="1200" kern="1200" dirty="0">
                <a:solidFill>
                  <a:schemeClr val="tx1"/>
                </a:solidFill>
                <a:effectLst/>
                <a:latin typeface="+mn-lt"/>
                <a:ea typeface="+mn-ea"/>
                <a:cs typeface="+mn-cs"/>
              </a:rPr>
              <a:t>[cite: 5, 10]. It unpacks the indices in hardware without needing CPU bit-shifting or pointer arithmetic[cite: 5]. </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rtl="0"/>
            <a:r>
              <a:rPr lang="en-IL" sz="1200" b="1" kern="1200" dirty="0">
                <a:solidFill>
                  <a:schemeClr val="tx1"/>
                </a:solidFill>
                <a:effectLst/>
                <a:latin typeface="+mn-lt"/>
                <a:ea typeface="+mn-ea"/>
                <a:cs typeface="+mn-cs"/>
              </a:rPr>
              <a:t>3. It Does NOT Process Just One Centroid at a Time</a:t>
            </a:r>
          </a:p>
          <a:p>
            <a:pPr lvl="0" rtl="0"/>
            <a:r>
              <a:rPr lang="en-IL" sz="1200" b="1" kern="1200" dirty="0">
                <a:solidFill>
                  <a:schemeClr val="tx1"/>
                </a:solidFill>
                <a:effectLst/>
                <a:latin typeface="+mn-lt"/>
                <a:ea typeface="+mn-ea"/>
                <a:cs typeface="+mn-cs"/>
              </a:rPr>
              <a:t>What the previous response claimed:</a:t>
            </a:r>
            <a:r>
              <a:rPr lang="en-IL" sz="1200" kern="1200" dirty="0">
                <a:solidFill>
                  <a:schemeClr val="tx1"/>
                </a:solidFill>
                <a:effectLst/>
                <a:latin typeface="+mn-lt"/>
                <a:ea typeface="+mn-ea"/>
                <a:cs typeface="+mn-cs"/>
              </a:rPr>
              <a:t> Sequential, 1-index scalar loop.</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b="1" kern="1200" dirty="0">
                <a:solidFill>
                  <a:schemeClr val="tx1"/>
                </a:solidFill>
                <a:effectLst/>
                <a:latin typeface="+mn-lt"/>
                <a:ea typeface="+mn-ea"/>
                <a:cs typeface="+mn-cs"/>
              </a:rPr>
              <a:t>What your code actually does:</a:t>
            </a:r>
            <a:r>
              <a:rPr lang="en-IL" sz="1200" kern="1200" dirty="0">
                <a:solidFill>
                  <a:schemeClr val="tx1"/>
                </a:solidFill>
                <a:effectLst/>
                <a:latin typeface="+mn-lt"/>
                <a:ea typeface="+mn-ea"/>
                <a:cs typeface="+mn-cs"/>
              </a:rPr>
              <a:t> Step 3 (</a:t>
            </a:r>
            <a:r>
              <a:rPr lang="en-IL" sz="1200" b="0" i="0" kern="1200" dirty="0">
                <a:solidFill>
                  <a:schemeClr val="tx1"/>
                </a:solidFill>
                <a:effectLst/>
                <a:latin typeface="+mn-lt"/>
                <a:ea typeface="+mn-ea"/>
                <a:cs typeface="+mn-cs"/>
              </a:rPr>
              <a:t>TQ_DECMAC2</a:t>
            </a:r>
            <a:r>
              <a:rPr lang="en-IL" sz="1200" kern="1200" dirty="0">
                <a:solidFill>
                  <a:schemeClr val="tx1"/>
                </a:solidFill>
                <a:effectLst/>
                <a:latin typeface="+mn-lt"/>
                <a:ea typeface="+mn-ea"/>
                <a:cs typeface="+mn-cs"/>
              </a:rPr>
              <a:t>) operates in </a:t>
            </a:r>
            <a:r>
              <a:rPr lang="en-IL" sz="1200" b="1" kern="1200" dirty="0">
                <a:solidFill>
                  <a:schemeClr val="tx1"/>
                </a:solidFill>
                <a:effectLst/>
                <a:latin typeface="+mn-lt"/>
                <a:ea typeface="+mn-ea"/>
                <a:cs typeface="+mn-cs"/>
              </a:rPr>
              <a:t>parallel (2-way SIMD MAC)</a:t>
            </a:r>
            <a:r>
              <a:rPr lang="en-IL" sz="1200" kern="1200" dirty="0">
                <a:solidFill>
                  <a:schemeClr val="tx1"/>
                </a:solidFill>
                <a:effectLst/>
                <a:latin typeface="+mn-lt"/>
                <a:ea typeface="+mn-ea"/>
                <a:cs typeface="+mn-cs"/>
              </a:rPr>
              <a:t>[cite: 10, 11]. In a single clock cycle, it extracts two indices from the state, fetches both centroids from the internal hardware ROM, multiplies them by two Q15 query elements, and accumulates both results into the hardware accumulator[cite: 10, 11]. </a:t>
            </a: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rtl="0"/>
            <a:r>
              <a:rPr lang="en-IL" sz="1200" b="1" kern="1200" dirty="0">
                <a:solidFill>
                  <a:schemeClr val="tx1"/>
                </a:solidFill>
                <a:effectLst/>
                <a:latin typeface="+mn-lt"/>
                <a:ea typeface="+mn-ea"/>
                <a:cs typeface="+mn-cs"/>
              </a:rPr>
              <a:t>4. Accumulation Stays in Hardware (</a:t>
            </a:r>
            <a:r>
              <a:rPr lang="en-IL" sz="1200" b="0" i="0" kern="1200" dirty="0">
                <a:solidFill>
                  <a:schemeClr val="tx1"/>
                </a:solidFill>
                <a:effectLst/>
                <a:latin typeface="+mn-lt"/>
                <a:ea typeface="+mn-ea"/>
                <a:cs typeface="+mn-cs"/>
              </a:rPr>
              <a:t>TQ_ACC_RD</a:t>
            </a:r>
            <a:r>
              <a:rPr lang="en-IL" sz="1200" b="1" kern="1200" dirty="0">
                <a:solidFill>
                  <a:schemeClr val="tx1"/>
                </a:solidFill>
                <a:effectLst/>
                <a:latin typeface="+mn-lt"/>
                <a:ea typeface="+mn-ea"/>
                <a:cs typeface="+mn-cs"/>
              </a:rPr>
              <a:t>)</a:t>
            </a:r>
          </a:p>
          <a:p>
            <a:pPr lvl="0" rtl="0"/>
            <a:r>
              <a:rPr lang="en-IL" sz="1200" b="1" kern="1200" dirty="0">
                <a:solidFill>
                  <a:schemeClr val="tx1"/>
                </a:solidFill>
                <a:effectLst/>
                <a:latin typeface="+mn-lt"/>
                <a:ea typeface="+mn-ea"/>
                <a:cs typeface="+mn-cs"/>
              </a:rPr>
              <a:t>What your C code actually looks like:</a:t>
            </a:r>
            <a:endParaRPr lang="en-IL" sz="1200" kern="1200" dirty="0">
              <a:solidFill>
                <a:schemeClr val="tx1"/>
              </a:solidFill>
              <a:effectLst/>
              <a:latin typeface="+mn-lt"/>
              <a:ea typeface="+mn-ea"/>
              <a:cs typeface="+mn-cs"/>
            </a:endParaRPr>
          </a:p>
          <a:p>
            <a:pPr lvl="0" rtl="0"/>
            <a:br>
              <a:rPr lang="en-IL" sz="1200" kern="1200" dirty="0">
                <a:solidFill>
                  <a:schemeClr val="tx1"/>
                </a:solidFill>
                <a:effectLst/>
                <a:latin typeface="+mn-lt"/>
                <a:ea typeface="+mn-ea"/>
                <a:cs typeface="+mn-cs"/>
              </a:rPr>
            </a:br>
            <a:endParaRPr lang="en-IL" sz="1200" kern="1200" dirty="0">
              <a:solidFill>
                <a:schemeClr val="tx1"/>
              </a:solidFill>
              <a:effectLst/>
              <a:latin typeface="+mn-lt"/>
              <a:ea typeface="+mn-ea"/>
              <a:cs typeface="+mn-cs"/>
            </a:endParaRPr>
          </a:p>
          <a:p>
            <a:pPr lvl="0" rtl="0"/>
            <a:r>
              <a:rPr lang="en-IL" sz="1200" kern="1200" dirty="0">
                <a:solidFill>
                  <a:schemeClr val="tx1"/>
                </a:solidFill>
                <a:effectLst/>
                <a:latin typeface="+mn-lt"/>
                <a:ea typeface="+mn-ea"/>
                <a:cs typeface="+mn-cs"/>
              </a:rPr>
              <a:t>C</a:t>
            </a:r>
          </a:p>
          <a:p>
            <a:pPr lvl="0" rtl="0"/>
            <a:r>
              <a:rPr lang="en-IL" sz="1200" b="0" i="0" kern="1200" dirty="0">
                <a:solidFill>
                  <a:schemeClr val="tx1"/>
                </a:solidFill>
                <a:effectLst/>
                <a:latin typeface="+mn-lt"/>
                <a:ea typeface="+mn-ea"/>
                <a:cs typeface="+mn-cs"/>
              </a:rPr>
              <a:t>// 1. Load packed index word into hardware state register</a:t>
            </a:r>
          </a:p>
          <a:p>
            <a:pPr lvl="0" rtl="0"/>
            <a:r>
              <a:rPr lang="en-IL" sz="1200" b="0" i="0" kern="1200" dirty="0">
                <a:solidFill>
                  <a:schemeClr val="tx1"/>
                </a:solidFill>
                <a:effectLst/>
                <a:latin typeface="+mn-lt"/>
                <a:ea typeface="+mn-ea"/>
                <a:cs typeface="+mn-cs"/>
              </a:rPr>
              <a:t>TQ_IDX_LOAD(</a:t>
            </a:r>
            <a:r>
              <a:rPr lang="en-IL" sz="1200" b="0" i="0" kern="1200" dirty="0" err="1">
                <a:solidFill>
                  <a:schemeClr val="tx1"/>
                </a:solidFill>
                <a:effectLst/>
                <a:latin typeface="+mn-lt"/>
                <a:ea typeface="+mn-ea"/>
                <a:cs typeface="+mn-cs"/>
              </a:rPr>
              <a:t>packed_indices</a:t>
            </a:r>
            <a:r>
              <a:rPr lang="en-IL" sz="1200" b="0" i="0" kern="1200" dirty="0">
                <a:solidFill>
                  <a:schemeClr val="tx1"/>
                </a:solidFill>
                <a:effectLst/>
                <a:latin typeface="+mn-lt"/>
                <a:ea typeface="+mn-ea"/>
                <a:cs typeface="+mn-cs"/>
              </a:rPr>
              <a:t>);</a:t>
            </a:r>
          </a:p>
          <a:p>
            <a:pPr lvl="0" rtl="0"/>
            <a:endParaRPr lang="en-IL" sz="1200" b="0" i="0" kern="1200" dirty="0">
              <a:solidFill>
                <a:schemeClr val="tx1"/>
              </a:solidFill>
              <a:effectLst/>
              <a:latin typeface="+mn-lt"/>
              <a:ea typeface="+mn-ea"/>
              <a:cs typeface="+mn-cs"/>
            </a:endParaRPr>
          </a:p>
          <a:p>
            <a:pPr lvl="0" rtl="0"/>
            <a:r>
              <a:rPr lang="en-IL" sz="1200" b="0" i="0" kern="1200" dirty="0">
                <a:solidFill>
                  <a:schemeClr val="tx1"/>
                </a:solidFill>
                <a:effectLst/>
                <a:latin typeface="+mn-lt"/>
                <a:ea typeface="+mn-ea"/>
                <a:cs typeface="+mn-cs"/>
              </a:rPr>
              <a:t>// 2. Dual parallel MACs directly using hardware ROM + Query vector</a:t>
            </a:r>
          </a:p>
          <a:p>
            <a:pPr lvl="0" rtl="0"/>
            <a:r>
              <a:rPr lang="en-IL" sz="1200" b="0" i="0" kern="1200" dirty="0">
                <a:solidFill>
                  <a:schemeClr val="tx1"/>
                </a:solidFill>
                <a:effectLst/>
                <a:latin typeface="+mn-lt"/>
                <a:ea typeface="+mn-ea"/>
                <a:cs typeface="+mn-cs"/>
              </a:rPr>
              <a:t>TQ_DECMAC2(q_pair_0);</a:t>
            </a:r>
          </a:p>
          <a:p>
            <a:pPr lvl="0" rtl="0"/>
            <a:r>
              <a:rPr lang="en-IL" sz="1200" b="0" i="0" kern="1200" dirty="0">
                <a:solidFill>
                  <a:schemeClr val="tx1"/>
                </a:solidFill>
                <a:effectLst/>
                <a:latin typeface="+mn-lt"/>
                <a:ea typeface="+mn-ea"/>
                <a:cs typeface="+mn-cs"/>
              </a:rPr>
              <a:t>TQ_DECMAC2(q_pair_1);</a:t>
            </a:r>
          </a:p>
          <a:p>
            <a:pPr lvl="0" rtl="0"/>
            <a:endParaRPr lang="en-IL" sz="1200" b="0" i="0" kern="1200" dirty="0">
              <a:solidFill>
                <a:schemeClr val="tx1"/>
              </a:solidFill>
              <a:effectLst/>
              <a:latin typeface="+mn-lt"/>
              <a:ea typeface="+mn-ea"/>
              <a:cs typeface="+mn-cs"/>
            </a:endParaRPr>
          </a:p>
          <a:p>
            <a:pPr lvl="0" rtl="0"/>
            <a:r>
              <a:rPr lang="en-IL" sz="1200" b="0" i="0" kern="1200" dirty="0">
                <a:solidFill>
                  <a:schemeClr val="tx1"/>
                </a:solidFill>
                <a:effectLst/>
                <a:latin typeface="+mn-lt"/>
                <a:ea typeface="+mn-ea"/>
                <a:cs typeface="+mn-cs"/>
              </a:rPr>
              <a:t>// 3. Read back accumulated dot-product from hardware state</a:t>
            </a:r>
          </a:p>
          <a:p>
            <a:pPr lvl="0" rtl="0"/>
            <a:r>
              <a:rPr lang="en-IL" sz="1200" b="0" i="0" kern="1200" dirty="0">
                <a:solidFill>
                  <a:schemeClr val="tx1"/>
                </a:solidFill>
                <a:effectLst/>
                <a:latin typeface="+mn-lt"/>
                <a:ea typeface="+mn-ea"/>
                <a:cs typeface="+mn-cs"/>
              </a:rPr>
              <a:t>int32_t score = TQ_ACC_RD();</a:t>
            </a:r>
          </a:p>
          <a:p>
            <a:pPr rtl="0"/>
            <a:r>
              <a:rPr lang="en-IL" sz="1200" b="1" kern="1200" dirty="0">
                <a:solidFill>
                  <a:schemeClr val="tx1"/>
                </a:solidFill>
                <a:effectLst/>
                <a:latin typeface="+mn-lt"/>
                <a:ea typeface="+mn-ea"/>
                <a:cs typeface="+mn-cs"/>
              </a:rPr>
              <a:t>Summary </a:t>
            </a:r>
          </a:p>
          <a:p>
            <a:pPr rtl="0"/>
            <a:r>
              <a:rPr lang="en-IL" sz="1200" kern="1200" dirty="0">
                <a:solidFill>
                  <a:schemeClr val="tx1"/>
                </a:solidFill>
                <a:effectLst/>
                <a:latin typeface="+mn-lt"/>
                <a:ea typeface="+mn-ea"/>
                <a:cs typeface="+mn-cs"/>
              </a:rPr>
              <a:t>Your implementation does not suffer from single-port memory bottlenecks or sequential scalar loads[cite: 3, 10, 11]. By coupling </a:t>
            </a:r>
            <a:r>
              <a:rPr lang="en-IL" sz="1200" b="0" i="0" kern="1200" dirty="0">
                <a:solidFill>
                  <a:schemeClr val="tx1"/>
                </a:solidFill>
                <a:effectLst/>
                <a:latin typeface="+mn-lt"/>
                <a:ea typeface="+mn-ea"/>
                <a:cs typeface="+mn-cs"/>
              </a:rPr>
              <a:t>TQ_IDX_LOAD</a:t>
            </a:r>
            <a:r>
              <a:rPr lang="en-IL" sz="1200" b="1" kern="1200" dirty="0">
                <a:solidFill>
                  <a:schemeClr val="tx1"/>
                </a:solidFill>
                <a:effectLst/>
                <a:latin typeface="+mn-lt"/>
                <a:ea typeface="+mn-ea"/>
                <a:cs typeface="+mn-cs"/>
              </a:rPr>
              <a:t> (state register loading)</a:t>
            </a:r>
            <a:r>
              <a:rPr lang="en-IL" sz="1200" kern="1200" dirty="0">
                <a:solidFill>
                  <a:schemeClr val="tx1"/>
                </a:solidFill>
                <a:effectLst/>
                <a:latin typeface="+mn-lt"/>
                <a:ea typeface="+mn-ea"/>
                <a:cs typeface="+mn-cs"/>
              </a:rPr>
              <a:t> with </a:t>
            </a:r>
            <a:r>
              <a:rPr lang="en-IL" sz="1200" b="1" kern="1200" dirty="0">
                <a:solidFill>
                  <a:schemeClr val="tx1"/>
                </a:solidFill>
                <a:effectLst/>
                <a:latin typeface="+mn-lt"/>
                <a:ea typeface="+mn-ea"/>
                <a:cs typeface="+mn-cs"/>
              </a:rPr>
              <a:t>embedded hardware ROM</a:t>
            </a:r>
            <a:r>
              <a:rPr lang="en-IL" sz="1200" kern="1200" dirty="0">
                <a:solidFill>
                  <a:schemeClr val="tx1"/>
                </a:solidFill>
                <a:effectLst/>
                <a:latin typeface="+mn-lt"/>
                <a:ea typeface="+mn-ea"/>
                <a:cs typeface="+mn-cs"/>
              </a:rPr>
              <a:t> and </a:t>
            </a:r>
            <a:r>
              <a:rPr lang="en-IL" sz="1200" b="0" i="0" kern="1200" dirty="0">
                <a:solidFill>
                  <a:schemeClr val="tx1"/>
                </a:solidFill>
                <a:effectLst/>
                <a:latin typeface="+mn-lt"/>
                <a:ea typeface="+mn-ea"/>
                <a:cs typeface="+mn-cs"/>
              </a:rPr>
              <a:t>TQ_DECMAC2</a:t>
            </a:r>
            <a:r>
              <a:rPr lang="en-IL" sz="1200" b="1" kern="1200" dirty="0">
                <a:solidFill>
                  <a:schemeClr val="tx1"/>
                </a:solidFill>
                <a:effectLst/>
                <a:latin typeface="+mn-lt"/>
                <a:ea typeface="+mn-ea"/>
                <a:cs typeface="+mn-cs"/>
              </a:rPr>
              <a:t> (2-way parallel MAC)</a:t>
            </a:r>
            <a:r>
              <a:rPr lang="en-IL" sz="1200" kern="1200" dirty="0">
                <a:solidFill>
                  <a:schemeClr val="tx1"/>
                </a:solidFill>
                <a:effectLst/>
                <a:latin typeface="+mn-lt"/>
                <a:ea typeface="+mn-ea"/>
                <a:cs typeface="+mn-cs"/>
              </a:rPr>
              <a:t>, the entire centroid dequantization, lookup, and dot-product happen </a:t>
            </a:r>
            <a:r>
              <a:rPr lang="en-IL" sz="1200" b="1" kern="1200" dirty="0">
                <a:solidFill>
                  <a:schemeClr val="tx1"/>
                </a:solidFill>
                <a:effectLst/>
                <a:latin typeface="+mn-lt"/>
                <a:ea typeface="+mn-ea"/>
                <a:cs typeface="+mn-cs"/>
              </a:rPr>
              <a:t>in parallel directly inside the execution </a:t>
            </a:r>
            <a:r>
              <a:rPr lang="en-IL" sz="1200" b="1" kern="1200" dirty="0" err="1">
                <a:solidFill>
                  <a:schemeClr val="tx1"/>
                </a:solidFill>
                <a:effectLst/>
                <a:latin typeface="+mn-lt"/>
                <a:ea typeface="+mn-ea"/>
                <a:cs typeface="+mn-cs"/>
              </a:rPr>
              <a:t>datapath</a:t>
            </a:r>
            <a:r>
              <a:rPr lang="en-IL" sz="1200" kern="1200" dirty="0">
                <a:solidFill>
                  <a:schemeClr val="tx1"/>
                </a:solidFill>
                <a:effectLst/>
                <a:latin typeface="+mn-lt"/>
                <a:ea typeface="+mn-ea"/>
                <a:cs typeface="+mn-cs"/>
              </a:rPr>
              <a:t>[cite: 5, 10, 11]. </a:t>
            </a:r>
          </a:p>
        </p:txBody>
      </p:sp>
      <p:sp>
        <p:nvSpPr>
          <p:cNvPr id="4" name="Slide Number Placeholder 3"/>
          <p:cNvSpPr>
            <a:spLocks noGrp="1"/>
          </p:cNvSpPr>
          <p:nvPr>
            <p:ph type="sldNum" sz="quarter" idx="5"/>
          </p:nvPr>
        </p:nvSpPr>
        <p:spPr/>
        <p:txBody>
          <a:bodyPr/>
          <a:lstStyle/>
          <a:p>
            <a:fld id="{12BA8379-D9C5-4CE3-8B4D-43AFDCD47F13}" type="slidenum">
              <a:rPr lang="en-IL" smtClean="0"/>
              <a:t>16</a:t>
            </a:fld>
            <a:endParaRPr lang="en-IL"/>
          </a:p>
        </p:txBody>
      </p:sp>
    </p:spTree>
    <p:extLst>
      <p:ext uri="{BB962C8B-B14F-4D97-AF65-F5344CB8AC3E}">
        <p14:creationId xmlns:p14="http://schemas.microsoft.com/office/powerpoint/2010/main" val="3983370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9679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ounded Rectangle 1"/>
          <p:cNvSpPr/>
          <p:nvPr/>
        </p:nvSpPr>
        <p:spPr>
          <a:xfrm>
            <a:off x="731520" y="731520"/>
            <a:ext cx="10728655" cy="53949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097280"/>
            <a:ext cx="9997135" cy="457200"/>
          </a:xfrm>
          <a:prstGeom prst="rect">
            <a:avLst/>
          </a:prstGeom>
          <a:noFill/>
        </p:spPr>
        <p:txBody>
          <a:bodyPr wrap="square" lIns="0" tIns="0" rIns="0" bIns="0">
            <a:spAutoFit/>
          </a:bodyPr>
          <a:lstStyle/>
          <a:p>
            <a:pPr>
              <a:defRPr sz="1200" b="1">
                <a:solidFill>
                  <a:srgbClr val="2563EB"/>
                </a:solidFill>
                <a:latin typeface="Calibri"/>
              </a:defRPr>
            </a:pPr>
            <a:r>
              <a:t>BAR-ILAN UNIVERSITY  |  FACULTY OF ENGINEERING  |  EnICS LABS</a:t>
            </a:r>
          </a:p>
        </p:txBody>
      </p:sp>
      <p:sp>
        <p:nvSpPr>
          <p:cNvPr id="4" name="TextBox 3"/>
          <p:cNvSpPr txBox="1"/>
          <p:nvPr/>
        </p:nvSpPr>
        <p:spPr>
          <a:xfrm>
            <a:off x="1097280" y="1645920"/>
            <a:ext cx="9997135" cy="1097280"/>
          </a:xfrm>
          <a:prstGeom prst="rect">
            <a:avLst/>
          </a:prstGeom>
          <a:noFill/>
        </p:spPr>
        <p:txBody>
          <a:bodyPr wrap="square" lIns="0" tIns="0" rIns="0" bIns="0">
            <a:spAutoFit/>
          </a:bodyPr>
          <a:lstStyle/>
          <a:p>
            <a:pPr>
              <a:defRPr sz="2800" b="1">
                <a:solidFill>
                  <a:srgbClr val="FFFFFF"/>
                </a:solidFill>
                <a:latin typeface="Georgia"/>
              </a:defRPr>
            </a:pPr>
            <a:r>
              <a:t>Hardware-Software Co-Design for Efficient LLM Inference</a:t>
            </a:r>
          </a:p>
        </p:txBody>
      </p:sp>
      <p:sp>
        <p:nvSpPr>
          <p:cNvPr id="5" name="TextBox 4"/>
          <p:cNvSpPr txBox="1"/>
          <p:nvPr/>
        </p:nvSpPr>
        <p:spPr>
          <a:xfrm>
            <a:off x="1097280" y="2834640"/>
            <a:ext cx="9997135" cy="731520"/>
          </a:xfrm>
          <a:prstGeom prst="rect">
            <a:avLst/>
          </a:prstGeom>
          <a:noFill/>
        </p:spPr>
        <p:txBody>
          <a:bodyPr wrap="square" lIns="0" tIns="0" rIns="0" bIns="0">
            <a:spAutoFit/>
          </a:bodyPr>
          <a:lstStyle/>
          <a:p>
            <a:pPr>
              <a:defRPr sz="1800">
                <a:solidFill>
                  <a:srgbClr val="94A3B8"/>
                </a:solidFill>
                <a:latin typeface="Calibri"/>
              </a:defRPr>
            </a:pPr>
            <a:r>
              <a:t>Accelerating TurboQuant KV-Cache Compression on Cadence Xtensa ASIP Silicon</a:t>
            </a:r>
          </a:p>
        </p:txBody>
      </p:sp>
      <p:sp>
        <p:nvSpPr>
          <p:cNvPr id="6" name="Rectangle 5"/>
          <p:cNvSpPr/>
          <p:nvPr/>
        </p:nvSpPr>
        <p:spPr>
          <a:xfrm>
            <a:off x="1097280" y="3657600"/>
            <a:ext cx="9997135" cy="127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3931920"/>
            <a:ext cx="9997135" cy="836126"/>
          </a:xfrm>
          <a:prstGeom prst="rect">
            <a:avLst/>
          </a:prstGeom>
          <a:noFill/>
        </p:spPr>
        <p:txBody>
          <a:bodyPr wrap="square" lIns="0" tIns="0" rIns="0" bIns="0">
            <a:spAutoFit/>
          </a:bodyPr>
          <a:lstStyle/>
          <a:p>
            <a:pPr>
              <a:spcAft>
                <a:spcPts val="1000"/>
              </a:spcAft>
              <a:defRPr sz="1300" b="1">
                <a:solidFill>
                  <a:srgbClr val="38BDF8"/>
                </a:solidFill>
                <a:latin typeface="Calibri"/>
              </a:defRPr>
            </a:pPr>
            <a:r>
              <a:rPr dirty="0"/>
              <a:t>Project Identifier: PROJECT 304  |  B.Sc. Capstone Thesis in Computer Engineering  |  September 2026</a:t>
            </a:r>
          </a:p>
          <a:p>
            <a:pPr>
              <a:spcAft>
                <a:spcPts val="600"/>
              </a:spcAft>
              <a:defRPr sz="1400">
                <a:solidFill>
                  <a:srgbClr val="F8FAFC"/>
                </a:solidFill>
                <a:latin typeface="Calibri"/>
              </a:defRPr>
            </a:pPr>
            <a:r>
              <a:rPr dirty="0"/>
              <a:t>Authors: Guy Shor (ID 319071031)  &amp;  Yoav </a:t>
            </a:r>
            <a:r>
              <a:rPr dirty="0" err="1"/>
              <a:t>Shainberg</a:t>
            </a:r>
            <a:r>
              <a:rPr dirty="0"/>
              <a:t> (ID 315204867)</a:t>
            </a:r>
          </a:p>
          <a:p>
            <a:pPr>
              <a:defRPr sz="1400">
                <a:solidFill>
                  <a:srgbClr val="CBD5E1"/>
                </a:solidFill>
                <a:latin typeface="Calibri"/>
              </a:defRPr>
            </a:pPr>
            <a:r>
              <a:rPr dirty="0"/>
              <a:t>Academic Supervisor: </a:t>
            </a:r>
            <a:r>
              <a:rPr lang="en-US" dirty="0"/>
              <a:t>Prof</a:t>
            </a:r>
            <a:r>
              <a:rPr dirty="0"/>
              <a:t>. Leonid </a:t>
            </a:r>
            <a:r>
              <a:rPr dirty="0" err="1"/>
              <a:t>Yavits</a:t>
            </a:r>
            <a:r>
              <a:rPr dirty="0"/>
              <a:t>  | Mentor: David Freud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418320" cy="822960"/>
          </a:xfrm>
          <a:prstGeom prst="rect">
            <a:avLst/>
          </a:prstGeom>
          <a:noFill/>
        </p:spPr>
        <p:txBody>
          <a:bodyPr wrap="square" lIns="0" tIns="0" rIns="0" bIns="0">
            <a:spAutoFit/>
          </a:bodyPr>
          <a:lstStyle/>
          <a:p>
            <a:pPr>
              <a:spcAft>
                <a:spcPts val="200"/>
              </a:spcAft>
              <a:defRPr sz="1000" b="1">
                <a:solidFill>
                  <a:srgbClr val="2563EB"/>
                </a:solidFill>
                <a:latin typeface="Calibri"/>
              </a:defRPr>
            </a:pPr>
            <a:r>
              <a:t>1. PROJECT SCOPE</a:t>
            </a:r>
          </a:p>
          <a:p>
            <a:pPr>
              <a:defRPr sz="2200" b="1">
                <a:solidFill>
                  <a:srgbClr val="0F172A"/>
                </a:solidFill>
                <a:latin typeface="Georgia"/>
              </a:defRPr>
            </a:pPr>
            <a:r>
              <a:t>Project 304 Scope &amp; Architectural Evolution</a:t>
            </a:r>
          </a:p>
        </p:txBody>
      </p:sp>
      <p:sp>
        <p:nvSpPr>
          <p:cNvPr id="3" name="Rounded Rectangle 2"/>
          <p:cNvSpPr/>
          <p:nvPr/>
        </p:nvSpPr>
        <p:spPr>
          <a:xfrm>
            <a:off x="10180015" y="365760"/>
            <a:ext cx="146304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t>PROJECT 304</a:t>
            </a:r>
          </a:p>
        </p:txBody>
      </p:sp>
      <p:sp>
        <p:nvSpPr>
          <p:cNvPr id="4" name="Rectangle 3"/>
          <p:cNvSpPr/>
          <p:nvPr/>
        </p:nvSpPr>
        <p:spPr>
          <a:xfrm>
            <a:off x="548640" y="1234440"/>
            <a:ext cx="1109441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463040"/>
            <a:ext cx="5303520"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200"/>
              </a:spcAft>
              <a:defRPr sz="1800" b="1">
                <a:solidFill>
                  <a:srgbClr val="0F172A"/>
                </a:solidFill>
                <a:latin typeface="Georgia"/>
              </a:defRPr>
            </a:pPr>
            <a:r>
              <a:t>Original Mandate (Preparation Report)</a:t>
            </a:r>
          </a:p>
          <a:p>
            <a:pPr>
              <a:spcBef>
                <a:spcPts val="800"/>
              </a:spcBef>
              <a:defRPr sz="1300" b="1">
                <a:solidFill>
                  <a:srgbClr val="2563EB"/>
                </a:solidFill>
              </a:defRPr>
            </a:pPr>
            <a:r>
              <a:t>•  FPGA RTL Focus: </a:t>
            </a:r>
            <a:r>
              <a:rPr b="0">
                <a:solidFill>
                  <a:srgbClr val="111827"/>
                </a:solidFill>
              </a:rPr>
              <a:t>Originally specified as an isolated Microsemi FPGA Verilog accelerator module.</a:t>
            </a:r>
          </a:p>
          <a:p>
            <a:pPr>
              <a:spcBef>
                <a:spcPts val="800"/>
              </a:spcBef>
              <a:defRPr sz="1300" b="1">
                <a:solidFill>
                  <a:srgbClr val="2563EB"/>
                </a:solidFill>
              </a:defRPr>
            </a:pPr>
            <a:r>
              <a:t>•  Isolated GEMM View: </a:t>
            </a:r>
            <a:r>
              <a:rPr b="0">
                <a:solidFill>
                  <a:srgbClr val="111827"/>
                </a:solidFill>
              </a:rPr>
              <a:t>Targeted standalone matrix multiplication without full LLM stack integration.</a:t>
            </a:r>
          </a:p>
          <a:p>
            <a:pPr>
              <a:spcBef>
                <a:spcPts val="800"/>
              </a:spcBef>
              <a:defRPr sz="1300" b="1">
                <a:solidFill>
                  <a:srgbClr val="2563EB"/>
                </a:solidFill>
              </a:defRPr>
            </a:pPr>
            <a:r>
              <a:t>•  Key Limitations Recognized: </a:t>
            </a:r>
            <a:r>
              <a:rPr b="0">
                <a:solidFill>
                  <a:srgbClr val="111827"/>
                </a:solidFill>
              </a:rPr>
              <a:t>Isolated FPGA blocks cannot solve the LLM memory capacity wall without a CPU running tokenization, attention state machines, and KV-cache management.</a:t>
            </a:r>
          </a:p>
        </p:txBody>
      </p:sp>
      <p:sp>
        <p:nvSpPr>
          <p:cNvPr id="6" name="Rounded Rectangle 5"/>
          <p:cNvSpPr/>
          <p:nvPr/>
        </p:nvSpPr>
        <p:spPr>
          <a:xfrm>
            <a:off x="6309360" y="1463040"/>
            <a:ext cx="5303520" cy="484632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200"/>
              </a:spcAft>
              <a:defRPr sz="1800" b="1">
                <a:solidFill>
                  <a:srgbClr val="0F172A"/>
                </a:solidFill>
                <a:latin typeface="Georgia"/>
              </a:defRPr>
            </a:pPr>
            <a:r>
              <a:t>Evolved ASIP Hardware-Software Co-Design</a:t>
            </a:r>
          </a:p>
          <a:p>
            <a:pPr>
              <a:spcBef>
                <a:spcPts val="800"/>
              </a:spcBef>
              <a:defRPr sz="1300" b="1">
                <a:solidFill>
                  <a:srgbClr val="0F172A"/>
                </a:solidFill>
              </a:defRPr>
            </a:pPr>
            <a:r>
              <a:t>•  Cadence Xtensa ASIP Target: </a:t>
            </a:r>
            <a:r>
              <a:rPr b="0">
                <a:solidFill>
                  <a:srgbClr val="111827"/>
                </a:solidFill>
              </a:rPr>
              <a:t>Migrated to a customizable Cadence Xtensa LX core (tie_dev2) utilizing EnICS Labs seats.</a:t>
            </a:r>
          </a:p>
          <a:p>
            <a:pPr>
              <a:spcBef>
                <a:spcPts val="800"/>
              </a:spcBef>
              <a:defRPr sz="1300" b="1">
                <a:solidFill>
                  <a:srgbClr val="0F172A"/>
                </a:solidFill>
              </a:defRPr>
            </a:pPr>
            <a:r>
              <a:t>•  In-Pipeline TIE Instructions: </a:t>
            </a:r>
            <a:r>
              <a:rPr b="0">
                <a:solidFill>
                  <a:srgbClr val="111827"/>
                </a:solidFill>
              </a:rPr>
              <a:t>Synthesized 6 custom Tensilica Instruction Extension (TIE) hardware modules directly into the CPU datapath.</a:t>
            </a:r>
          </a:p>
          <a:p>
            <a:pPr>
              <a:spcBef>
                <a:spcPts val="800"/>
              </a:spcBef>
              <a:defRPr sz="1300" b="1">
                <a:solidFill>
                  <a:srgbClr val="0F172A"/>
                </a:solidFill>
              </a:defRPr>
            </a:pPr>
            <a:r>
              <a:t>•  Bare-Metal C Engine (llama2.c): </a:t>
            </a:r>
            <a:r>
              <a:rPr b="0">
                <a:solidFill>
                  <a:srgbClr val="111827"/>
                </a:solidFill>
              </a:rPr>
              <a:t>Rebuilt Karpathy's llama2.c for Q8_0 weights and 4-bit TurboQuant KV-cache compression.</a:t>
            </a:r>
          </a:p>
          <a:p>
            <a:pPr>
              <a:spcBef>
                <a:spcPts val="800"/>
              </a:spcBef>
              <a:defRPr sz="1300" b="1">
                <a:solidFill>
                  <a:srgbClr val="0F172A"/>
                </a:solidFill>
              </a:defRPr>
            </a:pPr>
            <a:r>
              <a:t>•  Core Outcomes: </a:t>
            </a:r>
            <a:r>
              <a:rPr b="0">
                <a:solidFill>
                  <a:srgbClr val="111827"/>
                </a:solidFill>
              </a:rPr>
              <a:t>Achieved a verified 6.00x KV memory capacity reduction (384 B/token) and projected ~5.10 tok/s at 1.0 GHz integer silicon.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418320" cy="822960"/>
          </a:xfrm>
          <a:prstGeom prst="rect">
            <a:avLst/>
          </a:prstGeom>
          <a:noFill/>
        </p:spPr>
        <p:txBody>
          <a:bodyPr wrap="square" lIns="0" tIns="0" rIns="0" bIns="0">
            <a:spAutoFit/>
          </a:bodyPr>
          <a:lstStyle/>
          <a:p>
            <a:pPr>
              <a:spcAft>
                <a:spcPts val="200"/>
              </a:spcAft>
              <a:defRPr sz="1000" b="1">
                <a:solidFill>
                  <a:srgbClr val="2563EB"/>
                </a:solidFill>
                <a:latin typeface="Calibri"/>
              </a:defRPr>
            </a:pPr>
            <a:r>
              <a:rPr dirty="0"/>
              <a:t>2. PROBLEM STATEMENT</a:t>
            </a:r>
          </a:p>
          <a:p>
            <a:pPr>
              <a:defRPr sz="2200" b="1">
                <a:solidFill>
                  <a:srgbClr val="0F172A"/>
                </a:solidFill>
                <a:latin typeface="Georgia"/>
              </a:defRPr>
            </a:pPr>
            <a:r>
              <a:rPr dirty="0"/>
              <a:t>Framing the Edge AI Challenge: Memory Wall &amp; Compute Wall</a:t>
            </a:r>
          </a:p>
        </p:txBody>
      </p:sp>
      <p:sp>
        <p:nvSpPr>
          <p:cNvPr id="3" name="Rounded Rectangle 2"/>
          <p:cNvSpPr/>
          <p:nvPr/>
        </p:nvSpPr>
        <p:spPr>
          <a:xfrm>
            <a:off x="10180015" y="365760"/>
            <a:ext cx="146304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t>PROJECT 304</a:t>
            </a:r>
          </a:p>
        </p:txBody>
      </p:sp>
      <p:sp>
        <p:nvSpPr>
          <p:cNvPr id="4" name="Rectangle 3"/>
          <p:cNvSpPr/>
          <p:nvPr/>
        </p:nvSpPr>
        <p:spPr>
          <a:xfrm>
            <a:off x="548640" y="1234440"/>
            <a:ext cx="1109441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463040"/>
            <a:ext cx="3474720"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000"/>
              </a:spcAft>
              <a:defRPr sz="1600" b="1">
                <a:solidFill>
                  <a:srgbClr val="0F172A"/>
                </a:solidFill>
                <a:latin typeface="Georgia"/>
              </a:defRPr>
            </a:pPr>
            <a:r>
              <a:rPr dirty="0"/>
              <a:t>1. Memory Capacity Wall</a:t>
            </a:r>
          </a:p>
          <a:p>
            <a:pPr>
              <a:spcBef>
                <a:spcPts val="600"/>
              </a:spcBef>
              <a:defRPr sz="1200">
                <a:solidFill>
                  <a:srgbClr val="111827"/>
                </a:solidFill>
              </a:defRPr>
            </a:pPr>
            <a:r>
              <a:rPr dirty="0"/>
              <a:t>•  Autoregressive decoding emits 1 token per step, accumulating K &amp; V vectors linearly O(N).</a:t>
            </a:r>
          </a:p>
          <a:p>
            <a:pPr>
              <a:spcBef>
                <a:spcPts val="600"/>
              </a:spcBef>
              <a:defRPr sz="1200">
                <a:solidFill>
                  <a:srgbClr val="111827"/>
                </a:solidFill>
              </a:defRPr>
            </a:pPr>
            <a:r>
              <a:rPr dirty="0"/>
              <a:t>•  TinyStories-15M uncompressed FP32 KV-cache requires 2,304 Bytes per token across 6 layers.</a:t>
            </a:r>
          </a:p>
          <a:p>
            <a:pPr>
              <a:spcBef>
                <a:spcPts val="600"/>
              </a:spcBef>
              <a:defRPr sz="1200">
                <a:solidFill>
                  <a:srgbClr val="111827"/>
                </a:solidFill>
              </a:defRPr>
            </a:pPr>
            <a:r>
              <a:rPr dirty="0"/>
              <a:t>•  For 256 tokens, uncompressed KV-cache consumes 3.38 MB.</a:t>
            </a:r>
          </a:p>
          <a:p>
            <a:pPr>
              <a:spcBef>
                <a:spcPts val="600"/>
              </a:spcBef>
              <a:defRPr sz="1200">
                <a:solidFill>
                  <a:srgbClr val="111827"/>
                </a:solidFill>
              </a:defRPr>
            </a:pPr>
            <a:r>
              <a:rPr dirty="0"/>
              <a:t>•  Solution: </a:t>
            </a:r>
            <a:r>
              <a:rPr dirty="0" err="1"/>
              <a:t>TurboQuant</a:t>
            </a:r>
            <a:r>
              <a:rPr dirty="0"/>
              <a:t> 4-bit compression slashes cache to 384 Bytes/token (0.56 MB), enabling long context windows in edge DRAM.</a:t>
            </a:r>
          </a:p>
        </p:txBody>
      </p:sp>
      <p:sp>
        <p:nvSpPr>
          <p:cNvPr id="6" name="Rounded Rectangle 5"/>
          <p:cNvSpPr/>
          <p:nvPr/>
        </p:nvSpPr>
        <p:spPr>
          <a:xfrm>
            <a:off x="4358030" y="1463040"/>
            <a:ext cx="3474720" cy="484632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000"/>
              </a:spcAft>
              <a:defRPr sz="1600" b="1">
                <a:solidFill>
                  <a:srgbClr val="0F172A"/>
                </a:solidFill>
                <a:latin typeface="Georgia"/>
              </a:defRPr>
            </a:pPr>
            <a:r>
              <a:rPr dirty="0"/>
              <a:t>2. FPU-Less Compute Wall</a:t>
            </a:r>
          </a:p>
          <a:p>
            <a:pPr>
              <a:spcBef>
                <a:spcPts val="600"/>
              </a:spcBef>
              <a:defRPr sz="1200">
                <a:solidFill>
                  <a:srgbClr val="111827"/>
                </a:solidFill>
              </a:defRPr>
            </a:pPr>
            <a:r>
              <a:rPr dirty="0"/>
              <a:t>•  Target Xtensa tie_dev2 core lacks a hardware Floating-Point Unit (FPU).</a:t>
            </a:r>
          </a:p>
          <a:p>
            <a:pPr>
              <a:spcBef>
                <a:spcPts val="600"/>
              </a:spcBef>
              <a:defRPr sz="1200">
                <a:solidFill>
                  <a:srgbClr val="111827"/>
                </a:solidFill>
              </a:defRPr>
            </a:pPr>
            <a:r>
              <a:rPr dirty="0"/>
              <a:t>•  Every float operation triggers slow C runtime library calls (__mulsf3, __addsf3).</a:t>
            </a:r>
          </a:p>
          <a:p>
            <a:pPr>
              <a:spcBef>
                <a:spcPts val="600"/>
              </a:spcBef>
              <a:defRPr sz="1200">
                <a:solidFill>
                  <a:srgbClr val="111827"/>
                </a:solidFill>
              </a:defRPr>
            </a:pPr>
            <a:r>
              <a:rPr dirty="0"/>
              <a:t>•  Transcendental calls (</a:t>
            </a:r>
            <a:r>
              <a:rPr dirty="0" err="1"/>
              <a:t>powf</a:t>
            </a:r>
            <a:r>
              <a:rPr dirty="0"/>
              <a:t>, </a:t>
            </a:r>
            <a:r>
              <a:rPr dirty="0" err="1"/>
              <a:t>cosf</a:t>
            </a:r>
            <a:r>
              <a:rPr dirty="0"/>
              <a:t>, </a:t>
            </a:r>
            <a:r>
              <a:rPr dirty="0" err="1"/>
              <a:t>sinf</a:t>
            </a:r>
            <a:r>
              <a:rPr dirty="0"/>
              <a:t>) inside inner loops execute iterative polynomial approximations taking 500+ cycles.</a:t>
            </a:r>
          </a:p>
          <a:p>
            <a:pPr>
              <a:spcBef>
                <a:spcPts val="600"/>
              </a:spcBef>
              <a:defRPr sz="1200">
                <a:solidFill>
                  <a:srgbClr val="111827"/>
                </a:solidFill>
              </a:defRPr>
            </a:pPr>
            <a:r>
              <a:rPr dirty="0"/>
              <a:t>•  Solution: Hardware TIE MACs + algorithmic math factoring + </a:t>
            </a:r>
            <a:r>
              <a:rPr dirty="0" err="1"/>
              <a:t>RoPE</a:t>
            </a:r>
            <a:r>
              <a:rPr dirty="0"/>
              <a:t> LUT precomputation.</a:t>
            </a:r>
          </a:p>
        </p:txBody>
      </p:sp>
      <p:sp>
        <p:nvSpPr>
          <p:cNvPr id="7" name="Rounded Rectangle 6"/>
          <p:cNvSpPr/>
          <p:nvPr/>
        </p:nvSpPr>
        <p:spPr>
          <a:xfrm>
            <a:off x="8168335" y="1463040"/>
            <a:ext cx="3474720"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000"/>
              </a:spcAft>
              <a:defRPr sz="1600" b="1">
                <a:solidFill>
                  <a:srgbClr val="0F172A"/>
                </a:solidFill>
                <a:latin typeface="Georgia"/>
              </a:defRPr>
            </a:pPr>
            <a:r>
              <a:t>3. Alignment &amp; Headroom</a:t>
            </a:r>
          </a:p>
          <a:p>
            <a:pPr>
              <a:spcBef>
                <a:spcPts val="600"/>
              </a:spcBef>
              <a:defRPr sz="1200">
                <a:solidFill>
                  <a:srgbClr val="111827"/>
                </a:solidFill>
              </a:defRPr>
            </a:pPr>
            <a:r>
              <a:t>•  Unaligned Traps: Loading uint32_t from odd or 2-byte boundaries triggers fatal LoadStoreAlignmentCause interrupts.</a:t>
            </a:r>
          </a:p>
          <a:p>
            <a:pPr>
              <a:spcBef>
                <a:spcPts val="600"/>
              </a:spcBef>
              <a:defRPr sz="1200">
                <a:solidFill>
                  <a:srgbClr val="111827"/>
                </a:solidFill>
              </a:defRPr>
            </a:pPr>
            <a:r>
              <a:t>•  Accumulator Overflow: Standard Q15 (32767.0) projections overflow 32-bit registers after 2 multiplications.</a:t>
            </a:r>
          </a:p>
          <a:p>
            <a:pPr>
              <a:spcBef>
                <a:spcPts val="600"/>
              </a:spcBef>
              <a:defRPr sz="1200">
                <a:solidFill>
                  <a:srgbClr val="111827"/>
                </a:solidFill>
              </a:defRPr>
            </a:pPr>
            <a:r>
              <a:t>•  Solution: Q12 scaling (4095.0f) provides 1 bit of sign headroom (48 × 2²⁴ &lt; 2³¹-1).</a:t>
            </a:r>
          </a:p>
          <a:p>
            <a:pPr>
              <a:spcBef>
                <a:spcPts val="600"/>
              </a:spcBef>
              <a:defRPr sz="1200">
                <a:solidFill>
                  <a:srgbClr val="111827"/>
                </a:solidFill>
              </a:defRPr>
            </a:pPr>
            <a:r>
              <a:t>•  GCC Attributes: Enforced __attribute__((aligned(4))) on all stack array buffers.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2036D-21DD-F04B-43BE-D16462587A8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35C48B7-CD40-13F3-70C5-07C0DC0F1B74}"/>
              </a:ext>
            </a:extLst>
          </p:cNvPr>
          <p:cNvSpPr txBox="1"/>
          <p:nvPr/>
        </p:nvSpPr>
        <p:spPr>
          <a:xfrm>
            <a:off x="548640" y="411480"/>
            <a:ext cx="11094415" cy="274320"/>
          </a:xfrm>
          <a:prstGeom prst="rect">
            <a:avLst/>
          </a:prstGeom>
          <a:noFill/>
          <a:ln/>
        </p:spPr>
        <p:txBody>
          <a:bodyPr wrap="square" lIns="0" tIns="0" rIns="0" bIns="0" rtlCol="0" anchor="t"/>
          <a:lstStyle/>
          <a:p>
            <a:pPr marL="0" indent="0" algn="l">
              <a:lnSpc>
                <a:spcPct val="110000"/>
              </a:lnSpc>
              <a:buNone/>
            </a:pPr>
            <a:r>
              <a:rPr lang="en-US" sz="1200" dirty="0" err="1">
                <a:solidFill>
                  <a:srgbClr val="9AA7BE"/>
                </a:solidFill>
                <a:latin typeface="Courier New" pitchFamily="34" charset="0"/>
                <a:ea typeface="Courier New" pitchFamily="34" charset="-122"/>
                <a:cs typeface="Courier New" pitchFamily="34" charset="-120"/>
              </a:rPr>
              <a:t>TurboQuant</a:t>
            </a:r>
            <a:r>
              <a:rPr lang="en-US" sz="1200" dirty="0">
                <a:solidFill>
                  <a:srgbClr val="9AA7BE"/>
                </a:solidFill>
                <a:latin typeface="Courier New" pitchFamily="34" charset="0"/>
                <a:ea typeface="Courier New" pitchFamily="34" charset="-122"/>
                <a:cs typeface="Courier New" pitchFamily="34" charset="-120"/>
              </a:rPr>
              <a:t> advantage</a:t>
            </a:r>
            <a:endParaRPr lang="en-US" sz="1200" dirty="0"/>
          </a:p>
        </p:txBody>
      </p:sp>
      <p:sp>
        <p:nvSpPr>
          <p:cNvPr id="3" name="Text 1">
            <a:extLst>
              <a:ext uri="{FF2B5EF4-FFF2-40B4-BE49-F238E27FC236}">
                <a16:creationId xmlns:a16="http://schemas.microsoft.com/office/drawing/2014/main" id="{E975AD00-D8D5-EC77-1536-5F417BA86E14}"/>
              </a:ext>
            </a:extLst>
          </p:cNvPr>
          <p:cNvSpPr txBox="1"/>
          <p:nvPr/>
        </p:nvSpPr>
        <p:spPr>
          <a:xfrm>
            <a:off x="548640" y="685800"/>
            <a:ext cx="11094415" cy="685800"/>
          </a:xfrm>
          <a:prstGeom prst="rect">
            <a:avLst/>
          </a:prstGeom>
          <a:noFill/>
          <a:ln/>
        </p:spPr>
        <p:txBody>
          <a:bodyPr wrap="square" lIns="0" tIns="0" rIns="0" bIns="0" rtlCol="0" anchor="t"/>
          <a:lstStyle/>
          <a:p>
            <a:pPr marL="0" indent="0" algn="l">
              <a:lnSpc>
                <a:spcPct val="110000"/>
              </a:lnSpc>
              <a:buNone/>
            </a:pPr>
            <a:r>
              <a:rPr lang="en-US" sz="3400" b="1" dirty="0">
                <a:solidFill>
                  <a:srgbClr val="FFFFFF"/>
                </a:solidFill>
                <a:latin typeface="Cambria" pitchFamily="34" charset="0"/>
                <a:ea typeface="Cambria" pitchFamily="34" charset="-122"/>
                <a:cs typeface="Cambria" pitchFamily="34" charset="-120"/>
              </a:rPr>
              <a:t>What the design buys</a:t>
            </a:r>
            <a:endParaRPr lang="en-US" sz="3400" dirty="0"/>
          </a:p>
        </p:txBody>
      </p:sp>
      <p:sp>
        <p:nvSpPr>
          <p:cNvPr id="4" name="Shape 2">
            <a:extLst>
              <a:ext uri="{FF2B5EF4-FFF2-40B4-BE49-F238E27FC236}">
                <a16:creationId xmlns:a16="http://schemas.microsoft.com/office/drawing/2014/main" id="{15789CB8-5F22-A8FA-5AF0-ED56C649957D}"/>
              </a:ext>
            </a:extLst>
          </p:cNvPr>
          <p:cNvSpPr/>
          <p:nvPr/>
        </p:nvSpPr>
        <p:spPr>
          <a:xfrm>
            <a:off x="548640" y="1737360"/>
            <a:ext cx="5394960" cy="2103120"/>
          </a:xfrm>
          <a:prstGeom prst="roundRect">
            <a:avLst>
              <a:gd name="adj" fmla="val 2609"/>
            </a:avLst>
          </a:prstGeom>
          <a:solidFill>
            <a:srgbClr val="1E2E50"/>
          </a:solidFill>
          <a:ln w="12700">
            <a:solidFill>
              <a:srgbClr val="1E2E50"/>
            </a:solidFill>
            <a:prstDash val="solid"/>
          </a:ln>
        </p:spPr>
        <p:txBody>
          <a:bodyPr/>
          <a:lstStyle/>
          <a:p>
            <a:endParaRPr lang="en-IL"/>
          </a:p>
        </p:txBody>
      </p:sp>
      <p:sp>
        <p:nvSpPr>
          <p:cNvPr id="5" name="Shape 3">
            <a:extLst>
              <a:ext uri="{FF2B5EF4-FFF2-40B4-BE49-F238E27FC236}">
                <a16:creationId xmlns:a16="http://schemas.microsoft.com/office/drawing/2014/main" id="{E26EF184-3298-72D0-DD0F-DAE16CCFFB9B}"/>
              </a:ext>
            </a:extLst>
          </p:cNvPr>
          <p:cNvSpPr/>
          <p:nvPr/>
        </p:nvSpPr>
        <p:spPr>
          <a:xfrm>
            <a:off x="868680" y="2103120"/>
            <a:ext cx="292608" cy="292608"/>
          </a:xfrm>
          <a:prstGeom prst="ellipse">
            <a:avLst/>
          </a:prstGeom>
          <a:solidFill>
            <a:srgbClr val="B0661F"/>
          </a:solidFill>
          <a:ln w="12700">
            <a:solidFill>
              <a:srgbClr val="B0661F"/>
            </a:solidFill>
            <a:prstDash val="solid"/>
          </a:ln>
        </p:spPr>
        <p:txBody>
          <a:bodyPr/>
          <a:lstStyle/>
          <a:p>
            <a:endParaRPr lang="en-IL"/>
          </a:p>
        </p:txBody>
      </p:sp>
      <p:sp>
        <p:nvSpPr>
          <p:cNvPr id="6" name="Text 4">
            <a:extLst>
              <a:ext uri="{FF2B5EF4-FFF2-40B4-BE49-F238E27FC236}">
                <a16:creationId xmlns:a16="http://schemas.microsoft.com/office/drawing/2014/main" id="{FBAB6FDC-04A9-E3D5-1AFF-F1F6A4DB728F}"/>
              </a:ext>
            </a:extLst>
          </p:cNvPr>
          <p:cNvSpPr txBox="1"/>
          <p:nvPr/>
        </p:nvSpPr>
        <p:spPr>
          <a:xfrm>
            <a:off x="1325880" y="2039112"/>
            <a:ext cx="4297680" cy="438912"/>
          </a:xfrm>
          <a:prstGeom prst="rect">
            <a:avLst/>
          </a:prstGeom>
          <a:noFill/>
          <a:ln/>
        </p:spPr>
        <p:txBody>
          <a:bodyPr wrap="square" lIns="0" tIns="0" rIns="0" bIns="0" rtlCol="0" anchor="t"/>
          <a:lstStyle/>
          <a:p>
            <a:pPr marL="0" indent="0" algn="l">
              <a:lnSpc>
                <a:spcPct val="110000"/>
              </a:lnSpc>
              <a:buNone/>
            </a:pPr>
            <a:r>
              <a:rPr lang="en-US" sz="2100" b="1" dirty="0">
                <a:solidFill>
                  <a:srgbClr val="FFFFFF"/>
                </a:solidFill>
                <a:latin typeface="Cambria" pitchFamily="34" charset="0"/>
                <a:ea typeface="Cambria" pitchFamily="34" charset="-122"/>
                <a:cs typeface="Cambria" pitchFamily="34" charset="-120"/>
              </a:rPr>
              <a:t>No dequantization in memory</a:t>
            </a:r>
            <a:endParaRPr lang="en-US" sz="2100" dirty="0"/>
          </a:p>
        </p:txBody>
      </p:sp>
      <p:sp>
        <p:nvSpPr>
          <p:cNvPr id="7" name="Text 5">
            <a:extLst>
              <a:ext uri="{FF2B5EF4-FFF2-40B4-BE49-F238E27FC236}">
                <a16:creationId xmlns:a16="http://schemas.microsoft.com/office/drawing/2014/main" id="{C305F557-04F0-AB0F-2460-C4D1AF345136}"/>
              </a:ext>
            </a:extLst>
          </p:cNvPr>
          <p:cNvSpPr txBox="1"/>
          <p:nvPr/>
        </p:nvSpPr>
        <p:spPr>
          <a:xfrm>
            <a:off x="1325880" y="2606040"/>
            <a:ext cx="4297680" cy="1097280"/>
          </a:xfrm>
          <a:prstGeom prst="rect">
            <a:avLst/>
          </a:prstGeom>
          <a:noFill/>
          <a:ln/>
        </p:spPr>
        <p:txBody>
          <a:bodyPr wrap="square" lIns="0" tIns="0" rIns="0" bIns="0" rtlCol="0" anchor="t"/>
          <a:lstStyle/>
          <a:p>
            <a:pPr marL="0" indent="0" algn="l">
              <a:lnSpc>
                <a:spcPct val="125000"/>
              </a:lnSpc>
              <a:buNone/>
            </a:pPr>
            <a:r>
              <a:rPr lang="en-US" sz="1450" dirty="0">
                <a:solidFill>
                  <a:srgbClr val="C9D1DC"/>
                </a:solidFill>
                <a:latin typeface="Calibri" pitchFamily="34" charset="0"/>
                <a:ea typeface="Calibri" pitchFamily="34" charset="-122"/>
                <a:cs typeface="Calibri" pitchFamily="34" charset="-120"/>
              </a:rPr>
              <a:t>Centroids and residual signs are scored inside hardware registers. Full FP32 vectors are never rebuilt in DRAM or SRAM.</a:t>
            </a:r>
            <a:endParaRPr lang="en-US" sz="1450" dirty="0"/>
          </a:p>
        </p:txBody>
      </p:sp>
      <p:sp>
        <p:nvSpPr>
          <p:cNvPr id="8" name="Shape 6">
            <a:extLst>
              <a:ext uri="{FF2B5EF4-FFF2-40B4-BE49-F238E27FC236}">
                <a16:creationId xmlns:a16="http://schemas.microsoft.com/office/drawing/2014/main" id="{B1921B7B-CDE6-3839-44B9-7B91AC280061}"/>
              </a:ext>
            </a:extLst>
          </p:cNvPr>
          <p:cNvSpPr/>
          <p:nvPr/>
        </p:nvSpPr>
        <p:spPr>
          <a:xfrm>
            <a:off x="6245352" y="1737360"/>
            <a:ext cx="5394960" cy="2103120"/>
          </a:xfrm>
          <a:prstGeom prst="roundRect">
            <a:avLst>
              <a:gd name="adj" fmla="val 2609"/>
            </a:avLst>
          </a:prstGeom>
          <a:solidFill>
            <a:srgbClr val="1E2E50"/>
          </a:solidFill>
          <a:ln w="12700">
            <a:solidFill>
              <a:srgbClr val="1E2E50"/>
            </a:solidFill>
            <a:prstDash val="solid"/>
          </a:ln>
        </p:spPr>
        <p:txBody>
          <a:bodyPr/>
          <a:lstStyle/>
          <a:p>
            <a:endParaRPr lang="en-IL"/>
          </a:p>
        </p:txBody>
      </p:sp>
      <p:sp>
        <p:nvSpPr>
          <p:cNvPr id="9" name="Shape 7">
            <a:extLst>
              <a:ext uri="{FF2B5EF4-FFF2-40B4-BE49-F238E27FC236}">
                <a16:creationId xmlns:a16="http://schemas.microsoft.com/office/drawing/2014/main" id="{FD474EAE-6715-4024-D765-41D29EC3A6FA}"/>
              </a:ext>
            </a:extLst>
          </p:cNvPr>
          <p:cNvSpPr/>
          <p:nvPr/>
        </p:nvSpPr>
        <p:spPr>
          <a:xfrm>
            <a:off x="6565392" y="2103120"/>
            <a:ext cx="292608" cy="292608"/>
          </a:xfrm>
          <a:prstGeom prst="ellipse">
            <a:avLst/>
          </a:prstGeom>
          <a:solidFill>
            <a:srgbClr val="2FA3A0"/>
          </a:solidFill>
          <a:ln w="12700">
            <a:solidFill>
              <a:srgbClr val="2FA3A0"/>
            </a:solidFill>
            <a:prstDash val="solid"/>
          </a:ln>
        </p:spPr>
        <p:txBody>
          <a:bodyPr/>
          <a:lstStyle/>
          <a:p>
            <a:endParaRPr lang="en-IL"/>
          </a:p>
        </p:txBody>
      </p:sp>
      <p:sp>
        <p:nvSpPr>
          <p:cNvPr id="10" name="Text 8">
            <a:extLst>
              <a:ext uri="{FF2B5EF4-FFF2-40B4-BE49-F238E27FC236}">
                <a16:creationId xmlns:a16="http://schemas.microsoft.com/office/drawing/2014/main" id="{FBFBEB61-6785-1903-FDF3-858F0B7FD585}"/>
              </a:ext>
            </a:extLst>
          </p:cNvPr>
          <p:cNvSpPr txBox="1"/>
          <p:nvPr/>
        </p:nvSpPr>
        <p:spPr>
          <a:xfrm>
            <a:off x="7022592" y="2039112"/>
            <a:ext cx="4297680" cy="438912"/>
          </a:xfrm>
          <a:prstGeom prst="rect">
            <a:avLst/>
          </a:prstGeom>
          <a:noFill/>
          <a:ln/>
        </p:spPr>
        <p:txBody>
          <a:bodyPr wrap="square" lIns="0" tIns="0" rIns="0" bIns="0" rtlCol="0" anchor="t"/>
          <a:lstStyle/>
          <a:p>
            <a:pPr marL="0" indent="0" algn="l">
              <a:lnSpc>
                <a:spcPct val="110000"/>
              </a:lnSpc>
              <a:buNone/>
            </a:pPr>
            <a:r>
              <a:rPr lang="en-US" sz="2100" b="1" dirty="0">
                <a:solidFill>
                  <a:srgbClr val="FFFFFF"/>
                </a:solidFill>
                <a:latin typeface="Cambria" pitchFamily="34" charset="0"/>
                <a:ea typeface="Cambria" pitchFamily="34" charset="-122"/>
                <a:cs typeface="Cambria" pitchFamily="34" charset="-120"/>
              </a:rPr>
              <a:t>No load-use stalls</a:t>
            </a:r>
            <a:endParaRPr lang="en-US" sz="2100" dirty="0"/>
          </a:p>
        </p:txBody>
      </p:sp>
      <p:sp>
        <p:nvSpPr>
          <p:cNvPr id="11" name="Text 9">
            <a:extLst>
              <a:ext uri="{FF2B5EF4-FFF2-40B4-BE49-F238E27FC236}">
                <a16:creationId xmlns:a16="http://schemas.microsoft.com/office/drawing/2014/main" id="{8E6AE2C1-9191-08FC-9F7E-039A799C3190}"/>
              </a:ext>
            </a:extLst>
          </p:cNvPr>
          <p:cNvSpPr txBox="1"/>
          <p:nvPr/>
        </p:nvSpPr>
        <p:spPr>
          <a:xfrm>
            <a:off x="7022592" y="2606040"/>
            <a:ext cx="4297680" cy="1097280"/>
          </a:xfrm>
          <a:prstGeom prst="rect">
            <a:avLst/>
          </a:prstGeom>
          <a:noFill/>
          <a:ln/>
        </p:spPr>
        <p:txBody>
          <a:bodyPr wrap="square" lIns="0" tIns="0" rIns="0" bIns="0" rtlCol="0" anchor="t"/>
          <a:lstStyle/>
          <a:p>
            <a:pPr marL="0" indent="0" algn="l">
              <a:lnSpc>
                <a:spcPct val="125000"/>
              </a:lnSpc>
              <a:buNone/>
            </a:pPr>
            <a:r>
              <a:rPr lang="en-US" sz="1450" dirty="0">
                <a:solidFill>
                  <a:srgbClr val="C9D1DC"/>
                </a:solidFill>
                <a:latin typeface="Calibri" pitchFamily="34" charset="0"/>
                <a:ea typeface="Calibri" pitchFamily="34" charset="-122"/>
                <a:cs typeface="Calibri" pitchFamily="34" charset="-120"/>
              </a:rPr>
              <a:t>Centroids live in combinational silicon ROM decoders (tq_get_cent), so there is no memory read latency and no L1 cache pollution.</a:t>
            </a:r>
            <a:endParaRPr lang="en-US" sz="1450" dirty="0"/>
          </a:p>
        </p:txBody>
      </p:sp>
      <p:sp>
        <p:nvSpPr>
          <p:cNvPr id="12" name="Shape 10">
            <a:extLst>
              <a:ext uri="{FF2B5EF4-FFF2-40B4-BE49-F238E27FC236}">
                <a16:creationId xmlns:a16="http://schemas.microsoft.com/office/drawing/2014/main" id="{DFA63D0B-A7CB-125E-EBA9-222E990D9EED}"/>
              </a:ext>
            </a:extLst>
          </p:cNvPr>
          <p:cNvSpPr/>
          <p:nvPr/>
        </p:nvSpPr>
        <p:spPr>
          <a:xfrm>
            <a:off x="548640" y="4114800"/>
            <a:ext cx="5394960" cy="2103120"/>
          </a:xfrm>
          <a:prstGeom prst="roundRect">
            <a:avLst>
              <a:gd name="adj" fmla="val 2609"/>
            </a:avLst>
          </a:prstGeom>
          <a:solidFill>
            <a:srgbClr val="1E2E50"/>
          </a:solidFill>
          <a:ln w="12700">
            <a:solidFill>
              <a:srgbClr val="1E2E50"/>
            </a:solidFill>
            <a:prstDash val="solid"/>
          </a:ln>
        </p:spPr>
        <p:txBody>
          <a:bodyPr/>
          <a:lstStyle/>
          <a:p>
            <a:endParaRPr lang="en-IL"/>
          </a:p>
        </p:txBody>
      </p:sp>
      <p:sp>
        <p:nvSpPr>
          <p:cNvPr id="13" name="Shape 11">
            <a:extLst>
              <a:ext uri="{FF2B5EF4-FFF2-40B4-BE49-F238E27FC236}">
                <a16:creationId xmlns:a16="http://schemas.microsoft.com/office/drawing/2014/main" id="{86F19F68-7B3E-F84E-911A-84BE49394F07}"/>
              </a:ext>
            </a:extLst>
          </p:cNvPr>
          <p:cNvSpPr/>
          <p:nvPr/>
        </p:nvSpPr>
        <p:spPr>
          <a:xfrm>
            <a:off x="868680" y="4480560"/>
            <a:ext cx="292608" cy="292608"/>
          </a:xfrm>
          <a:prstGeom prst="ellipse">
            <a:avLst/>
          </a:prstGeom>
          <a:solidFill>
            <a:srgbClr val="8E80D8"/>
          </a:solidFill>
          <a:ln w="12700">
            <a:solidFill>
              <a:srgbClr val="8E80D8"/>
            </a:solidFill>
            <a:prstDash val="solid"/>
          </a:ln>
        </p:spPr>
        <p:txBody>
          <a:bodyPr/>
          <a:lstStyle/>
          <a:p>
            <a:endParaRPr lang="en-IL"/>
          </a:p>
        </p:txBody>
      </p:sp>
      <p:sp>
        <p:nvSpPr>
          <p:cNvPr id="14" name="Text 12">
            <a:extLst>
              <a:ext uri="{FF2B5EF4-FFF2-40B4-BE49-F238E27FC236}">
                <a16:creationId xmlns:a16="http://schemas.microsoft.com/office/drawing/2014/main" id="{41F9389B-8BC4-F956-085F-A928399E283A}"/>
              </a:ext>
            </a:extLst>
          </p:cNvPr>
          <p:cNvSpPr txBox="1"/>
          <p:nvPr/>
        </p:nvSpPr>
        <p:spPr>
          <a:xfrm>
            <a:off x="1325880" y="4416552"/>
            <a:ext cx="4297680" cy="438912"/>
          </a:xfrm>
          <a:prstGeom prst="rect">
            <a:avLst/>
          </a:prstGeom>
          <a:noFill/>
          <a:ln/>
        </p:spPr>
        <p:txBody>
          <a:bodyPr wrap="square" lIns="0" tIns="0" rIns="0" bIns="0" rtlCol="0" anchor="t"/>
          <a:lstStyle/>
          <a:p>
            <a:pPr marL="0" indent="0" algn="l">
              <a:lnSpc>
                <a:spcPct val="110000"/>
              </a:lnSpc>
              <a:buNone/>
            </a:pPr>
            <a:r>
              <a:rPr lang="en-US" sz="2100" b="1" dirty="0">
                <a:solidFill>
                  <a:srgbClr val="FFFFFF"/>
                </a:solidFill>
                <a:latin typeface="Cambria" pitchFamily="34" charset="0"/>
                <a:ea typeface="Cambria" pitchFamily="34" charset="-122"/>
                <a:cs typeface="Cambria" pitchFamily="34" charset="-120"/>
              </a:rPr>
              <a:t>No branch mispredictions</a:t>
            </a:r>
            <a:endParaRPr lang="en-US" sz="2100" dirty="0"/>
          </a:p>
        </p:txBody>
      </p:sp>
      <p:sp>
        <p:nvSpPr>
          <p:cNvPr id="15" name="Text 13">
            <a:extLst>
              <a:ext uri="{FF2B5EF4-FFF2-40B4-BE49-F238E27FC236}">
                <a16:creationId xmlns:a16="http://schemas.microsoft.com/office/drawing/2014/main" id="{40A05493-30D7-614C-40B2-18756918EBC5}"/>
              </a:ext>
            </a:extLst>
          </p:cNvPr>
          <p:cNvSpPr txBox="1"/>
          <p:nvPr/>
        </p:nvSpPr>
        <p:spPr>
          <a:xfrm>
            <a:off x="1325880" y="4983480"/>
            <a:ext cx="4297680" cy="1097280"/>
          </a:xfrm>
          <a:prstGeom prst="rect">
            <a:avLst/>
          </a:prstGeom>
          <a:noFill/>
          <a:ln/>
        </p:spPr>
        <p:txBody>
          <a:bodyPr wrap="square" lIns="0" tIns="0" rIns="0" bIns="0" rtlCol="0" anchor="t"/>
          <a:lstStyle/>
          <a:p>
            <a:pPr marL="0" indent="0" algn="l">
              <a:lnSpc>
                <a:spcPct val="125000"/>
              </a:lnSpc>
              <a:buNone/>
            </a:pPr>
            <a:r>
              <a:rPr lang="en-US" sz="1450" dirty="0">
                <a:solidFill>
                  <a:srgbClr val="C9D1DC"/>
                </a:solidFill>
                <a:latin typeface="Calibri" pitchFamily="34" charset="0"/>
                <a:ea typeface="Calibri" pitchFamily="34" charset="-122"/>
                <a:cs typeface="Calibri" pitchFamily="34" charset="-120"/>
              </a:rPr>
              <a:t>Data-dependent sign adjustments are resolved by combinational datapath multiplexing in TQ_SGNACC2, not by branches.</a:t>
            </a:r>
            <a:endParaRPr lang="en-US" sz="1450" dirty="0"/>
          </a:p>
        </p:txBody>
      </p:sp>
      <p:sp>
        <p:nvSpPr>
          <p:cNvPr id="16" name="Shape 14">
            <a:extLst>
              <a:ext uri="{FF2B5EF4-FFF2-40B4-BE49-F238E27FC236}">
                <a16:creationId xmlns:a16="http://schemas.microsoft.com/office/drawing/2014/main" id="{D058B05F-FB94-0CBB-A753-32725514888F}"/>
              </a:ext>
            </a:extLst>
          </p:cNvPr>
          <p:cNvSpPr/>
          <p:nvPr/>
        </p:nvSpPr>
        <p:spPr>
          <a:xfrm>
            <a:off x="6245352" y="4114800"/>
            <a:ext cx="5394960" cy="2103120"/>
          </a:xfrm>
          <a:prstGeom prst="roundRect">
            <a:avLst>
              <a:gd name="adj" fmla="val 2609"/>
            </a:avLst>
          </a:prstGeom>
          <a:solidFill>
            <a:srgbClr val="1E2E50"/>
          </a:solidFill>
          <a:ln w="12700">
            <a:solidFill>
              <a:srgbClr val="1E2E50"/>
            </a:solidFill>
            <a:prstDash val="solid"/>
          </a:ln>
        </p:spPr>
        <p:txBody>
          <a:bodyPr/>
          <a:lstStyle/>
          <a:p>
            <a:endParaRPr lang="en-IL"/>
          </a:p>
        </p:txBody>
      </p:sp>
      <p:sp>
        <p:nvSpPr>
          <p:cNvPr id="17" name="Shape 15">
            <a:extLst>
              <a:ext uri="{FF2B5EF4-FFF2-40B4-BE49-F238E27FC236}">
                <a16:creationId xmlns:a16="http://schemas.microsoft.com/office/drawing/2014/main" id="{06D3DA20-D60E-A55C-CDB3-7E763D6F43F3}"/>
              </a:ext>
            </a:extLst>
          </p:cNvPr>
          <p:cNvSpPr/>
          <p:nvPr/>
        </p:nvSpPr>
        <p:spPr>
          <a:xfrm>
            <a:off x="6565392" y="4480560"/>
            <a:ext cx="292608" cy="292608"/>
          </a:xfrm>
          <a:prstGeom prst="ellipse">
            <a:avLst/>
          </a:prstGeom>
          <a:solidFill>
            <a:srgbClr val="C9D1DC"/>
          </a:solidFill>
          <a:ln w="12700">
            <a:solidFill>
              <a:srgbClr val="C9D1DC"/>
            </a:solidFill>
            <a:prstDash val="solid"/>
          </a:ln>
        </p:spPr>
        <p:txBody>
          <a:bodyPr/>
          <a:lstStyle/>
          <a:p>
            <a:endParaRPr lang="en-IL"/>
          </a:p>
        </p:txBody>
      </p:sp>
      <p:sp>
        <p:nvSpPr>
          <p:cNvPr id="18" name="Text 16">
            <a:extLst>
              <a:ext uri="{FF2B5EF4-FFF2-40B4-BE49-F238E27FC236}">
                <a16:creationId xmlns:a16="http://schemas.microsoft.com/office/drawing/2014/main" id="{4A539927-ECD5-9FBD-5EAC-6C23CF39B365}"/>
              </a:ext>
            </a:extLst>
          </p:cNvPr>
          <p:cNvSpPr txBox="1"/>
          <p:nvPr/>
        </p:nvSpPr>
        <p:spPr>
          <a:xfrm>
            <a:off x="7022592" y="4416552"/>
            <a:ext cx="4297680" cy="438912"/>
          </a:xfrm>
          <a:prstGeom prst="rect">
            <a:avLst/>
          </a:prstGeom>
          <a:noFill/>
          <a:ln/>
        </p:spPr>
        <p:txBody>
          <a:bodyPr wrap="square" lIns="0" tIns="0" rIns="0" bIns="0" rtlCol="0" anchor="t"/>
          <a:lstStyle/>
          <a:p>
            <a:pPr marL="0" indent="0" algn="l">
              <a:lnSpc>
                <a:spcPct val="110000"/>
              </a:lnSpc>
              <a:buNone/>
            </a:pPr>
            <a:r>
              <a:rPr lang="en-US" sz="2100" b="1" dirty="0">
                <a:solidFill>
                  <a:srgbClr val="FFFFFF"/>
                </a:solidFill>
                <a:latin typeface="Cambria" pitchFamily="34" charset="0"/>
                <a:ea typeface="Cambria" pitchFamily="34" charset="-122"/>
                <a:cs typeface="Cambria" pitchFamily="34" charset="-120"/>
              </a:rPr>
              <a:t>Balanced against Amdahl's law</a:t>
            </a:r>
            <a:endParaRPr lang="en-US" sz="2100" dirty="0"/>
          </a:p>
        </p:txBody>
      </p:sp>
      <p:sp>
        <p:nvSpPr>
          <p:cNvPr id="19" name="Text 17">
            <a:extLst>
              <a:ext uri="{FF2B5EF4-FFF2-40B4-BE49-F238E27FC236}">
                <a16:creationId xmlns:a16="http://schemas.microsoft.com/office/drawing/2014/main" id="{084A1ECA-D3CE-7A97-3A8D-367EE11D58D4}"/>
              </a:ext>
            </a:extLst>
          </p:cNvPr>
          <p:cNvSpPr txBox="1"/>
          <p:nvPr/>
        </p:nvSpPr>
        <p:spPr>
          <a:xfrm>
            <a:off x="7022592" y="4983480"/>
            <a:ext cx="4297680" cy="1097280"/>
          </a:xfrm>
          <a:prstGeom prst="rect">
            <a:avLst/>
          </a:prstGeom>
          <a:noFill/>
          <a:ln/>
        </p:spPr>
        <p:txBody>
          <a:bodyPr wrap="square" lIns="0" tIns="0" rIns="0" bIns="0" rtlCol="0" anchor="t"/>
          <a:lstStyle/>
          <a:p>
            <a:pPr marL="0" indent="0" algn="l">
              <a:lnSpc>
                <a:spcPct val="125000"/>
              </a:lnSpc>
              <a:buNone/>
            </a:pPr>
            <a:r>
              <a:rPr lang="en-US" sz="1450" dirty="0">
                <a:solidFill>
                  <a:srgbClr val="C9D1DC"/>
                </a:solidFill>
                <a:latin typeface="Calibri" pitchFamily="34" charset="0"/>
                <a:ea typeface="Calibri" pitchFamily="34" charset="-122"/>
                <a:cs typeface="Calibri" pitchFamily="34" charset="-120"/>
              </a:rPr>
              <a:t>Dense GEMV acceleration (SDOT4) is paired with KV-cache compression (TQ_*), so neither compute nor memory bandwidth is the lone bottleneck.</a:t>
            </a:r>
            <a:endParaRPr lang="en-US" sz="1450" dirty="0"/>
          </a:p>
        </p:txBody>
      </p:sp>
    </p:spTree>
    <p:extLst>
      <p:ext uri="{BB962C8B-B14F-4D97-AF65-F5344CB8AC3E}">
        <p14:creationId xmlns:p14="http://schemas.microsoft.com/office/powerpoint/2010/main" val="2432014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AF740-AEAA-7C7D-4B70-8449B182BD5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F1FCDC4-0BC8-358A-DED7-8BF95FE903E0}"/>
              </a:ext>
            </a:extLst>
          </p:cNvPr>
          <p:cNvSpPr txBox="1"/>
          <p:nvPr/>
        </p:nvSpPr>
        <p:spPr>
          <a:xfrm>
            <a:off x="548640" y="411480"/>
            <a:ext cx="11094415" cy="274320"/>
          </a:xfrm>
          <a:prstGeom prst="rect">
            <a:avLst/>
          </a:prstGeom>
          <a:noFill/>
          <a:ln/>
        </p:spPr>
        <p:txBody>
          <a:bodyPr wrap="square" lIns="0" tIns="0" rIns="0" bIns="0" rtlCol="0" anchor="t"/>
          <a:lstStyle/>
          <a:p>
            <a:pPr marL="0" indent="0" algn="l">
              <a:lnSpc>
                <a:spcPct val="110000"/>
              </a:lnSpc>
              <a:buNone/>
            </a:pPr>
            <a:r>
              <a:rPr lang="en-US" sz="1200" dirty="0">
                <a:solidFill>
                  <a:srgbClr val="4A5670"/>
                </a:solidFill>
                <a:latin typeface="Courier New" pitchFamily="34" charset="0"/>
                <a:ea typeface="Courier New" pitchFamily="34" charset="-122"/>
                <a:cs typeface="Courier New" pitchFamily="34" charset="-120"/>
              </a:rPr>
              <a:t>Core idea</a:t>
            </a:r>
            <a:endParaRPr lang="en-US" sz="1200" dirty="0"/>
          </a:p>
        </p:txBody>
      </p:sp>
      <p:sp>
        <p:nvSpPr>
          <p:cNvPr id="3" name="Text 1">
            <a:extLst>
              <a:ext uri="{FF2B5EF4-FFF2-40B4-BE49-F238E27FC236}">
                <a16:creationId xmlns:a16="http://schemas.microsoft.com/office/drawing/2014/main" id="{5BA90053-BF8E-7F1B-1732-7B7B6392D073}"/>
              </a:ext>
            </a:extLst>
          </p:cNvPr>
          <p:cNvSpPr txBox="1"/>
          <p:nvPr/>
        </p:nvSpPr>
        <p:spPr>
          <a:xfrm>
            <a:off x="548640" y="685800"/>
            <a:ext cx="11094415" cy="685800"/>
          </a:xfrm>
          <a:prstGeom prst="rect">
            <a:avLst/>
          </a:prstGeom>
          <a:noFill/>
          <a:ln/>
        </p:spPr>
        <p:txBody>
          <a:bodyPr wrap="square" lIns="0" tIns="0" rIns="0" bIns="0" rtlCol="0" anchor="t"/>
          <a:lstStyle/>
          <a:p>
            <a:pPr marL="0" indent="0" algn="l">
              <a:lnSpc>
                <a:spcPct val="110000"/>
              </a:lnSpc>
              <a:buNone/>
            </a:pPr>
            <a:r>
              <a:rPr lang="en-US" sz="3400" b="1" dirty="0">
                <a:solidFill>
                  <a:srgbClr val="14213D"/>
                </a:solidFill>
                <a:latin typeface="Cambria" pitchFamily="34" charset="0"/>
                <a:ea typeface="Cambria" pitchFamily="34" charset="-122"/>
                <a:cs typeface="Cambria" pitchFamily="34" charset="-120"/>
              </a:rPr>
              <a:t>Two quantizers, one unbiased dot product</a:t>
            </a:r>
            <a:endParaRPr lang="en-US" sz="3400" dirty="0"/>
          </a:p>
        </p:txBody>
      </p:sp>
      <p:sp>
        <p:nvSpPr>
          <p:cNvPr id="4" name="Text 2">
            <a:extLst>
              <a:ext uri="{FF2B5EF4-FFF2-40B4-BE49-F238E27FC236}">
                <a16:creationId xmlns:a16="http://schemas.microsoft.com/office/drawing/2014/main" id="{68C57770-B669-1E50-EA29-01B3434C733B}"/>
              </a:ext>
            </a:extLst>
          </p:cNvPr>
          <p:cNvSpPr txBox="1"/>
          <p:nvPr/>
        </p:nvSpPr>
        <p:spPr>
          <a:xfrm>
            <a:off x="548640" y="1371600"/>
            <a:ext cx="9601200" cy="685800"/>
          </a:xfrm>
          <a:prstGeom prst="rect">
            <a:avLst/>
          </a:prstGeom>
          <a:noFill/>
          <a:ln/>
        </p:spPr>
        <p:txBody>
          <a:bodyPr wrap="square" lIns="0" tIns="0" rIns="0" bIns="0" rtlCol="0" anchor="t"/>
          <a:lstStyle/>
          <a:p>
            <a:pPr marL="0" indent="0" algn="l">
              <a:lnSpc>
                <a:spcPct val="120000"/>
              </a:lnSpc>
              <a:buNone/>
            </a:pPr>
            <a:r>
              <a:rPr lang="en-US" sz="1500" dirty="0">
                <a:solidFill>
                  <a:srgbClr val="4A5670"/>
                </a:solidFill>
                <a:latin typeface="Calibri" pitchFamily="34" charset="0"/>
                <a:ea typeface="Calibri" pitchFamily="34" charset="-122"/>
                <a:cs typeface="Calibri" pitchFamily="34" charset="-120"/>
              </a:rPr>
              <a:t>Plain vector quantization minimizes ‖x − x̂‖</a:t>
            </a:r>
            <a:r>
              <a:rPr lang="en-US" sz="1500" baseline="30000" dirty="0">
                <a:solidFill>
                  <a:srgbClr val="4A5670"/>
                </a:solidFill>
                <a:latin typeface="Calibri" pitchFamily="34" charset="0"/>
                <a:ea typeface="Calibri" pitchFamily="34" charset="-122"/>
                <a:cs typeface="Calibri" pitchFamily="34" charset="-120"/>
              </a:rPr>
              <a:t>2</a:t>
            </a:r>
            <a:r>
              <a:rPr lang="en-US" sz="1500" dirty="0">
                <a:solidFill>
                  <a:srgbClr val="4A5670"/>
                </a:solidFill>
                <a:latin typeface="Calibri" pitchFamily="34" charset="0"/>
                <a:ea typeface="Calibri" pitchFamily="34" charset="-122"/>
                <a:cs typeface="Calibri" pitchFamily="34" charset="-120"/>
              </a:rPr>
              <a:t>, which adds geometric bias and distorts the asymmetric attention score Q·K</a:t>
            </a:r>
            <a:r>
              <a:rPr lang="en-US" sz="1500" baseline="30000" dirty="0">
                <a:solidFill>
                  <a:srgbClr val="4A5670"/>
                </a:solidFill>
                <a:latin typeface="Calibri" pitchFamily="34" charset="0"/>
                <a:ea typeface="Calibri" pitchFamily="34" charset="-122"/>
                <a:cs typeface="Calibri" pitchFamily="34" charset="-120"/>
              </a:rPr>
              <a:t>T</a:t>
            </a:r>
            <a:r>
              <a:rPr lang="en-US" sz="1500" dirty="0">
                <a:solidFill>
                  <a:srgbClr val="4A5670"/>
                </a:solidFill>
                <a:latin typeface="Calibri" pitchFamily="34" charset="0"/>
                <a:ea typeface="Calibri" pitchFamily="34" charset="-122"/>
                <a:cs typeface="Calibri" pitchFamily="34" charset="-120"/>
              </a:rPr>
              <a:t>. TurboQuant pairs an MSE quantizer with an inner-product (PROD) correction.</a:t>
            </a:r>
            <a:endParaRPr lang="en-US" sz="1500" dirty="0"/>
          </a:p>
        </p:txBody>
      </p:sp>
      <p:sp>
        <p:nvSpPr>
          <p:cNvPr id="5" name="Shape 3">
            <a:extLst>
              <a:ext uri="{FF2B5EF4-FFF2-40B4-BE49-F238E27FC236}">
                <a16:creationId xmlns:a16="http://schemas.microsoft.com/office/drawing/2014/main" id="{7F7839E7-2D0B-3A6E-3C30-F96499AB0977}"/>
              </a:ext>
            </a:extLst>
          </p:cNvPr>
          <p:cNvSpPr/>
          <p:nvPr/>
        </p:nvSpPr>
        <p:spPr>
          <a:xfrm>
            <a:off x="548640" y="2331720"/>
            <a:ext cx="5394960" cy="4023360"/>
          </a:xfrm>
          <a:prstGeom prst="roundRect">
            <a:avLst>
              <a:gd name="adj" fmla="val 1364"/>
            </a:avLst>
          </a:prstGeom>
          <a:solidFill>
            <a:srgbClr val="F6E8DA"/>
          </a:solidFill>
          <a:ln w="12700">
            <a:solidFill>
              <a:srgbClr val="F6E8DA"/>
            </a:solidFill>
            <a:prstDash val="solid"/>
          </a:ln>
        </p:spPr>
        <p:txBody>
          <a:bodyPr/>
          <a:lstStyle/>
          <a:p>
            <a:endParaRPr lang="en-IL"/>
          </a:p>
        </p:txBody>
      </p:sp>
      <p:sp>
        <p:nvSpPr>
          <p:cNvPr id="6" name="Text 4">
            <a:extLst>
              <a:ext uri="{FF2B5EF4-FFF2-40B4-BE49-F238E27FC236}">
                <a16:creationId xmlns:a16="http://schemas.microsoft.com/office/drawing/2014/main" id="{A57FB2C9-27D3-8192-A846-D77825DC573B}"/>
              </a:ext>
            </a:extLst>
          </p:cNvPr>
          <p:cNvSpPr txBox="1"/>
          <p:nvPr/>
        </p:nvSpPr>
        <p:spPr>
          <a:xfrm>
            <a:off x="868680" y="2606040"/>
            <a:ext cx="4572000" cy="274320"/>
          </a:xfrm>
          <a:prstGeom prst="rect">
            <a:avLst/>
          </a:prstGeom>
          <a:noFill/>
          <a:ln/>
        </p:spPr>
        <p:txBody>
          <a:bodyPr wrap="square" lIns="0" tIns="0" rIns="0" bIns="0" rtlCol="0" anchor="t"/>
          <a:lstStyle/>
          <a:p>
            <a:pPr marL="0" indent="0" algn="l">
              <a:lnSpc>
                <a:spcPct val="110000"/>
              </a:lnSpc>
              <a:buNone/>
            </a:pPr>
            <a:r>
              <a:rPr lang="en-US" sz="1200" b="1" dirty="0">
                <a:solidFill>
                  <a:srgbClr val="B0661F"/>
                </a:solidFill>
                <a:latin typeface="Courier New" pitchFamily="34" charset="0"/>
                <a:ea typeface="Courier New" pitchFamily="34" charset="-122"/>
                <a:cs typeface="Courier New" pitchFamily="34" charset="-120"/>
              </a:rPr>
              <a:t>Stream A · MSE mode</a:t>
            </a:r>
            <a:endParaRPr lang="en-US" sz="1200" dirty="0"/>
          </a:p>
        </p:txBody>
      </p:sp>
      <p:sp>
        <p:nvSpPr>
          <p:cNvPr id="7" name="Text 5">
            <a:extLst>
              <a:ext uri="{FF2B5EF4-FFF2-40B4-BE49-F238E27FC236}">
                <a16:creationId xmlns:a16="http://schemas.microsoft.com/office/drawing/2014/main" id="{22E75AF3-0685-EC5E-E93C-1C28728030C3}"/>
              </a:ext>
            </a:extLst>
          </p:cNvPr>
          <p:cNvSpPr txBox="1"/>
          <p:nvPr/>
        </p:nvSpPr>
        <p:spPr>
          <a:xfrm>
            <a:off x="868680" y="2926080"/>
            <a:ext cx="4846320" cy="411480"/>
          </a:xfrm>
          <a:prstGeom prst="rect">
            <a:avLst/>
          </a:prstGeom>
          <a:noFill/>
          <a:ln/>
        </p:spPr>
        <p:txBody>
          <a:bodyPr wrap="square" lIns="0" tIns="0" rIns="0" bIns="0" rtlCol="0" anchor="t"/>
          <a:lstStyle/>
          <a:p>
            <a:pPr marL="0" indent="0" algn="l">
              <a:lnSpc>
                <a:spcPct val="110000"/>
              </a:lnSpc>
              <a:buNone/>
            </a:pPr>
            <a:r>
              <a:rPr lang="en-US" sz="2100" b="1" dirty="0">
                <a:solidFill>
                  <a:srgbClr val="14213D"/>
                </a:solidFill>
                <a:latin typeface="Cambria" pitchFamily="34" charset="0"/>
                <a:ea typeface="Cambria" pitchFamily="34" charset="-122"/>
                <a:cs typeface="Cambria" pitchFamily="34" charset="-120"/>
              </a:rPr>
              <a:t>PolarQuant on the hypersphere</a:t>
            </a:r>
            <a:endParaRPr lang="en-US" sz="2100" dirty="0"/>
          </a:p>
        </p:txBody>
      </p:sp>
      <p:sp>
        <p:nvSpPr>
          <p:cNvPr id="8" name="Text 6">
            <a:extLst>
              <a:ext uri="{FF2B5EF4-FFF2-40B4-BE49-F238E27FC236}">
                <a16:creationId xmlns:a16="http://schemas.microsoft.com/office/drawing/2014/main" id="{9E8FBAA4-8E2F-1F15-8FE1-D00ADDABAE02}"/>
              </a:ext>
            </a:extLst>
          </p:cNvPr>
          <p:cNvSpPr txBox="1"/>
          <p:nvPr/>
        </p:nvSpPr>
        <p:spPr>
          <a:xfrm>
            <a:off x="868680" y="3429000"/>
            <a:ext cx="4754880" cy="914400"/>
          </a:xfrm>
          <a:prstGeom prst="rect">
            <a:avLst/>
          </a:prstGeom>
          <a:noFill/>
          <a:ln/>
        </p:spPr>
        <p:txBody>
          <a:bodyPr wrap="square" lIns="0" tIns="0" rIns="0" bIns="0" rtlCol="0" anchor="t"/>
          <a:lstStyle/>
          <a:p>
            <a:pPr marL="0" indent="0" algn="l">
              <a:lnSpc>
                <a:spcPct val="120000"/>
              </a:lnSpc>
              <a:buNone/>
            </a:pPr>
            <a:r>
              <a:rPr lang="en-US" sz="1450" dirty="0">
                <a:solidFill>
                  <a:srgbClr val="4A5670"/>
                </a:solidFill>
                <a:latin typeface="Calibri" pitchFamily="34" charset="0"/>
                <a:ea typeface="Calibri" pitchFamily="34" charset="-122"/>
                <a:cs typeface="Calibri" pitchFamily="34" charset="-120"/>
              </a:rPr>
              <a:t>Normalizes each vector to a unit direction, then quantizes it with a 3-bit optimal spherical codebook, minimizing reconstruction error of the direction.</a:t>
            </a:r>
            <a:endParaRPr lang="en-US" sz="1450" dirty="0"/>
          </a:p>
        </p:txBody>
      </p:sp>
      <p:sp>
        <p:nvSpPr>
          <p:cNvPr id="9" name="Shape 7">
            <a:extLst>
              <a:ext uri="{FF2B5EF4-FFF2-40B4-BE49-F238E27FC236}">
                <a16:creationId xmlns:a16="http://schemas.microsoft.com/office/drawing/2014/main" id="{9E453A7C-1BEB-ADD0-96E0-0812B77C1AA9}"/>
              </a:ext>
            </a:extLst>
          </p:cNvPr>
          <p:cNvSpPr/>
          <p:nvPr/>
        </p:nvSpPr>
        <p:spPr>
          <a:xfrm>
            <a:off x="1097280" y="4617720"/>
            <a:ext cx="1463040" cy="1463040"/>
          </a:xfrm>
          <a:prstGeom prst="ellipse">
            <a:avLst/>
          </a:prstGeom>
          <a:solidFill>
            <a:srgbClr val="F6E8DA"/>
          </a:solidFill>
          <a:ln w="15875">
            <a:solidFill>
              <a:srgbClr val="C9A987"/>
            </a:solidFill>
            <a:prstDash val="solid"/>
          </a:ln>
        </p:spPr>
        <p:txBody>
          <a:bodyPr/>
          <a:lstStyle/>
          <a:p>
            <a:endParaRPr lang="en-IL"/>
          </a:p>
        </p:txBody>
      </p:sp>
      <p:sp>
        <p:nvSpPr>
          <p:cNvPr id="10" name="Shape 8">
            <a:extLst>
              <a:ext uri="{FF2B5EF4-FFF2-40B4-BE49-F238E27FC236}">
                <a16:creationId xmlns:a16="http://schemas.microsoft.com/office/drawing/2014/main" id="{6FF6B9BC-3608-01B7-0193-9917F9B43C4E}"/>
              </a:ext>
            </a:extLst>
          </p:cNvPr>
          <p:cNvSpPr/>
          <p:nvPr/>
        </p:nvSpPr>
        <p:spPr>
          <a:xfrm>
            <a:off x="2496312" y="5285232"/>
            <a:ext cx="128016" cy="128016"/>
          </a:xfrm>
          <a:prstGeom prst="ellipse">
            <a:avLst/>
          </a:prstGeom>
          <a:solidFill>
            <a:srgbClr val="B0661F"/>
          </a:solidFill>
          <a:ln w="12700">
            <a:solidFill>
              <a:srgbClr val="B0661F"/>
            </a:solidFill>
            <a:prstDash val="solid"/>
          </a:ln>
        </p:spPr>
        <p:txBody>
          <a:bodyPr/>
          <a:lstStyle/>
          <a:p>
            <a:endParaRPr lang="en-IL"/>
          </a:p>
        </p:txBody>
      </p:sp>
      <p:sp>
        <p:nvSpPr>
          <p:cNvPr id="11" name="Shape 9">
            <a:extLst>
              <a:ext uri="{FF2B5EF4-FFF2-40B4-BE49-F238E27FC236}">
                <a16:creationId xmlns:a16="http://schemas.microsoft.com/office/drawing/2014/main" id="{1FF654B3-570B-CDDC-C8F2-9B42FE90125C}"/>
              </a:ext>
            </a:extLst>
          </p:cNvPr>
          <p:cNvSpPr/>
          <p:nvPr/>
        </p:nvSpPr>
        <p:spPr>
          <a:xfrm>
            <a:off x="2282055" y="4767969"/>
            <a:ext cx="128016" cy="128016"/>
          </a:xfrm>
          <a:prstGeom prst="ellipse">
            <a:avLst/>
          </a:prstGeom>
          <a:solidFill>
            <a:srgbClr val="B0661F"/>
          </a:solidFill>
          <a:ln w="12700">
            <a:solidFill>
              <a:srgbClr val="B0661F"/>
            </a:solidFill>
            <a:prstDash val="solid"/>
          </a:ln>
        </p:spPr>
        <p:txBody>
          <a:bodyPr/>
          <a:lstStyle/>
          <a:p>
            <a:endParaRPr lang="en-IL"/>
          </a:p>
        </p:txBody>
      </p:sp>
      <p:sp>
        <p:nvSpPr>
          <p:cNvPr id="12" name="Shape 10">
            <a:extLst>
              <a:ext uri="{FF2B5EF4-FFF2-40B4-BE49-F238E27FC236}">
                <a16:creationId xmlns:a16="http://schemas.microsoft.com/office/drawing/2014/main" id="{E1118F22-863E-1D7B-A393-574A36CC7A12}"/>
              </a:ext>
            </a:extLst>
          </p:cNvPr>
          <p:cNvSpPr/>
          <p:nvPr/>
        </p:nvSpPr>
        <p:spPr>
          <a:xfrm>
            <a:off x="1764792" y="4553712"/>
            <a:ext cx="128016" cy="128016"/>
          </a:xfrm>
          <a:prstGeom prst="ellipse">
            <a:avLst/>
          </a:prstGeom>
          <a:solidFill>
            <a:srgbClr val="B0661F"/>
          </a:solidFill>
          <a:ln w="12700">
            <a:solidFill>
              <a:srgbClr val="B0661F"/>
            </a:solidFill>
            <a:prstDash val="solid"/>
          </a:ln>
        </p:spPr>
        <p:txBody>
          <a:bodyPr/>
          <a:lstStyle/>
          <a:p>
            <a:endParaRPr lang="en-IL"/>
          </a:p>
        </p:txBody>
      </p:sp>
      <p:sp>
        <p:nvSpPr>
          <p:cNvPr id="13" name="Shape 11">
            <a:extLst>
              <a:ext uri="{FF2B5EF4-FFF2-40B4-BE49-F238E27FC236}">
                <a16:creationId xmlns:a16="http://schemas.microsoft.com/office/drawing/2014/main" id="{FCAC8287-F016-B142-F8C1-675DDEAA4D64}"/>
              </a:ext>
            </a:extLst>
          </p:cNvPr>
          <p:cNvSpPr/>
          <p:nvPr/>
        </p:nvSpPr>
        <p:spPr>
          <a:xfrm>
            <a:off x="1247529" y="4767969"/>
            <a:ext cx="128016" cy="128016"/>
          </a:xfrm>
          <a:prstGeom prst="ellipse">
            <a:avLst/>
          </a:prstGeom>
          <a:solidFill>
            <a:srgbClr val="B0661F"/>
          </a:solidFill>
          <a:ln w="12700">
            <a:solidFill>
              <a:srgbClr val="B0661F"/>
            </a:solidFill>
            <a:prstDash val="solid"/>
          </a:ln>
        </p:spPr>
        <p:txBody>
          <a:bodyPr/>
          <a:lstStyle/>
          <a:p>
            <a:endParaRPr lang="en-IL"/>
          </a:p>
        </p:txBody>
      </p:sp>
      <p:sp>
        <p:nvSpPr>
          <p:cNvPr id="14" name="Shape 12">
            <a:extLst>
              <a:ext uri="{FF2B5EF4-FFF2-40B4-BE49-F238E27FC236}">
                <a16:creationId xmlns:a16="http://schemas.microsoft.com/office/drawing/2014/main" id="{ED472E81-4897-2691-4810-8A03CB2C4C35}"/>
              </a:ext>
            </a:extLst>
          </p:cNvPr>
          <p:cNvSpPr/>
          <p:nvPr/>
        </p:nvSpPr>
        <p:spPr>
          <a:xfrm>
            <a:off x="1033272" y="5285232"/>
            <a:ext cx="128016" cy="128016"/>
          </a:xfrm>
          <a:prstGeom prst="ellipse">
            <a:avLst/>
          </a:prstGeom>
          <a:solidFill>
            <a:srgbClr val="B0661F"/>
          </a:solidFill>
          <a:ln w="12700">
            <a:solidFill>
              <a:srgbClr val="B0661F"/>
            </a:solidFill>
            <a:prstDash val="solid"/>
          </a:ln>
        </p:spPr>
        <p:txBody>
          <a:bodyPr/>
          <a:lstStyle/>
          <a:p>
            <a:endParaRPr lang="en-IL"/>
          </a:p>
        </p:txBody>
      </p:sp>
      <p:sp>
        <p:nvSpPr>
          <p:cNvPr id="15" name="Shape 13">
            <a:extLst>
              <a:ext uri="{FF2B5EF4-FFF2-40B4-BE49-F238E27FC236}">
                <a16:creationId xmlns:a16="http://schemas.microsoft.com/office/drawing/2014/main" id="{DC11C227-2A50-D753-E721-146C024BE6C5}"/>
              </a:ext>
            </a:extLst>
          </p:cNvPr>
          <p:cNvSpPr/>
          <p:nvPr/>
        </p:nvSpPr>
        <p:spPr>
          <a:xfrm>
            <a:off x="1247529" y="5802495"/>
            <a:ext cx="128016" cy="128016"/>
          </a:xfrm>
          <a:prstGeom prst="ellipse">
            <a:avLst/>
          </a:prstGeom>
          <a:solidFill>
            <a:srgbClr val="B0661F"/>
          </a:solidFill>
          <a:ln w="12700">
            <a:solidFill>
              <a:srgbClr val="B0661F"/>
            </a:solidFill>
            <a:prstDash val="solid"/>
          </a:ln>
        </p:spPr>
        <p:txBody>
          <a:bodyPr/>
          <a:lstStyle/>
          <a:p>
            <a:endParaRPr lang="en-IL"/>
          </a:p>
        </p:txBody>
      </p:sp>
      <p:sp>
        <p:nvSpPr>
          <p:cNvPr id="16" name="Shape 14">
            <a:extLst>
              <a:ext uri="{FF2B5EF4-FFF2-40B4-BE49-F238E27FC236}">
                <a16:creationId xmlns:a16="http://schemas.microsoft.com/office/drawing/2014/main" id="{ACE31E11-84F8-5E38-EF10-E3182F243785}"/>
              </a:ext>
            </a:extLst>
          </p:cNvPr>
          <p:cNvSpPr/>
          <p:nvPr/>
        </p:nvSpPr>
        <p:spPr>
          <a:xfrm>
            <a:off x="1764792" y="6016752"/>
            <a:ext cx="128016" cy="128016"/>
          </a:xfrm>
          <a:prstGeom prst="ellipse">
            <a:avLst/>
          </a:prstGeom>
          <a:solidFill>
            <a:srgbClr val="B0661F"/>
          </a:solidFill>
          <a:ln w="12700">
            <a:solidFill>
              <a:srgbClr val="B0661F"/>
            </a:solidFill>
            <a:prstDash val="solid"/>
          </a:ln>
        </p:spPr>
        <p:txBody>
          <a:bodyPr/>
          <a:lstStyle/>
          <a:p>
            <a:endParaRPr lang="en-IL"/>
          </a:p>
        </p:txBody>
      </p:sp>
      <p:sp>
        <p:nvSpPr>
          <p:cNvPr id="17" name="Shape 15">
            <a:extLst>
              <a:ext uri="{FF2B5EF4-FFF2-40B4-BE49-F238E27FC236}">
                <a16:creationId xmlns:a16="http://schemas.microsoft.com/office/drawing/2014/main" id="{948052F4-D1CC-B397-770D-ABF136230CC1}"/>
              </a:ext>
            </a:extLst>
          </p:cNvPr>
          <p:cNvSpPr/>
          <p:nvPr/>
        </p:nvSpPr>
        <p:spPr>
          <a:xfrm>
            <a:off x="2282055" y="5802495"/>
            <a:ext cx="128016" cy="128016"/>
          </a:xfrm>
          <a:prstGeom prst="ellipse">
            <a:avLst/>
          </a:prstGeom>
          <a:solidFill>
            <a:srgbClr val="B0661F"/>
          </a:solidFill>
          <a:ln w="12700">
            <a:solidFill>
              <a:srgbClr val="B0661F"/>
            </a:solidFill>
            <a:prstDash val="solid"/>
          </a:ln>
        </p:spPr>
        <p:txBody>
          <a:bodyPr/>
          <a:lstStyle/>
          <a:p>
            <a:endParaRPr lang="en-IL"/>
          </a:p>
        </p:txBody>
      </p:sp>
      <p:sp>
        <p:nvSpPr>
          <p:cNvPr id="18" name="Shape 16">
            <a:extLst>
              <a:ext uri="{FF2B5EF4-FFF2-40B4-BE49-F238E27FC236}">
                <a16:creationId xmlns:a16="http://schemas.microsoft.com/office/drawing/2014/main" id="{7C3D68F8-4E0B-432E-1BFC-CAB523D36CBC}"/>
              </a:ext>
            </a:extLst>
          </p:cNvPr>
          <p:cNvSpPr/>
          <p:nvPr/>
        </p:nvSpPr>
        <p:spPr>
          <a:xfrm flipV="1">
            <a:off x="1828800" y="4928616"/>
            <a:ext cx="566928" cy="420624"/>
          </a:xfrm>
          <a:prstGeom prst="line">
            <a:avLst/>
          </a:prstGeom>
          <a:noFill/>
          <a:ln w="22225">
            <a:solidFill>
              <a:srgbClr val="14213D"/>
            </a:solidFill>
            <a:prstDash val="solid"/>
          </a:ln>
        </p:spPr>
        <p:txBody>
          <a:bodyPr/>
          <a:lstStyle/>
          <a:p>
            <a:endParaRPr lang="en-IL"/>
          </a:p>
        </p:txBody>
      </p:sp>
      <p:sp>
        <p:nvSpPr>
          <p:cNvPr id="19" name="Text 17">
            <a:extLst>
              <a:ext uri="{FF2B5EF4-FFF2-40B4-BE49-F238E27FC236}">
                <a16:creationId xmlns:a16="http://schemas.microsoft.com/office/drawing/2014/main" id="{4590BB69-E02E-2D8A-BB2A-9E71CB4B1095}"/>
              </a:ext>
            </a:extLst>
          </p:cNvPr>
          <p:cNvSpPr txBox="1"/>
          <p:nvPr/>
        </p:nvSpPr>
        <p:spPr>
          <a:xfrm>
            <a:off x="3017520" y="4937760"/>
            <a:ext cx="2743200" cy="320040"/>
          </a:xfrm>
          <a:prstGeom prst="rect">
            <a:avLst/>
          </a:prstGeom>
          <a:noFill/>
          <a:ln/>
        </p:spPr>
        <p:txBody>
          <a:bodyPr wrap="square" lIns="0" tIns="0" rIns="0" bIns="0" rtlCol="0" anchor="t"/>
          <a:lstStyle/>
          <a:p>
            <a:pPr marL="0" indent="0" algn="l">
              <a:lnSpc>
                <a:spcPct val="110000"/>
              </a:lnSpc>
              <a:buNone/>
            </a:pPr>
            <a:r>
              <a:rPr lang="en-US" sz="1500" b="1" dirty="0">
                <a:solidFill>
                  <a:srgbClr val="14213D"/>
                </a:solidFill>
                <a:latin typeface="Calibri" pitchFamily="34" charset="0"/>
                <a:ea typeface="Calibri" pitchFamily="34" charset="-122"/>
                <a:cs typeface="Calibri" pitchFamily="34" charset="-120"/>
              </a:rPr>
              <a:t>8 centroids = 3 bits</a:t>
            </a:r>
            <a:endParaRPr lang="en-US" sz="1500" dirty="0"/>
          </a:p>
        </p:txBody>
      </p:sp>
      <p:sp>
        <p:nvSpPr>
          <p:cNvPr id="20" name="Text 18">
            <a:extLst>
              <a:ext uri="{FF2B5EF4-FFF2-40B4-BE49-F238E27FC236}">
                <a16:creationId xmlns:a16="http://schemas.microsoft.com/office/drawing/2014/main" id="{793E1613-183B-E343-8BD0-E8893834571D}"/>
              </a:ext>
            </a:extLst>
          </p:cNvPr>
          <p:cNvSpPr txBox="1"/>
          <p:nvPr/>
        </p:nvSpPr>
        <p:spPr>
          <a:xfrm>
            <a:off x="3017520" y="5257800"/>
            <a:ext cx="2651760" cy="731520"/>
          </a:xfrm>
          <a:prstGeom prst="rect">
            <a:avLst/>
          </a:prstGeom>
          <a:noFill/>
          <a:ln/>
        </p:spPr>
        <p:txBody>
          <a:bodyPr wrap="square" lIns="0" tIns="0" rIns="0" bIns="0" rtlCol="0" anchor="t"/>
          <a:lstStyle/>
          <a:p>
            <a:pPr marL="0" indent="0" algn="l">
              <a:lnSpc>
                <a:spcPct val="120000"/>
              </a:lnSpc>
              <a:buNone/>
            </a:pPr>
            <a:r>
              <a:rPr lang="en-US" sz="1300" dirty="0">
                <a:solidFill>
                  <a:srgbClr val="4A5670"/>
                </a:solidFill>
                <a:latin typeface="Calibri" pitchFamily="34" charset="0"/>
                <a:ea typeface="Calibri" pitchFamily="34" charset="-122"/>
                <a:cs typeface="Calibri" pitchFamily="34" charset="-120"/>
              </a:rPr>
              <a:t>Direction snaps to the nearest entry; the norm is kept as a scalar.</a:t>
            </a:r>
            <a:endParaRPr lang="en-US" sz="1300" dirty="0"/>
          </a:p>
        </p:txBody>
      </p:sp>
      <p:sp>
        <p:nvSpPr>
          <p:cNvPr id="21" name="Shape 19">
            <a:extLst>
              <a:ext uri="{FF2B5EF4-FFF2-40B4-BE49-F238E27FC236}">
                <a16:creationId xmlns:a16="http://schemas.microsoft.com/office/drawing/2014/main" id="{14FD44B8-2DA8-09EC-73A3-61F030F018C9}"/>
              </a:ext>
            </a:extLst>
          </p:cNvPr>
          <p:cNvSpPr/>
          <p:nvPr/>
        </p:nvSpPr>
        <p:spPr>
          <a:xfrm>
            <a:off x="6309360" y="2331720"/>
            <a:ext cx="5394960" cy="4023360"/>
          </a:xfrm>
          <a:prstGeom prst="roundRect">
            <a:avLst>
              <a:gd name="adj" fmla="val 1364"/>
            </a:avLst>
          </a:prstGeom>
          <a:solidFill>
            <a:srgbClr val="DDEFED"/>
          </a:solidFill>
          <a:ln w="12700">
            <a:solidFill>
              <a:srgbClr val="DDEFED"/>
            </a:solidFill>
            <a:prstDash val="solid"/>
          </a:ln>
        </p:spPr>
        <p:txBody>
          <a:bodyPr/>
          <a:lstStyle/>
          <a:p>
            <a:endParaRPr lang="en-IL"/>
          </a:p>
        </p:txBody>
      </p:sp>
      <p:sp>
        <p:nvSpPr>
          <p:cNvPr id="22" name="Text 20">
            <a:extLst>
              <a:ext uri="{FF2B5EF4-FFF2-40B4-BE49-F238E27FC236}">
                <a16:creationId xmlns:a16="http://schemas.microsoft.com/office/drawing/2014/main" id="{C371E88E-8DBF-330D-C2C9-439E30C4BCDF}"/>
              </a:ext>
            </a:extLst>
          </p:cNvPr>
          <p:cNvSpPr txBox="1"/>
          <p:nvPr/>
        </p:nvSpPr>
        <p:spPr>
          <a:xfrm>
            <a:off x="6629400" y="2606040"/>
            <a:ext cx="4572000" cy="274320"/>
          </a:xfrm>
          <a:prstGeom prst="rect">
            <a:avLst/>
          </a:prstGeom>
          <a:noFill/>
          <a:ln/>
        </p:spPr>
        <p:txBody>
          <a:bodyPr wrap="square" lIns="0" tIns="0" rIns="0" bIns="0" rtlCol="0" anchor="t"/>
          <a:lstStyle/>
          <a:p>
            <a:pPr marL="0" indent="0" algn="l">
              <a:lnSpc>
                <a:spcPct val="110000"/>
              </a:lnSpc>
              <a:buNone/>
            </a:pPr>
            <a:r>
              <a:rPr lang="en-US" sz="1200" b="1" dirty="0">
                <a:solidFill>
                  <a:srgbClr val="1C7373"/>
                </a:solidFill>
                <a:latin typeface="Courier New" pitchFamily="34" charset="0"/>
                <a:ea typeface="Courier New" pitchFamily="34" charset="-122"/>
                <a:cs typeface="Courier New" pitchFamily="34" charset="-120"/>
              </a:rPr>
              <a:t>Stream B · PROD mode</a:t>
            </a:r>
            <a:endParaRPr lang="en-US" sz="1200" dirty="0"/>
          </a:p>
        </p:txBody>
      </p:sp>
      <p:sp>
        <p:nvSpPr>
          <p:cNvPr id="23" name="Text 21">
            <a:extLst>
              <a:ext uri="{FF2B5EF4-FFF2-40B4-BE49-F238E27FC236}">
                <a16:creationId xmlns:a16="http://schemas.microsoft.com/office/drawing/2014/main" id="{F57E3E96-C3AA-F2A7-7664-06C66459FC2C}"/>
              </a:ext>
            </a:extLst>
          </p:cNvPr>
          <p:cNvSpPr txBox="1"/>
          <p:nvPr/>
        </p:nvSpPr>
        <p:spPr>
          <a:xfrm>
            <a:off x="6629400" y="2926080"/>
            <a:ext cx="4846320" cy="411480"/>
          </a:xfrm>
          <a:prstGeom prst="rect">
            <a:avLst/>
          </a:prstGeom>
          <a:noFill/>
          <a:ln/>
        </p:spPr>
        <p:txBody>
          <a:bodyPr wrap="square" lIns="0" tIns="0" rIns="0" bIns="0" rtlCol="0" anchor="t"/>
          <a:lstStyle/>
          <a:p>
            <a:pPr marL="0" indent="0" algn="l">
              <a:lnSpc>
                <a:spcPct val="110000"/>
              </a:lnSpc>
              <a:buNone/>
            </a:pPr>
            <a:r>
              <a:rPr lang="en-US" sz="2100" b="1" dirty="0">
                <a:solidFill>
                  <a:srgbClr val="14213D"/>
                </a:solidFill>
                <a:latin typeface="Cambria" pitchFamily="34" charset="0"/>
                <a:ea typeface="Cambria" pitchFamily="34" charset="-122"/>
                <a:cs typeface="Cambria" pitchFamily="34" charset="-120"/>
              </a:rPr>
              <a:t>QJL 1-bit residual correction</a:t>
            </a:r>
            <a:endParaRPr lang="en-US" sz="2100" dirty="0"/>
          </a:p>
        </p:txBody>
      </p:sp>
      <p:sp>
        <p:nvSpPr>
          <p:cNvPr id="24" name="Text 22">
            <a:extLst>
              <a:ext uri="{FF2B5EF4-FFF2-40B4-BE49-F238E27FC236}">
                <a16:creationId xmlns:a16="http://schemas.microsoft.com/office/drawing/2014/main" id="{49CA65EC-0A4F-7E36-0C31-FAC938EC6460}"/>
              </a:ext>
            </a:extLst>
          </p:cNvPr>
          <p:cNvSpPr txBox="1"/>
          <p:nvPr/>
        </p:nvSpPr>
        <p:spPr>
          <a:xfrm>
            <a:off x="6629400" y="3429000"/>
            <a:ext cx="4754880" cy="1097280"/>
          </a:xfrm>
          <a:prstGeom prst="rect">
            <a:avLst/>
          </a:prstGeom>
          <a:noFill/>
          <a:ln/>
        </p:spPr>
        <p:txBody>
          <a:bodyPr wrap="square" lIns="0" tIns="0" rIns="0" bIns="0" rtlCol="0" anchor="t"/>
          <a:lstStyle/>
          <a:p>
            <a:pPr marL="0" indent="0" algn="l">
              <a:lnSpc>
                <a:spcPct val="120000"/>
              </a:lnSpc>
              <a:buNone/>
            </a:pPr>
            <a:r>
              <a:rPr lang="en-US" sz="1450" dirty="0">
                <a:solidFill>
                  <a:srgbClr val="4A5670"/>
                </a:solidFill>
                <a:latin typeface="Calibri" pitchFamily="34" charset="0"/>
                <a:ea typeface="Calibri" pitchFamily="34" charset="-122"/>
                <a:cs typeface="Calibri" pitchFamily="34" charset="-120"/>
              </a:rPr>
              <a:t>Takes the leftover error r = K − K̂, projects it through a random Quantized Johnson–Lindenstrauss hyperplane matrix, and keeps only the sign of each projection, preserving an unbiased ⟨Q, K⟩.</a:t>
            </a:r>
            <a:endParaRPr lang="en-US" sz="1450" dirty="0"/>
          </a:p>
        </p:txBody>
      </p:sp>
      <p:sp>
        <p:nvSpPr>
          <p:cNvPr id="25" name="Shape 23">
            <a:extLst>
              <a:ext uri="{FF2B5EF4-FFF2-40B4-BE49-F238E27FC236}">
                <a16:creationId xmlns:a16="http://schemas.microsoft.com/office/drawing/2014/main" id="{E09BB41F-6E21-F120-A744-62FA76145117}"/>
              </a:ext>
            </a:extLst>
          </p:cNvPr>
          <p:cNvSpPr/>
          <p:nvPr/>
        </p:nvSpPr>
        <p:spPr>
          <a:xfrm flipV="1">
            <a:off x="6675120" y="4663440"/>
            <a:ext cx="1828800" cy="1417320"/>
          </a:xfrm>
          <a:prstGeom prst="line">
            <a:avLst/>
          </a:prstGeom>
          <a:noFill/>
          <a:ln w="22225">
            <a:solidFill>
              <a:srgbClr val="9FC4C1"/>
            </a:solidFill>
            <a:prstDash val="solid"/>
          </a:ln>
        </p:spPr>
        <p:txBody>
          <a:bodyPr/>
          <a:lstStyle/>
          <a:p>
            <a:endParaRPr lang="en-IL"/>
          </a:p>
        </p:txBody>
      </p:sp>
      <p:sp>
        <p:nvSpPr>
          <p:cNvPr id="26" name="Shape 24">
            <a:extLst>
              <a:ext uri="{FF2B5EF4-FFF2-40B4-BE49-F238E27FC236}">
                <a16:creationId xmlns:a16="http://schemas.microsoft.com/office/drawing/2014/main" id="{00AB7D5B-2AAD-5C5E-1E94-C0DE2317AE17}"/>
              </a:ext>
            </a:extLst>
          </p:cNvPr>
          <p:cNvSpPr/>
          <p:nvPr/>
        </p:nvSpPr>
        <p:spPr>
          <a:xfrm>
            <a:off x="6583680" y="5074920"/>
            <a:ext cx="2011680" cy="548640"/>
          </a:xfrm>
          <a:prstGeom prst="line">
            <a:avLst/>
          </a:prstGeom>
          <a:noFill/>
          <a:ln w="22225">
            <a:solidFill>
              <a:srgbClr val="9FC4C1"/>
            </a:solidFill>
            <a:prstDash val="solid"/>
          </a:ln>
        </p:spPr>
        <p:txBody>
          <a:bodyPr/>
          <a:lstStyle/>
          <a:p>
            <a:endParaRPr lang="en-IL"/>
          </a:p>
        </p:txBody>
      </p:sp>
      <p:sp>
        <p:nvSpPr>
          <p:cNvPr id="27" name="Shape 25">
            <a:extLst>
              <a:ext uri="{FF2B5EF4-FFF2-40B4-BE49-F238E27FC236}">
                <a16:creationId xmlns:a16="http://schemas.microsoft.com/office/drawing/2014/main" id="{6C28BF8F-A762-B757-9203-F299408F32E7}"/>
              </a:ext>
            </a:extLst>
          </p:cNvPr>
          <p:cNvSpPr/>
          <p:nvPr/>
        </p:nvSpPr>
        <p:spPr>
          <a:xfrm flipV="1">
            <a:off x="7589520" y="4983480"/>
            <a:ext cx="502920" cy="365760"/>
          </a:xfrm>
          <a:prstGeom prst="line">
            <a:avLst/>
          </a:prstGeom>
          <a:noFill/>
          <a:ln w="22225">
            <a:solidFill>
              <a:srgbClr val="1C7373"/>
            </a:solidFill>
            <a:prstDash val="solid"/>
            <a:tailEnd type="triangle"/>
          </a:ln>
        </p:spPr>
        <p:txBody>
          <a:bodyPr/>
          <a:lstStyle/>
          <a:p>
            <a:endParaRPr lang="en-IL"/>
          </a:p>
        </p:txBody>
      </p:sp>
      <p:sp>
        <p:nvSpPr>
          <p:cNvPr id="28" name="Shape 26">
            <a:extLst>
              <a:ext uri="{FF2B5EF4-FFF2-40B4-BE49-F238E27FC236}">
                <a16:creationId xmlns:a16="http://schemas.microsoft.com/office/drawing/2014/main" id="{C6482AD5-4156-86A5-37EA-B168EAE7D5C0}"/>
              </a:ext>
            </a:extLst>
          </p:cNvPr>
          <p:cNvSpPr/>
          <p:nvPr/>
        </p:nvSpPr>
        <p:spPr>
          <a:xfrm>
            <a:off x="7534656" y="5294376"/>
            <a:ext cx="109728" cy="109728"/>
          </a:xfrm>
          <a:prstGeom prst="ellipse">
            <a:avLst/>
          </a:prstGeom>
          <a:solidFill>
            <a:srgbClr val="14213D"/>
          </a:solidFill>
          <a:ln w="12700">
            <a:solidFill>
              <a:srgbClr val="14213D"/>
            </a:solidFill>
            <a:prstDash val="solid"/>
          </a:ln>
        </p:spPr>
        <p:txBody>
          <a:bodyPr/>
          <a:lstStyle/>
          <a:p>
            <a:endParaRPr lang="en-IL"/>
          </a:p>
        </p:txBody>
      </p:sp>
      <p:sp>
        <p:nvSpPr>
          <p:cNvPr id="29" name="Text 27">
            <a:extLst>
              <a:ext uri="{FF2B5EF4-FFF2-40B4-BE49-F238E27FC236}">
                <a16:creationId xmlns:a16="http://schemas.microsoft.com/office/drawing/2014/main" id="{E945FDF3-D865-9BA2-338A-400F239854DC}"/>
              </a:ext>
            </a:extLst>
          </p:cNvPr>
          <p:cNvSpPr txBox="1"/>
          <p:nvPr/>
        </p:nvSpPr>
        <p:spPr>
          <a:xfrm>
            <a:off x="8138160" y="4782312"/>
            <a:ext cx="274320" cy="274320"/>
          </a:xfrm>
          <a:prstGeom prst="rect">
            <a:avLst/>
          </a:prstGeom>
          <a:noFill/>
          <a:ln/>
        </p:spPr>
        <p:txBody>
          <a:bodyPr wrap="square" lIns="0" tIns="0" rIns="0" bIns="0" rtlCol="0" anchor="t"/>
          <a:lstStyle/>
          <a:p>
            <a:pPr marL="0" indent="0" algn="l">
              <a:lnSpc>
                <a:spcPct val="110000"/>
              </a:lnSpc>
              <a:buNone/>
            </a:pPr>
            <a:r>
              <a:rPr lang="en-US" sz="1400" b="1" dirty="0">
                <a:solidFill>
                  <a:srgbClr val="1C7373"/>
                </a:solidFill>
                <a:latin typeface="Courier New" pitchFamily="34" charset="0"/>
                <a:ea typeface="Courier New" pitchFamily="34" charset="-122"/>
                <a:cs typeface="Courier New" pitchFamily="34" charset="-120"/>
              </a:rPr>
              <a:t>r</a:t>
            </a:r>
            <a:endParaRPr lang="en-US" sz="1400" dirty="0"/>
          </a:p>
        </p:txBody>
      </p:sp>
      <p:sp>
        <p:nvSpPr>
          <p:cNvPr id="30" name="Text 28">
            <a:extLst>
              <a:ext uri="{FF2B5EF4-FFF2-40B4-BE49-F238E27FC236}">
                <a16:creationId xmlns:a16="http://schemas.microsoft.com/office/drawing/2014/main" id="{2CD8D6F8-1070-A1B7-7E8E-11BC86A899B2}"/>
              </a:ext>
            </a:extLst>
          </p:cNvPr>
          <p:cNvSpPr txBox="1"/>
          <p:nvPr/>
        </p:nvSpPr>
        <p:spPr>
          <a:xfrm>
            <a:off x="8778240" y="4937760"/>
            <a:ext cx="2743200" cy="320040"/>
          </a:xfrm>
          <a:prstGeom prst="rect">
            <a:avLst/>
          </a:prstGeom>
          <a:noFill/>
          <a:ln/>
        </p:spPr>
        <p:txBody>
          <a:bodyPr wrap="square" lIns="0" tIns="0" rIns="0" bIns="0" rtlCol="0" anchor="t"/>
          <a:lstStyle/>
          <a:p>
            <a:pPr marL="0" indent="0" algn="l">
              <a:lnSpc>
                <a:spcPct val="110000"/>
              </a:lnSpc>
              <a:buNone/>
            </a:pPr>
            <a:r>
              <a:rPr lang="en-US" sz="1500" dirty="0">
                <a:solidFill>
                  <a:srgbClr val="14213D"/>
                </a:solidFill>
                <a:latin typeface="Courier New" pitchFamily="34" charset="0"/>
                <a:ea typeface="Courier New" pitchFamily="34" charset="-122"/>
                <a:cs typeface="Courier New" pitchFamily="34" charset="-120"/>
              </a:rPr>
              <a:t>sign(M·r) → </a:t>
            </a:r>
            <a:r>
              <a:rPr lang="en-US" sz="1500" b="1" dirty="0">
                <a:solidFill>
                  <a:srgbClr val="1C7373"/>
                </a:solidFill>
                <a:latin typeface="Courier New" pitchFamily="34" charset="0"/>
                <a:ea typeface="Courier New" pitchFamily="34" charset="-122"/>
                <a:cs typeface="Courier New" pitchFamily="34" charset="-120"/>
              </a:rPr>
              <a:t>+ − − + …</a:t>
            </a:r>
            <a:endParaRPr lang="en-US" sz="1500" dirty="0"/>
          </a:p>
        </p:txBody>
      </p:sp>
      <p:sp>
        <p:nvSpPr>
          <p:cNvPr id="31" name="Text 29">
            <a:extLst>
              <a:ext uri="{FF2B5EF4-FFF2-40B4-BE49-F238E27FC236}">
                <a16:creationId xmlns:a16="http://schemas.microsoft.com/office/drawing/2014/main" id="{34AB6011-FBD7-C957-2E58-2941B1E8B081}"/>
              </a:ext>
            </a:extLst>
          </p:cNvPr>
          <p:cNvSpPr txBox="1"/>
          <p:nvPr/>
        </p:nvSpPr>
        <p:spPr>
          <a:xfrm>
            <a:off x="8778240" y="5257800"/>
            <a:ext cx="2651760" cy="731520"/>
          </a:xfrm>
          <a:prstGeom prst="rect">
            <a:avLst/>
          </a:prstGeom>
          <a:noFill/>
          <a:ln/>
        </p:spPr>
        <p:txBody>
          <a:bodyPr wrap="square" lIns="0" tIns="0" rIns="0" bIns="0" rtlCol="0" anchor="t"/>
          <a:lstStyle/>
          <a:p>
            <a:pPr marL="0" indent="0" algn="l">
              <a:lnSpc>
                <a:spcPct val="120000"/>
              </a:lnSpc>
              <a:buNone/>
            </a:pPr>
            <a:r>
              <a:rPr lang="en-US" sz="1300" dirty="0">
                <a:solidFill>
                  <a:srgbClr val="4A5670"/>
                </a:solidFill>
                <a:latin typeface="Calibri" pitchFamily="34" charset="0"/>
                <a:ea typeface="Calibri" pitchFamily="34" charset="-122"/>
                <a:cs typeface="Calibri" pitchFamily="34" charset="-120"/>
              </a:rPr>
              <a:t>1 bit per dimension corrects the MSE bias.</a:t>
            </a:r>
            <a:endParaRPr lang="en-US" sz="1300" dirty="0"/>
          </a:p>
        </p:txBody>
      </p:sp>
    </p:spTree>
    <p:extLst>
      <p:ext uri="{BB962C8B-B14F-4D97-AF65-F5344CB8AC3E}">
        <p14:creationId xmlns:p14="http://schemas.microsoft.com/office/powerpoint/2010/main" val="3751619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1FE00-66C4-FAD9-AF82-9D3F8854AFE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9FECB4D-6F3C-8E36-503B-FA1843A3D296}"/>
              </a:ext>
            </a:extLst>
          </p:cNvPr>
          <p:cNvSpPr txBox="1"/>
          <p:nvPr/>
        </p:nvSpPr>
        <p:spPr>
          <a:xfrm>
            <a:off x="548640" y="411480"/>
            <a:ext cx="11094415" cy="274320"/>
          </a:xfrm>
          <a:prstGeom prst="rect">
            <a:avLst/>
          </a:prstGeom>
          <a:noFill/>
          <a:ln/>
        </p:spPr>
        <p:txBody>
          <a:bodyPr wrap="square" lIns="0" tIns="0" rIns="0" bIns="0" rtlCol="0" anchor="t"/>
          <a:lstStyle/>
          <a:p>
            <a:pPr marL="0" indent="0" algn="l">
              <a:lnSpc>
                <a:spcPct val="110000"/>
              </a:lnSpc>
              <a:buNone/>
            </a:pPr>
            <a:r>
              <a:rPr lang="en-US" sz="1200" dirty="0">
                <a:solidFill>
                  <a:srgbClr val="4A5670"/>
                </a:solidFill>
                <a:latin typeface="Courier New" pitchFamily="34" charset="0"/>
                <a:ea typeface="Courier New" pitchFamily="34" charset="-122"/>
                <a:cs typeface="Courier New" pitchFamily="34" charset="-120"/>
              </a:rPr>
              <a:t>What gets stored</a:t>
            </a:r>
            <a:endParaRPr lang="en-US" sz="1200" dirty="0"/>
          </a:p>
        </p:txBody>
      </p:sp>
      <p:sp>
        <p:nvSpPr>
          <p:cNvPr id="3" name="Text 1">
            <a:extLst>
              <a:ext uri="{FF2B5EF4-FFF2-40B4-BE49-F238E27FC236}">
                <a16:creationId xmlns:a16="http://schemas.microsoft.com/office/drawing/2014/main" id="{036D2993-8E59-933C-5ECD-3BB361D59A4D}"/>
              </a:ext>
            </a:extLst>
          </p:cNvPr>
          <p:cNvSpPr txBox="1"/>
          <p:nvPr/>
        </p:nvSpPr>
        <p:spPr>
          <a:xfrm>
            <a:off x="548640" y="685800"/>
            <a:ext cx="11094415" cy="685800"/>
          </a:xfrm>
          <a:prstGeom prst="rect">
            <a:avLst/>
          </a:prstGeom>
          <a:noFill/>
          <a:ln/>
        </p:spPr>
        <p:txBody>
          <a:bodyPr wrap="square" lIns="0" tIns="0" rIns="0" bIns="0" rtlCol="0" anchor="t"/>
          <a:lstStyle/>
          <a:p>
            <a:pPr marL="0" indent="0" algn="l">
              <a:lnSpc>
                <a:spcPct val="110000"/>
              </a:lnSpc>
              <a:buNone/>
            </a:pPr>
            <a:r>
              <a:rPr lang="en-US" sz="3400" b="1" dirty="0">
                <a:solidFill>
                  <a:srgbClr val="14213D"/>
                </a:solidFill>
                <a:latin typeface="Cambria" pitchFamily="34" charset="0"/>
                <a:ea typeface="Cambria" pitchFamily="34" charset="-122"/>
                <a:cs typeface="Cambria" pitchFamily="34" charset="-120"/>
              </a:rPr>
              <a:t>K and V are compressed. Q never touches the cache.</a:t>
            </a:r>
            <a:endParaRPr lang="en-US" sz="3400" dirty="0"/>
          </a:p>
        </p:txBody>
      </p:sp>
      <p:sp>
        <p:nvSpPr>
          <p:cNvPr id="4" name="Shape 2">
            <a:extLst>
              <a:ext uri="{FF2B5EF4-FFF2-40B4-BE49-F238E27FC236}">
                <a16:creationId xmlns:a16="http://schemas.microsoft.com/office/drawing/2014/main" id="{3555E0B3-F78D-E6F2-3BA4-1EB272D7ED9E}"/>
              </a:ext>
            </a:extLst>
          </p:cNvPr>
          <p:cNvSpPr/>
          <p:nvPr/>
        </p:nvSpPr>
        <p:spPr>
          <a:xfrm>
            <a:off x="548640" y="1691640"/>
            <a:ext cx="3520440" cy="4572000"/>
          </a:xfrm>
          <a:prstGeom prst="roundRect">
            <a:avLst>
              <a:gd name="adj" fmla="val 1558"/>
            </a:avLst>
          </a:prstGeom>
          <a:solidFill>
            <a:srgbClr val="F6E8DA"/>
          </a:solidFill>
          <a:ln w="12700">
            <a:solidFill>
              <a:srgbClr val="F6E8DA"/>
            </a:solidFill>
            <a:prstDash val="solid"/>
          </a:ln>
        </p:spPr>
        <p:txBody>
          <a:bodyPr/>
          <a:lstStyle/>
          <a:p>
            <a:endParaRPr lang="en-IL"/>
          </a:p>
        </p:txBody>
      </p:sp>
      <p:sp>
        <p:nvSpPr>
          <p:cNvPr id="5" name="Text 3">
            <a:extLst>
              <a:ext uri="{FF2B5EF4-FFF2-40B4-BE49-F238E27FC236}">
                <a16:creationId xmlns:a16="http://schemas.microsoft.com/office/drawing/2014/main" id="{03F17708-BA7C-502D-B496-2CEE05A5A430}"/>
              </a:ext>
            </a:extLst>
          </p:cNvPr>
          <p:cNvSpPr txBox="1"/>
          <p:nvPr/>
        </p:nvSpPr>
        <p:spPr>
          <a:xfrm>
            <a:off x="822960" y="1965960"/>
            <a:ext cx="2743200" cy="274320"/>
          </a:xfrm>
          <a:prstGeom prst="rect">
            <a:avLst/>
          </a:prstGeom>
          <a:noFill/>
          <a:ln/>
        </p:spPr>
        <p:txBody>
          <a:bodyPr wrap="square" lIns="0" tIns="0" rIns="0" bIns="0" rtlCol="0" anchor="t"/>
          <a:lstStyle/>
          <a:p>
            <a:pPr marL="0" indent="0" algn="l">
              <a:lnSpc>
                <a:spcPct val="110000"/>
              </a:lnSpc>
              <a:buNone/>
            </a:pPr>
            <a:r>
              <a:rPr lang="en-US" sz="1300" b="1" dirty="0">
                <a:solidFill>
                  <a:srgbClr val="B0661F"/>
                </a:solidFill>
                <a:latin typeface="Courier New" pitchFamily="34" charset="0"/>
                <a:ea typeface="Courier New" pitchFamily="34" charset="-122"/>
                <a:cs typeface="Courier New" pitchFamily="34" charset="-120"/>
              </a:rPr>
              <a:t>K · Keys</a:t>
            </a:r>
            <a:endParaRPr lang="en-US" sz="1300" dirty="0"/>
          </a:p>
        </p:txBody>
      </p:sp>
      <p:sp>
        <p:nvSpPr>
          <p:cNvPr id="6" name="Text 4">
            <a:extLst>
              <a:ext uri="{FF2B5EF4-FFF2-40B4-BE49-F238E27FC236}">
                <a16:creationId xmlns:a16="http://schemas.microsoft.com/office/drawing/2014/main" id="{7E6E5D47-613E-1320-A587-8DD8927CF884}"/>
              </a:ext>
            </a:extLst>
          </p:cNvPr>
          <p:cNvSpPr txBox="1"/>
          <p:nvPr/>
        </p:nvSpPr>
        <p:spPr>
          <a:xfrm>
            <a:off x="822960" y="2331720"/>
            <a:ext cx="2971800" cy="411480"/>
          </a:xfrm>
          <a:prstGeom prst="rect">
            <a:avLst/>
          </a:prstGeom>
          <a:noFill/>
          <a:ln/>
        </p:spPr>
        <p:txBody>
          <a:bodyPr wrap="square" lIns="0" tIns="0" rIns="0" bIns="0" rtlCol="0" anchor="t"/>
          <a:lstStyle/>
          <a:p>
            <a:pPr marL="0" indent="0" algn="l">
              <a:lnSpc>
                <a:spcPct val="110000"/>
              </a:lnSpc>
              <a:buNone/>
            </a:pPr>
            <a:r>
              <a:rPr lang="en-US" sz="2000" b="1" dirty="0">
                <a:solidFill>
                  <a:srgbClr val="14213D"/>
                </a:solidFill>
                <a:latin typeface="Cambria" pitchFamily="34" charset="0"/>
                <a:ea typeface="Cambria" pitchFamily="34" charset="-122"/>
                <a:cs typeface="Cambria" pitchFamily="34" charset="-120"/>
              </a:rPr>
              <a:t>Cached, both streams</a:t>
            </a:r>
            <a:endParaRPr lang="en-US" sz="2000" dirty="0"/>
          </a:p>
        </p:txBody>
      </p:sp>
      <p:sp>
        <p:nvSpPr>
          <p:cNvPr id="7" name="Text 5">
            <a:extLst>
              <a:ext uri="{FF2B5EF4-FFF2-40B4-BE49-F238E27FC236}">
                <a16:creationId xmlns:a16="http://schemas.microsoft.com/office/drawing/2014/main" id="{560E6D1E-49DD-B83B-3BC4-AB0062127383}"/>
              </a:ext>
            </a:extLst>
          </p:cNvPr>
          <p:cNvSpPr txBox="1"/>
          <p:nvPr/>
        </p:nvSpPr>
        <p:spPr>
          <a:xfrm>
            <a:off x="822960" y="2834640"/>
            <a:ext cx="2971800" cy="1737360"/>
          </a:xfrm>
          <a:prstGeom prst="rect">
            <a:avLst/>
          </a:prstGeom>
          <a:noFill/>
          <a:ln/>
        </p:spPr>
        <p:txBody>
          <a:bodyPr wrap="square" lIns="0" tIns="0" rIns="0" bIns="0" rtlCol="0" anchor="t"/>
          <a:lstStyle/>
          <a:p>
            <a:pPr marL="0" indent="0" algn="l">
              <a:lnSpc>
                <a:spcPct val="120000"/>
              </a:lnSpc>
              <a:buNone/>
            </a:pPr>
            <a:r>
              <a:rPr lang="en-US" sz="1450" dirty="0">
                <a:solidFill>
                  <a:srgbClr val="4A5670"/>
                </a:solidFill>
                <a:latin typeface="Calibri" pitchFamily="34" charset="0"/>
                <a:ea typeface="Calibri" pitchFamily="34" charset="-122"/>
                <a:cs typeface="Calibri" pitchFamily="34" charset="-120"/>
              </a:rPr>
              <a:t>3-bit centroid index per dimension, 1-bit QJL residual sign per dimension, and a scalar norm.</a:t>
            </a:r>
            <a:endParaRPr lang="en-US" sz="1450" dirty="0"/>
          </a:p>
        </p:txBody>
      </p:sp>
      <p:sp>
        <p:nvSpPr>
          <p:cNvPr id="8" name="Shape 6">
            <a:extLst>
              <a:ext uri="{FF2B5EF4-FFF2-40B4-BE49-F238E27FC236}">
                <a16:creationId xmlns:a16="http://schemas.microsoft.com/office/drawing/2014/main" id="{091FA111-DBFB-38DD-8E98-0DE203CEB606}"/>
              </a:ext>
            </a:extLst>
          </p:cNvPr>
          <p:cNvSpPr/>
          <p:nvPr/>
        </p:nvSpPr>
        <p:spPr>
          <a:xfrm>
            <a:off x="822960" y="4937760"/>
            <a:ext cx="2011680" cy="457200"/>
          </a:xfrm>
          <a:prstGeom prst="rect">
            <a:avLst/>
          </a:prstGeom>
          <a:solidFill>
            <a:srgbClr val="B0661F"/>
          </a:solidFill>
          <a:ln w="12700">
            <a:solidFill>
              <a:srgbClr val="B0661F"/>
            </a:solidFill>
            <a:prstDash val="solid"/>
          </a:ln>
        </p:spPr>
        <p:txBody>
          <a:bodyPr/>
          <a:lstStyle/>
          <a:p>
            <a:endParaRPr lang="en-IL"/>
          </a:p>
        </p:txBody>
      </p:sp>
      <p:sp>
        <p:nvSpPr>
          <p:cNvPr id="9" name="Text 7">
            <a:extLst>
              <a:ext uri="{FF2B5EF4-FFF2-40B4-BE49-F238E27FC236}">
                <a16:creationId xmlns:a16="http://schemas.microsoft.com/office/drawing/2014/main" id="{3345B598-DB50-CF32-2F25-0D23CC8B2266}"/>
              </a:ext>
            </a:extLst>
          </p:cNvPr>
          <p:cNvSpPr txBox="1"/>
          <p:nvPr/>
        </p:nvSpPr>
        <p:spPr>
          <a:xfrm>
            <a:off x="822960" y="4937760"/>
            <a:ext cx="2011680" cy="457200"/>
          </a:xfrm>
          <a:prstGeom prst="rect">
            <a:avLst/>
          </a:prstGeom>
          <a:noFill/>
          <a:ln/>
        </p:spPr>
        <p:txBody>
          <a:bodyPr wrap="square" lIns="0" tIns="0" rIns="0" bIns="0" rtlCol="0" anchor="ctr"/>
          <a:lstStyle/>
          <a:p>
            <a:pPr marL="0" indent="0" algn="ctr">
              <a:lnSpc>
                <a:spcPct val="110000"/>
              </a:lnSpc>
              <a:buNone/>
            </a:pPr>
            <a:r>
              <a:rPr lang="en-US" sz="1100" b="1" dirty="0">
                <a:solidFill>
                  <a:srgbClr val="FFFFFF"/>
                </a:solidFill>
                <a:latin typeface="Courier New" pitchFamily="34" charset="0"/>
                <a:ea typeface="Courier New" pitchFamily="34" charset="-122"/>
                <a:cs typeface="Courier New" pitchFamily="34" charset="-120"/>
              </a:rPr>
              <a:t>idx 18 B</a:t>
            </a:r>
            <a:endParaRPr lang="en-US" sz="1100" dirty="0"/>
          </a:p>
        </p:txBody>
      </p:sp>
      <p:sp>
        <p:nvSpPr>
          <p:cNvPr id="10" name="Shape 8">
            <a:extLst>
              <a:ext uri="{FF2B5EF4-FFF2-40B4-BE49-F238E27FC236}">
                <a16:creationId xmlns:a16="http://schemas.microsoft.com/office/drawing/2014/main" id="{CF50985D-D142-1EC0-C5E8-EA7E2593615A}"/>
              </a:ext>
            </a:extLst>
          </p:cNvPr>
          <p:cNvSpPr/>
          <p:nvPr/>
        </p:nvSpPr>
        <p:spPr>
          <a:xfrm>
            <a:off x="2871216" y="4937760"/>
            <a:ext cx="685800" cy="457200"/>
          </a:xfrm>
          <a:prstGeom prst="rect">
            <a:avLst/>
          </a:prstGeom>
          <a:solidFill>
            <a:srgbClr val="1C7373"/>
          </a:solidFill>
          <a:ln w="12700">
            <a:solidFill>
              <a:srgbClr val="1C7373"/>
            </a:solidFill>
            <a:prstDash val="solid"/>
          </a:ln>
        </p:spPr>
        <p:txBody>
          <a:bodyPr/>
          <a:lstStyle/>
          <a:p>
            <a:endParaRPr lang="en-IL"/>
          </a:p>
        </p:txBody>
      </p:sp>
      <p:sp>
        <p:nvSpPr>
          <p:cNvPr id="11" name="Text 9">
            <a:extLst>
              <a:ext uri="{FF2B5EF4-FFF2-40B4-BE49-F238E27FC236}">
                <a16:creationId xmlns:a16="http://schemas.microsoft.com/office/drawing/2014/main" id="{3808ED15-0674-323B-BE60-D61AD820A126}"/>
              </a:ext>
            </a:extLst>
          </p:cNvPr>
          <p:cNvSpPr txBox="1"/>
          <p:nvPr/>
        </p:nvSpPr>
        <p:spPr>
          <a:xfrm>
            <a:off x="2871216" y="4937760"/>
            <a:ext cx="685800" cy="457200"/>
          </a:xfrm>
          <a:prstGeom prst="rect">
            <a:avLst/>
          </a:prstGeom>
          <a:noFill/>
          <a:ln/>
        </p:spPr>
        <p:txBody>
          <a:bodyPr wrap="square" lIns="0" tIns="0" rIns="0" bIns="0" rtlCol="0" anchor="ctr"/>
          <a:lstStyle/>
          <a:p>
            <a:pPr marL="0" indent="0" algn="ctr">
              <a:lnSpc>
                <a:spcPct val="110000"/>
              </a:lnSpc>
              <a:buNone/>
            </a:pPr>
            <a:r>
              <a:rPr lang="en-US" sz="1100" b="1" dirty="0">
                <a:solidFill>
                  <a:srgbClr val="FFFFFF"/>
                </a:solidFill>
                <a:latin typeface="Courier New" pitchFamily="34" charset="0"/>
                <a:ea typeface="Courier New" pitchFamily="34" charset="-122"/>
                <a:cs typeface="Courier New" pitchFamily="34" charset="-120"/>
              </a:rPr>
              <a:t>sgn 6 B</a:t>
            </a:r>
            <a:endParaRPr lang="en-US" sz="1100" dirty="0"/>
          </a:p>
        </p:txBody>
      </p:sp>
      <p:sp>
        <p:nvSpPr>
          <p:cNvPr id="12" name="Shape 10">
            <a:extLst>
              <a:ext uri="{FF2B5EF4-FFF2-40B4-BE49-F238E27FC236}">
                <a16:creationId xmlns:a16="http://schemas.microsoft.com/office/drawing/2014/main" id="{574A8FBA-B977-8726-B2DF-CA7A30BBF950}"/>
              </a:ext>
            </a:extLst>
          </p:cNvPr>
          <p:cNvSpPr/>
          <p:nvPr/>
        </p:nvSpPr>
        <p:spPr>
          <a:xfrm>
            <a:off x="3593592" y="4937760"/>
            <a:ext cx="320040" cy="457200"/>
          </a:xfrm>
          <a:prstGeom prst="rect">
            <a:avLst/>
          </a:prstGeom>
          <a:solidFill>
            <a:srgbClr val="4A5670"/>
          </a:solidFill>
          <a:ln w="12700">
            <a:solidFill>
              <a:srgbClr val="4A5670"/>
            </a:solidFill>
            <a:prstDash val="solid"/>
          </a:ln>
        </p:spPr>
        <p:txBody>
          <a:bodyPr/>
          <a:lstStyle/>
          <a:p>
            <a:endParaRPr lang="en-IL"/>
          </a:p>
        </p:txBody>
      </p:sp>
      <p:sp>
        <p:nvSpPr>
          <p:cNvPr id="13" name="Text 11">
            <a:extLst>
              <a:ext uri="{FF2B5EF4-FFF2-40B4-BE49-F238E27FC236}">
                <a16:creationId xmlns:a16="http://schemas.microsoft.com/office/drawing/2014/main" id="{74F7BC98-B6E0-C637-2DA6-3C913F2E0A7E}"/>
              </a:ext>
            </a:extLst>
          </p:cNvPr>
          <p:cNvSpPr txBox="1"/>
          <p:nvPr/>
        </p:nvSpPr>
        <p:spPr>
          <a:xfrm>
            <a:off x="822960" y="5532120"/>
            <a:ext cx="2971800" cy="457200"/>
          </a:xfrm>
          <a:prstGeom prst="rect">
            <a:avLst/>
          </a:prstGeom>
          <a:noFill/>
          <a:ln/>
        </p:spPr>
        <p:txBody>
          <a:bodyPr wrap="square" lIns="0" tIns="0" rIns="0" bIns="0" rtlCol="0" anchor="t"/>
          <a:lstStyle/>
          <a:p>
            <a:pPr marL="0" indent="0" algn="l">
              <a:lnSpc>
                <a:spcPct val="110000"/>
              </a:lnSpc>
              <a:buNone/>
            </a:pPr>
            <a:r>
              <a:rPr lang="en-US" sz="1200" dirty="0">
                <a:solidFill>
                  <a:srgbClr val="4A5670"/>
                </a:solidFill>
                <a:latin typeface="Calibri" pitchFamily="34" charset="0"/>
                <a:ea typeface="Calibri" pitchFamily="34" charset="-122"/>
                <a:cs typeface="Calibri" pitchFamily="34" charset="-120"/>
              </a:rPr>
              <a:t>‖K‖ scalar · per token, head, layer (d = 48)</a:t>
            </a:r>
            <a:endParaRPr lang="en-US" sz="1200" dirty="0"/>
          </a:p>
        </p:txBody>
      </p:sp>
      <p:sp>
        <p:nvSpPr>
          <p:cNvPr id="14" name="Shape 12">
            <a:extLst>
              <a:ext uri="{FF2B5EF4-FFF2-40B4-BE49-F238E27FC236}">
                <a16:creationId xmlns:a16="http://schemas.microsoft.com/office/drawing/2014/main" id="{803146AE-8D97-0E63-C992-0F808A495DF1}"/>
              </a:ext>
            </a:extLst>
          </p:cNvPr>
          <p:cNvSpPr/>
          <p:nvPr/>
        </p:nvSpPr>
        <p:spPr>
          <a:xfrm>
            <a:off x="4343400" y="1691640"/>
            <a:ext cx="3520440" cy="4572000"/>
          </a:xfrm>
          <a:prstGeom prst="roundRect">
            <a:avLst>
              <a:gd name="adj" fmla="val 1558"/>
            </a:avLst>
          </a:prstGeom>
          <a:solidFill>
            <a:srgbClr val="E8E5F6"/>
          </a:solidFill>
          <a:ln w="12700">
            <a:solidFill>
              <a:srgbClr val="E8E5F6"/>
            </a:solidFill>
            <a:prstDash val="solid"/>
          </a:ln>
        </p:spPr>
        <p:txBody>
          <a:bodyPr/>
          <a:lstStyle/>
          <a:p>
            <a:endParaRPr lang="en-IL"/>
          </a:p>
        </p:txBody>
      </p:sp>
      <p:sp>
        <p:nvSpPr>
          <p:cNvPr id="15" name="Text 13">
            <a:extLst>
              <a:ext uri="{FF2B5EF4-FFF2-40B4-BE49-F238E27FC236}">
                <a16:creationId xmlns:a16="http://schemas.microsoft.com/office/drawing/2014/main" id="{20DDD6AC-1FA1-5CCB-2986-D5059AFD72B3}"/>
              </a:ext>
            </a:extLst>
          </p:cNvPr>
          <p:cNvSpPr txBox="1"/>
          <p:nvPr/>
        </p:nvSpPr>
        <p:spPr>
          <a:xfrm>
            <a:off x="4617720" y="1965960"/>
            <a:ext cx="2743200" cy="274320"/>
          </a:xfrm>
          <a:prstGeom prst="rect">
            <a:avLst/>
          </a:prstGeom>
          <a:noFill/>
          <a:ln/>
        </p:spPr>
        <p:txBody>
          <a:bodyPr wrap="square" lIns="0" tIns="0" rIns="0" bIns="0" rtlCol="0" anchor="t"/>
          <a:lstStyle/>
          <a:p>
            <a:pPr marL="0" indent="0" algn="l">
              <a:lnSpc>
                <a:spcPct val="110000"/>
              </a:lnSpc>
              <a:buNone/>
            </a:pPr>
            <a:r>
              <a:rPr lang="en-US" sz="1300" b="1" dirty="0">
                <a:solidFill>
                  <a:srgbClr val="5B4BA8"/>
                </a:solidFill>
                <a:latin typeface="Courier New" pitchFamily="34" charset="0"/>
                <a:ea typeface="Courier New" pitchFamily="34" charset="-122"/>
                <a:cs typeface="Courier New" pitchFamily="34" charset="-120"/>
              </a:rPr>
              <a:t>V · Values</a:t>
            </a:r>
            <a:endParaRPr lang="en-US" sz="1300" dirty="0"/>
          </a:p>
        </p:txBody>
      </p:sp>
      <p:sp>
        <p:nvSpPr>
          <p:cNvPr id="16" name="Text 14">
            <a:extLst>
              <a:ext uri="{FF2B5EF4-FFF2-40B4-BE49-F238E27FC236}">
                <a16:creationId xmlns:a16="http://schemas.microsoft.com/office/drawing/2014/main" id="{93F32DA1-5336-0B5F-ACCE-B6622589EBB2}"/>
              </a:ext>
            </a:extLst>
          </p:cNvPr>
          <p:cNvSpPr txBox="1"/>
          <p:nvPr/>
        </p:nvSpPr>
        <p:spPr>
          <a:xfrm>
            <a:off x="4617720" y="2331720"/>
            <a:ext cx="2971800" cy="411480"/>
          </a:xfrm>
          <a:prstGeom prst="rect">
            <a:avLst/>
          </a:prstGeom>
          <a:noFill/>
          <a:ln/>
        </p:spPr>
        <p:txBody>
          <a:bodyPr wrap="square" lIns="0" tIns="0" rIns="0" bIns="0" rtlCol="0" anchor="t"/>
          <a:lstStyle/>
          <a:p>
            <a:pPr marL="0" indent="0" algn="l">
              <a:lnSpc>
                <a:spcPct val="110000"/>
              </a:lnSpc>
              <a:buNone/>
            </a:pPr>
            <a:r>
              <a:rPr lang="en-US" sz="2000" b="1" dirty="0">
                <a:solidFill>
                  <a:srgbClr val="14213D"/>
                </a:solidFill>
                <a:latin typeface="Cambria" pitchFamily="34" charset="0"/>
                <a:ea typeface="Cambria" pitchFamily="34" charset="-122"/>
                <a:cs typeface="Cambria" pitchFamily="34" charset="-120"/>
              </a:rPr>
              <a:t>Cached, MSE stream only</a:t>
            </a:r>
            <a:endParaRPr lang="en-US" sz="2000" dirty="0"/>
          </a:p>
        </p:txBody>
      </p:sp>
      <p:sp>
        <p:nvSpPr>
          <p:cNvPr id="17" name="Text 15">
            <a:extLst>
              <a:ext uri="{FF2B5EF4-FFF2-40B4-BE49-F238E27FC236}">
                <a16:creationId xmlns:a16="http://schemas.microsoft.com/office/drawing/2014/main" id="{91F4254E-4DA1-7736-F47A-6771FD201DD7}"/>
              </a:ext>
            </a:extLst>
          </p:cNvPr>
          <p:cNvSpPr txBox="1"/>
          <p:nvPr/>
        </p:nvSpPr>
        <p:spPr>
          <a:xfrm>
            <a:off x="4617720" y="2834640"/>
            <a:ext cx="2971800" cy="1737360"/>
          </a:xfrm>
          <a:prstGeom prst="rect">
            <a:avLst/>
          </a:prstGeom>
          <a:noFill/>
          <a:ln/>
        </p:spPr>
        <p:txBody>
          <a:bodyPr wrap="square" lIns="0" tIns="0" rIns="0" bIns="0" rtlCol="0" anchor="t"/>
          <a:lstStyle/>
          <a:p>
            <a:pPr marL="0" indent="0" algn="l">
              <a:lnSpc>
                <a:spcPct val="120000"/>
              </a:lnSpc>
              <a:buNone/>
            </a:pPr>
            <a:r>
              <a:rPr lang="en-US" sz="1450" dirty="0">
                <a:solidFill>
                  <a:srgbClr val="4A5670"/>
                </a:solidFill>
                <a:latin typeface="Calibri" pitchFamily="34" charset="0"/>
                <a:ea typeface="Calibri" pitchFamily="34" charset="-122"/>
                <a:cs typeface="Calibri" pitchFamily="34" charset="-120"/>
              </a:rPr>
              <a:t>3-bit centroid index per dimension plus a scalar norm. No residual signs are needed for values.</a:t>
            </a:r>
            <a:endParaRPr lang="en-US" sz="1450" dirty="0"/>
          </a:p>
        </p:txBody>
      </p:sp>
      <p:sp>
        <p:nvSpPr>
          <p:cNvPr id="18" name="Shape 16">
            <a:extLst>
              <a:ext uri="{FF2B5EF4-FFF2-40B4-BE49-F238E27FC236}">
                <a16:creationId xmlns:a16="http://schemas.microsoft.com/office/drawing/2014/main" id="{2D9AE046-1C16-5882-1BC7-FAE4DF5E6DD0}"/>
              </a:ext>
            </a:extLst>
          </p:cNvPr>
          <p:cNvSpPr/>
          <p:nvPr/>
        </p:nvSpPr>
        <p:spPr>
          <a:xfrm>
            <a:off x="4617720" y="4937760"/>
            <a:ext cx="2011680" cy="457200"/>
          </a:xfrm>
          <a:prstGeom prst="rect">
            <a:avLst/>
          </a:prstGeom>
          <a:solidFill>
            <a:srgbClr val="5B4BA8"/>
          </a:solidFill>
          <a:ln w="12700">
            <a:solidFill>
              <a:srgbClr val="5B4BA8"/>
            </a:solidFill>
            <a:prstDash val="solid"/>
          </a:ln>
        </p:spPr>
        <p:txBody>
          <a:bodyPr/>
          <a:lstStyle/>
          <a:p>
            <a:endParaRPr lang="en-IL"/>
          </a:p>
        </p:txBody>
      </p:sp>
      <p:sp>
        <p:nvSpPr>
          <p:cNvPr id="19" name="Text 17">
            <a:extLst>
              <a:ext uri="{FF2B5EF4-FFF2-40B4-BE49-F238E27FC236}">
                <a16:creationId xmlns:a16="http://schemas.microsoft.com/office/drawing/2014/main" id="{0FDEDC97-3EF4-1575-3DBD-96213A2BE874}"/>
              </a:ext>
            </a:extLst>
          </p:cNvPr>
          <p:cNvSpPr txBox="1"/>
          <p:nvPr/>
        </p:nvSpPr>
        <p:spPr>
          <a:xfrm>
            <a:off x="4617720" y="4937760"/>
            <a:ext cx="2011680" cy="457200"/>
          </a:xfrm>
          <a:prstGeom prst="rect">
            <a:avLst/>
          </a:prstGeom>
          <a:noFill/>
          <a:ln/>
        </p:spPr>
        <p:txBody>
          <a:bodyPr wrap="square" lIns="0" tIns="0" rIns="0" bIns="0" rtlCol="0" anchor="ctr"/>
          <a:lstStyle/>
          <a:p>
            <a:pPr marL="0" indent="0" algn="ctr">
              <a:lnSpc>
                <a:spcPct val="110000"/>
              </a:lnSpc>
              <a:buNone/>
            </a:pPr>
            <a:r>
              <a:rPr lang="en-US" sz="1100" b="1" dirty="0">
                <a:solidFill>
                  <a:srgbClr val="FFFFFF"/>
                </a:solidFill>
                <a:latin typeface="Courier New" pitchFamily="34" charset="0"/>
                <a:ea typeface="Courier New" pitchFamily="34" charset="-122"/>
                <a:cs typeface="Courier New" pitchFamily="34" charset="-120"/>
              </a:rPr>
              <a:t>idx 18 B</a:t>
            </a:r>
            <a:endParaRPr lang="en-US" sz="1100" dirty="0"/>
          </a:p>
        </p:txBody>
      </p:sp>
      <p:sp>
        <p:nvSpPr>
          <p:cNvPr id="20" name="Shape 18">
            <a:extLst>
              <a:ext uri="{FF2B5EF4-FFF2-40B4-BE49-F238E27FC236}">
                <a16:creationId xmlns:a16="http://schemas.microsoft.com/office/drawing/2014/main" id="{54B451C5-33E9-2A1B-2A5D-9CA3DC3AAEA4}"/>
              </a:ext>
            </a:extLst>
          </p:cNvPr>
          <p:cNvSpPr/>
          <p:nvPr/>
        </p:nvSpPr>
        <p:spPr>
          <a:xfrm>
            <a:off x="6665976" y="4937760"/>
            <a:ext cx="320040" cy="457200"/>
          </a:xfrm>
          <a:prstGeom prst="rect">
            <a:avLst/>
          </a:prstGeom>
          <a:solidFill>
            <a:srgbClr val="4A5670"/>
          </a:solidFill>
          <a:ln w="12700">
            <a:solidFill>
              <a:srgbClr val="4A5670"/>
            </a:solidFill>
            <a:prstDash val="solid"/>
          </a:ln>
        </p:spPr>
        <p:txBody>
          <a:bodyPr/>
          <a:lstStyle/>
          <a:p>
            <a:endParaRPr lang="en-IL"/>
          </a:p>
        </p:txBody>
      </p:sp>
      <p:sp>
        <p:nvSpPr>
          <p:cNvPr id="21" name="Text 19">
            <a:extLst>
              <a:ext uri="{FF2B5EF4-FFF2-40B4-BE49-F238E27FC236}">
                <a16:creationId xmlns:a16="http://schemas.microsoft.com/office/drawing/2014/main" id="{B59C6630-0C83-3C0E-8AD1-C571962EB7E9}"/>
              </a:ext>
            </a:extLst>
          </p:cNvPr>
          <p:cNvSpPr txBox="1"/>
          <p:nvPr/>
        </p:nvSpPr>
        <p:spPr>
          <a:xfrm>
            <a:off x="4617720" y="5532120"/>
            <a:ext cx="2971800" cy="457200"/>
          </a:xfrm>
          <a:prstGeom prst="rect">
            <a:avLst/>
          </a:prstGeom>
          <a:noFill/>
          <a:ln/>
        </p:spPr>
        <p:txBody>
          <a:bodyPr wrap="square" lIns="0" tIns="0" rIns="0" bIns="0" rtlCol="0" anchor="t"/>
          <a:lstStyle/>
          <a:p>
            <a:pPr marL="0" indent="0" algn="l">
              <a:lnSpc>
                <a:spcPct val="110000"/>
              </a:lnSpc>
              <a:buNone/>
            </a:pPr>
            <a:r>
              <a:rPr lang="en-US" sz="1200" dirty="0">
                <a:solidFill>
                  <a:srgbClr val="4A5670"/>
                </a:solidFill>
                <a:latin typeface="Calibri" pitchFamily="34" charset="0"/>
                <a:ea typeface="Calibri" pitchFamily="34" charset="-122"/>
                <a:cs typeface="Calibri" pitchFamily="34" charset="-120"/>
              </a:rPr>
              <a:t>‖V‖ scalar · per token, head, layer (d = 48)</a:t>
            </a:r>
            <a:endParaRPr lang="en-US" sz="1200" dirty="0"/>
          </a:p>
        </p:txBody>
      </p:sp>
      <p:sp>
        <p:nvSpPr>
          <p:cNvPr id="22" name="Shape 20">
            <a:extLst>
              <a:ext uri="{FF2B5EF4-FFF2-40B4-BE49-F238E27FC236}">
                <a16:creationId xmlns:a16="http://schemas.microsoft.com/office/drawing/2014/main" id="{56CE7203-EA53-26AA-B14F-4A3E661D936D}"/>
              </a:ext>
            </a:extLst>
          </p:cNvPr>
          <p:cNvSpPr/>
          <p:nvPr/>
        </p:nvSpPr>
        <p:spPr>
          <a:xfrm>
            <a:off x="8138160" y="1691640"/>
            <a:ext cx="3520440" cy="4572000"/>
          </a:xfrm>
          <a:prstGeom prst="roundRect">
            <a:avLst>
              <a:gd name="adj" fmla="val 1558"/>
            </a:avLst>
          </a:prstGeom>
          <a:solidFill>
            <a:srgbClr val="FFFFFF"/>
          </a:solidFill>
          <a:ln w="12700">
            <a:solidFill>
              <a:srgbClr val="C9D1DC"/>
            </a:solidFill>
            <a:prstDash val="solid"/>
          </a:ln>
        </p:spPr>
        <p:txBody>
          <a:bodyPr/>
          <a:lstStyle/>
          <a:p>
            <a:endParaRPr lang="en-IL"/>
          </a:p>
        </p:txBody>
      </p:sp>
      <p:sp>
        <p:nvSpPr>
          <p:cNvPr id="23" name="Text 21">
            <a:extLst>
              <a:ext uri="{FF2B5EF4-FFF2-40B4-BE49-F238E27FC236}">
                <a16:creationId xmlns:a16="http://schemas.microsoft.com/office/drawing/2014/main" id="{33D0335F-337E-9D6F-15EE-E5CB2F896FA9}"/>
              </a:ext>
            </a:extLst>
          </p:cNvPr>
          <p:cNvSpPr txBox="1"/>
          <p:nvPr/>
        </p:nvSpPr>
        <p:spPr>
          <a:xfrm>
            <a:off x="8412480" y="1965960"/>
            <a:ext cx="2743200" cy="274320"/>
          </a:xfrm>
          <a:prstGeom prst="rect">
            <a:avLst/>
          </a:prstGeom>
          <a:noFill/>
          <a:ln/>
        </p:spPr>
        <p:txBody>
          <a:bodyPr wrap="square" lIns="0" tIns="0" rIns="0" bIns="0" rtlCol="0" anchor="t"/>
          <a:lstStyle/>
          <a:p>
            <a:pPr marL="0" indent="0" algn="l">
              <a:lnSpc>
                <a:spcPct val="110000"/>
              </a:lnSpc>
              <a:buNone/>
            </a:pPr>
            <a:r>
              <a:rPr lang="en-US" sz="1300" b="1" dirty="0">
                <a:solidFill>
                  <a:srgbClr val="14213D"/>
                </a:solidFill>
                <a:latin typeface="Courier New" pitchFamily="34" charset="0"/>
                <a:ea typeface="Courier New" pitchFamily="34" charset="-122"/>
                <a:cs typeface="Courier New" pitchFamily="34" charset="-120"/>
              </a:rPr>
              <a:t>Q · Queries</a:t>
            </a:r>
            <a:endParaRPr lang="en-US" sz="1300" dirty="0"/>
          </a:p>
        </p:txBody>
      </p:sp>
      <p:sp>
        <p:nvSpPr>
          <p:cNvPr id="24" name="Text 22">
            <a:extLst>
              <a:ext uri="{FF2B5EF4-FFF2-40B4-BE49-F238E27FC236}">
                <a16:creationId xmlns:a16="http://schemas.microsoft.com/office/drawing/2014/main" id="{22CB6B9D-F7CB-2EB7-0584-667290750B44}"/>
              </a:ext>
            </a:extLst>
          </p:cNvPr>
          <p:cNvSpPr txBox="1"/>
          <p:nvPr/>
        </p:nvSpPr>
        <p:spPr>
          <a:xfrm>
            <a:off x="8412480" y="2331720"/>
            <a:ext cx="2971800" cy="411480"/>
          </a:xfrm>
          <a:prstGeom prst="rect">
            <a:avLst/>
          </a:prstGeom>
          <a:noFill/>
          <a:ln/>
        </p:spPr>
        <p:txBody>
          <a:bodyPr wrap="square" lIns="0" tIns="0" rIns="0" bIns="0" rtlCol="0" anchor="t"/>
          <a:lstStyle/>
          <a:p>
            <a:pPr marL="0" indent="0" algn="l">
              <a:lnSpc>
                <a:spcPct val="110000"/>
              </a:lnSpc>
              <a:buNone/>
            </a:pPr>
            <a:r>
              <a:rPr lang="en-US" sz="2000" b="1" dirty="0">
                <a:solidFill>
                  <a:srgbClr val="14213D"/>
                </a:solidFill>
                <a:latin typeface="Cambria" pitchFamily="34" charset="0"/>
                <a:ea typeface="Cambria" pitchFamily="34" charset="-122"/>
                <a:cs typeface="Cambria" pitchFamily="34" charset="-120"/>
              </a:rPr>
              <a:t>Never stored</a:t>
            </a:r>
            <a:endParaRPr lang="en-US" sz="2000" dirty="0"/>
          </a:p>
        </p:txBody>
      </p:sp>
      <p:sp>
        <p:nvSpPr>
          <p:cNvPr id="25" name="Text 23">
            <a:extLst>
              <a:ext uri="{FF2B5EF4-FFF2-40B4-BE49-F238E27FC236}">
                <a16:creationId xmlns:a16="http://schemas.microsoft.com/office/drawing/2014/main" id="{E6EEE8AC-A49F-4BF2-4E3D-BF59525C08CC}"/>
              </a:ext>
            </a:extLst>
          </p:cNvPr>
          <p:cNvSpPr txBox="1"/>
          <p:nvPr/>
        </p:nvSpPr>
        <p:spPr>
          <a:xfrm>
            <a:off x="8412480" y="2834640"/>
            <a:ext cx="2971800" cy="1737360"/>
          </a:xfrm>
          <a:prstGeom prst="rect">
            <a:avLst/>
          </a:prstGeom>
          <a:noFill/>
          <a:ln/>
        </p:spPr>
        <p:txBody>
          <a:bodyPr wrap="square" lIns="0" tIns="0" rIns="0" bIns="0" rtlCol="0" anchor="t"/>
          <a:lstStyle/>
          <a:p>
            <a:pPr marL="0" indent="0" algn="l">
              <a:lnSpc>
                <a:spcPct val="120000"/>
              </a:lnSpc>
              <a:buNone/>
            </a:pPr>
            <a:r>
              <a:rPr lang="en-US" sz="1450" dirty="0">
                <a:solidFill>
                  <a:srgbClr val="4A5670"/>
                </a:solidFill>
                <a:latin typeface="Calibri" pitchFamily="34" charset="0"/>
                <a:ea typeface="Calibri" pitchFamily="34" charset="-122"/>
                <a:cs typeface="Calibri" pitchFamily="34" charset="-120"/>
              </a:rPr>
              <a:t>Held in high-precision Q15 fixed point, rotated online into the codebook space, and scored directly against the compressed cache. No full vector is ever dequantized.</a:t>
            </a:r>
            <a:endParaRPr lang="en-US" sz="1450" dirty="0"/>
          </a:p>
        </p:txBody>
      </p:sp>
      <p:sp>
        <p:nvSpPr>
          <p:cNvPr id="26" name="Shape 24">
            <a:extLst>
              <a:ext uri="{FF2B5EF4-FFF2-40B4-BE49-F238E27FC236}">
                <a16:creationId xmlns:a16="http://schemas.microsoft.com/office/drawing/2014/main" id="{053BD191-E1B7-6786-A6E5-BF3DB37CA8E5}"/>
              </a:ext>
            </a:extLst>
          </p:cNvPr>
          <p:cNvSpPr/>
          <p:nvPr/>
        </p:nvSpPr>
        <p:spPr>
          <a:xfrm>
            <a:off x="8412480" y="4937760"/>
            <a:ext cx="2971800" cy="457200"/>
          </a:xfrm>
          <a:prstGeom prst="rect">
            <a:avLst/>
          </a:prstGeom>
          <a:solidFill>
            <a:srgbClr val="FFFFFF"/>
          </a:solidFill>
          <a:ln w="15875">
            <a:solidFill>
              <a:srgbClr val="14213D"/>
            </a:solidFill>
            <a:prstDash val="dash"/>
          </a:ln>
        </p:spPr>
        <p:txBody>
          <a:bodyPr/>
          <a:lstStyle/>
          <a:p>
            <a:endParaRPr lang="en-IL"/>
          </a:p>
        </p:txBody>
      </p:sp>
      <p:sp>
        <p:nvSpPr>
          <p:cNvPr id="27" name="Text 25">
            <a:extLst>
              <a:ext uri="{FF2B5EF4-FFF2-40B4-BE49-F238E27FC236}">
                <a16:creationId xmlns:a16="http://schemas.microsoft.com/office/drawing/2014/main" id="{E6EB08E5-B9AB-179D-8F9E-A46ED98103AA}"/>
              </a:ext>
            </a:extLst>
          </p:cNvPr>
          <p:cNvSpPr txBox="1"/>
          <p:nvPr/>
        </p:nvSpPr>
        <p:spPr>
          <a:xfrm>
            <a:off x="8412480" y="4937760"/>
            <a:ext cx="2971800" cy="457200"/>
          </a:xfrm>
          <a:prstGeom prst="rect">
            <a:avLst/>
          </a:prstGeom>
          <a:noFill/>
          <a:ln/>
        </p:spPr>
        <p:txBody>
          <a:bodyPr wrap="square" lIns="0" tIns="0" rIns="0" bIns="0" rtlCol="0" anchor="ctr"/>
          <a:lstStyle/>
          <a:p>
            <a:pPr marL="0" indent="0" algn="ctr">
              <a:lnSpc>
                <a:spcPct val="110000"/>
              </a:lnSpc>
              <a:buNone/>
            </a:pPr>
            <a:r>
              <a:rPr lang="en-US" sz="1100" dirty="0">
                <a:solidFill>
                  <a:srgbClr val="14213D"/>
                </a:solidFill>
                <a:latin typeface="Courier New" pitchFamily="34" charset="0"/>
                <a:ea typeface="Courier New" pitchFamily="34" charset="-122"/>
                <a:cs typeface="Courier New" pitchFamily="34" charset="-120"/>
              </a:rPr>
              <a:t>Q15 · 48 × int16 · registers</a:t>
            </a:r>
            <a:endParaRPr lang="en-US" sz="1100" dirty="0"/>
          </a:p>
        </p:txBody>
      </p:sp>
      <p:sp>
        <p:nvSpPr>
          <p:cNvPr id="28" name="Text 26">
            <a:extLst>
              <a:ext uri="{FF2B5EF4-FFF2-40B4-BE49-F238E27FC236}">
                <a16:creationId xmlns:a16="http://schemas.microsoft.com/office/drawing/2014/main" id="{2B668C3C-0E0F-9DED-C81E-EDEA68FF4A67}"/>
              </a:ext>
            </a:extLst>
          </p:cNvPr>
          <p:cNvSpPr txBox="1"/>
          <p:nvPr/>
        </p:nvSpPr>
        <p:spPr>
          <a:xfrm>
            <a:off x="8412480" y="5532120"/>
            <a:ext cx="2971800" cy="457200"/>
          </a:xfrm>
          <a:prstGeom prst="rect">
            <a:avLst/>
          </a:prstGeom>
          <a:noFill/>
          <a:ln/>
        </p:spPr>
        <p:txBody>
          <a:bodyPr wrap="square" lIns="0" tIns="0" rIns="0" bIns="0" rtlCol="0" anchor="t"/>
          <a:lstStyle/>
          <a:p>
            <a:pPr marL="0" indent="0" algn="l">
              <a:lnSpc>
                <a:spcPct val="110000"/>
              </a:lnSpc>
              <a:buNone/>
            </a:pPr>
            <a:r>
              <a:rPr lang="en-US" sz="1200" dirty="0">
                <a:solidFill>
                  <a:srgbClr val="4A5670"/>
                </a:solidFill>
                <a:latin typeface="Calibri" pitchFamily="34" charset="0"/>
                <a:ea typeface="Calibri" pitchFamily="34" charset="-122"/>
                <a:cs typeface="Calibri" pitchFamily="34" charset="-120"/>
              </a:rPr>
              <a:t>Live for the current token only</a:t>
            </a:r>
            <a:endParaRPr lang="en-US" sz="1200" dirty="0"/>
          </a:p>
        </p:txBody>
      </p:sp>
    </p:spTree>
    <p:extLst>
      <p:ext uri="{BB962C8B-B14F-4D97-AF65-F5344CB8AC3E}">
        <p14:creationId xmlns:p14="http://schemas.microsoft.com/office/powerpoint/2010/main" val="2559215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28854-DE19-E696-5577-F5E0506FD95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4D5DBAA-DE2D-AC83-77EC-E39BAA349AB7}"/>
              </a:ext>
            </a:extLst>
          </p:cNvPr>
          <p:cNvSpPr txBox="1"/>
          <p:nvPr/>
        </p:nvSpPr>
        <p:spPr>
          <a:xfrm>
            <a:off x="548640" y="411480"/>
            <a:ext cx="11094415" cy="274320"/>
          </a:xfrm>
          <a:prstGeom prst="rect">
            <a:avLst/>
          </a:prstGeom>
          <a:noFill/>
          <a:ln/>
        </p:spPr>
        <p:txBody>
          <a:bodyPr wrap="square" lIns="0" tIns="0" rIns="0" bIns="0" rtlCol="0" anchor="t"/>
          <a:lstStyle/>
          <a:p>
            <a:pPr marL="0" indent="0" algn="l">
              <a:lnSpc>
                <a:spcPct val="110000"/>
              </a:lnSpc>
              <a:buNone/>
            </a:pPr>
            <a:r>
              <a:rPr lang="en-US" sz="1200" dirty="0">
                <a:solidFill>
                  <a:srgbClr val="4A5670"/>
                </a:solidFill>
                <a:latin typeface="Courier New" pitchFamily="34" charset="0"/>
                <a:ea typeface="Courier New" pitchFamily="34" charset="-122"/>
                <a:cs typeface="Courier New" pitchFamily="34" charset="-120"/>
              </a:rPr>
              <a:t>Granularity &amp; storage</a:t>
            </a:r>
            <a:endParaRPr lang="en-US" sz="1200" dirty="0"/>
          </a:p>
        </p:txBody>
      </p:sp>
      <p:sp>
        <p:nvSpPr>
          <p:cNvPr id="3" name="Text 1">
            <a:extLst>
              <a:ext uri="{FF2B5EF4-FFF2-40B4-BE49-F238E27FC236}">
                <a16:creationId xmlns:a16="http://schemas.microsoft.com/office/drawing/2014/main" id="{02D4CF34-430E-3B61-358A-C743624CC2A1}"/>
              </a:ext>
            </a:extLst>
          </p:cNvPr>
          <p:cNvSpPr txBox="1"/>
          <p:nvPr/>
        </p:nvSpPr>
        <p:spPr>
          <a:xfrm>
            <a:off x="548640" y="685800"/>
            <a:ext cx="11094415" cy="685800"/>
          </a:xfrm>
          <a:prstGeom prst="rect">
            <a:avLst/>
          </a:prstGeom>
          <a:noFill/>
          <a:ln/>
        </p:spPr>
        <p:txBody>
          <a:bodyPr wrap="square" lIns="0" tIns="0" rIns="0" bIns="0" rtlCol="0" anchor="t"/>
          <a:lstStyle/>
          <a:p>
            <a:pPr marL="0" indent="0" algn="l">
              <a:lnSpc>
                <a:spcPct val="110000"/>
              </a:lnSpc>
              <a:buNone/>
            </a:pPr>
            <a:r>
              <a:rPr lang="en-US" sz="3400" b="1" dirty="0">
                <a:solidFill>
                  <a:srgbClr val="14213D"/>
                </a:solidFill>
                <a:latin typeface="Cambria" pitchFamily="34" charset="0"/>
                <a:ea typeface="Cambria" pitchFamily="34" charset="-122"/>
                <a:cs typeface="Cambria" pitchFamily="34" charset="-120"/>
              </a:rPr>
              <a:t>Where every piece lives</a:t>
            </a:r>
            <a:endParaRPr lang="en-US" sz="3400" dirty="0"/>
          </a:p>
        </p:txBody>
      </p:sp>
      <p:graphicFrame>
        <p:nvGraphicFramePr>
          <p:cNvPr id="6" name="Table 0">
            <a:extLst>
              <a:ext uri="{FF2B5EF4-FFF2-40B4-BE49-F238E27FC236}">
                <a16:creationId xmlns:a16="http://schemas.microsoft.com/office/drawing/2014/main" id="{465E8980-B07E-43D3-1DF4-169D28B91BEF}"/>
              </a:ext>
            </a:extLst>
          </p:cNvPr>
          <p:cNvGraphicFramePr>
            <a:graphicFrameLocks noGrp="1"/>
          </p:cNvGraphicFramePr>
          <p:nvPr/>
        </p:nvGraphicFramePr>
        <p:xfrm>
          <a:off x="548640" y="1508760"/>
          <a:ext cx="11091672" cy="4398264"/>
        </p:xfrm>
        <a:graphic>
          <a:graphicData uri="http://schemas.openxmlformats.org/drawingml/2006/table">
            <a:tbl>
              <a:tblPr/>
              <a:tblGrid>
                <a:gridCol w="2743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907792">
                  <a:extLst>
                    <a:ext uri="{9D8B030D-6E8A-4147-A177-3AD203B41FA5}">
                      <a16:colId xmlns:a16="http://schemas.microsoft.com/office/drawing/2014/main" val="20004"/>
                    </a:ext>
                  </a:extLst>
                </a:gridCol>
              </a:tblGrid>
              <a:tr h="3383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Component</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4213D"/>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Dimension</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4213D"/>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Data type</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4213D"/>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Scope</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4213D"/>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Hardware location</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8328">
                <a:tc gridSpan="5">
                  <a:txBody>
                    <a:bodyPr/>
                    <a:lstStyle/>
                    <a:p>
                      <a:pPr marL="0" indent="0">
                        <a:buNone/>
                      </a:pPr>
                      <a:r>
                        <a:rPr lang="en-US" sz="1100" b="1" dirty="0">
                          <a:solidFill>
                            <a:srgbClr val="4A5670"/>
                          </a:solidFill>
                          <a:latin typeface="Courier New" pitchFamily="34" charset="0"/>
                          <a:ea typeface="Courier New" pitchFamily="34" charset="-122"/>
                          <a:cs typeface="Courier New" pitchFamily="34" charset="-120"/>
                        </a:rPr>
                        <a:t>Activations</a:t>
                      </a:r>
                      <a:endParaRPr lang="en-US" sz="1100" dirty="0">
                        <a:latin typeface="Courier New" charset="0"/>
                        <a:ea typeface="Courier New" charset="0"/>
                        <a:cs typeface="Courier New"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E1E6EC"/>
                    </a:solidFill>
                  </a:tcPr>
                </a:tc>
                <a:tc hMerge="1">
                  <a:txBody>
                    <a:bodyPr/>
                    <a:lstStyle/>
                    <a:p>
                      <a:endParaRPr lang="en-IL"/>
                    </a:p>
                  </a:txBody>
                  <a:tcPr/>
                </a:tc>
                <a:tc hMerge="1">
                  <a:txBody>
                    <a:bodyPr/>
                    <a:lstStyle/>
                    <a:p>
                      <a:endParaRPr lang="en-IL"/>
                    </a:p>
                  </a:txBody>
                  <a:tcPr/>
                </a:tc>
                <a:tc hMerge="1">
                  <a:txBody>
                    <a:bodyPr/>
                    <a:lstStyle/>
                    <a:p>
                      <a:endParaRPr lang="en-IL"/>
                    </a:p>
                  </a:txBody>
                  <a:tcPr/>
                </a:tc>
                <a:tc hMerge="1">
                  <a:txBody>
                    <a:bodyPr/>
                    <a:lstStyle/>
                    <a:p>
                      <a:endParaRPr lang="en-IL"/>
                    </a:p>
                  </a:txBody>
                  <a:tcPr/>
                </a:tc>
                <a:extLst>
                  <a:ext uri="{0D108BD9-81ED-4DB2-BD59-A6C34878D82A}">
                    <a16:rowId xmlns:a16="http://schemas.microsoft.com/office/drawing/2014/main" val="10001"/>
                  </a:ext>
                </a:extLst>
              </a:tr>
              <a:tr h="338328">
                <a:tc>
                  <a:txBody>
                    <a:bodyPr/>
                    <a:lstStyle/>
                    <a:p>
                      <a:pPr marL="0" indent="0">
                        <a:buNone/>
                      </a:pPr>
                      <a:r>
                        <a:rPr lang="en-US" sz="1250" b="1" dirty="0">
                          <a:solidFill>
                            <a:srgbClr val="14213D"/>
                          </a:solidFill>
                          <a:latin typeface="Calibri" pitchFamily="34" charset="0"/>
                          <a:ea typeface="Calibri" pitchFamily="34" charset="-122"/>
                          <a:cs typeface="Calibri" pitchFamily="34" charset="-120"/>
                        </a:rPr>
                        <a:t>Input hidden state x</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ourier New" pitchFamily="34" charset="0"/>
                          <a:ea typeface="Courier New" pitchFamily="34" charset="-122"/>
                          <a:cs typeface="Courier New" pitchFamily="34" charset="-120"/>
                        </a:rPr>
                        <a:t>d_model = 288</a:t>
                      </a:r>
                      <a:endParaRPr lang="en-US" sz="1250" dirty="0">
                        <a:latin typeface="Courier New" charset="0"/>
                        <a:ea typeface="Courier New" charset="0"/>
                        <a:cs typeface="Courier New"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INT8 / Q15</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Per token, per layer</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L1 activation scratchpad</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gridSpan="5">
                  <a:txBody>
                    <a:bodyPr/>
                    <a:lstStyle/>
                    <a:p>
                      <a:pPr marL="0" indent="0">
                        <a:buNone/>
                      </a:pPr>
                      <a:r>
                        <a:rPr lang="en-US" sz="1100" b="1" dirty="0">
                          <a:solidFill>
                            <a:srgbClr val="4A5670"/>
                          </a:solidFill>
                          <a:latin typeface="Courier New" pitchFamily="34" charset="0"/>
                          <a:ea typeface="Courier New" pitchFamily="34" charset="-122"/>
                          <a:cs typeface="Courier New" pitchFamily="34" charset="-120"/>
                        </a:rPr>
                        <a:t>Global constants, precomputed offline</a:t>
                      </a:r>
                      <a:endParaRPr lang="en-US" sz="1100" dirty="0">
                        <a:latin typeface="Courier New" charset="0"/>
                        <a:ea typeface="Courier New" charset="0"/>
                        <a:cs typeface="Courier New"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E1E6EC"/>
                    </a:solidFill>
                  </a:tcPr>
                </a:tc>
                <a:tc hMerge="1">
                  <a:txBody>
                    <a:bodyPr/>
                    <a:lstStyle/>
                    <a:p>
                      <a:endParaRPr lang="en-IL"/>
                    </a:p>
                  </a:txBody>
                  <a:tcPr/>
                </a:tc>
                <a:tc hMerge="1">
                  <a:txBody>
                    <a:bodyPr/>
                    <a:lstStyle/>
                    <a:p>
                      <a:endParaRPr lang="en-IL"/>
                    </a:p>
                  </a:txBody>
                  <a:tcPr/>
                </a:tc>
                <a:tc hMerge="1">
                  <a:txBody>
                    <a:bodyPr/>
                    <a:lstStyle/>
                    <a:p>
                      <a:endParaRPr lang="en-IL"/>
                    </a:p>
                  </a:txBody>
                  <a:tcPr/>
                </a:tc>
                <a:tc hMerge="1">
                  <a:txBody>
                    <a:bodyPr/>
                    <a:lstStyle/>
                    <a:p>
                      <a:endParaRPr lang="en-IL"/>
                    </a:p>
                  </a:txBody>
                  <a:tcPr/>
                </a:tc>
                <a:extLst>
                  <a:ext uri="{0D108BD9-81ED-4DB2-BD59-A6C34878D82A}">
                    <a16:rowId xmlns:a16="http://schemas.microsoft.com/office/drawing/2014/main" val="10003"/>
                  </a:ext>
                </a:extLst>
              </a:tr>
              <a:tr h="338328">
                <a:tc>
                  <a:txBody>
                    <a:bodyPr/>
                    <a:lstStyle/>
                    <a:p>
                      <a:pPr marL="0" indent="0">
                        <a:buNone/>
                      </a:pPr>
                      <a:r>
                        <a:rPr lang="en-US" sz="1250" b="1" dirty="0">
                          <a:solidFill>
                            <a:srgbClr val="14213D"/>
                          </a:solidFill>
                          <a:latin typeface="Calibri" pitchFamily="34" charset="0"/>
                          <a:ea typeface="Calibri" pitchFamily="34" charset="-122"/>
                          <a:cs typeface="Calibri" pitchFamily="34" charset="-120"/>
                        </a:rPr>
                        <a:t>Haar matrix H</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ourier New" pitchFamily="34" charset="0"/>
                          <a:ea typeface="Courier New" pitchFamily="34" charset="-122"/>
                          <a:cs typeface="Courier New" pitchFamily="34" charset="-120"/>
                        </a:rPr>
                        <a:t>48 × 48</a:t>
                      </a:r>
                      <a:endParaRPr lang="en-US" sz="1250" dirty="0">
                        <a:latin typeface="Courier New" charset="0"/>
                        <a:ea typeface="Courier New" charset="0"/>
                        <a:cs typeface="Courier New"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Q15 (int16_t)</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Global</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Constant flash / L1 data memory</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8328">
                <a:tc>
                  <a:txBody>
                    <a:bodyPr/>
                    <a:lstStyle/>
                    <a:p>
                      <a:pPr marL="0" indent="0">
                        <a:buNone/>
                      </a:pPr>
                      <a:r>
                        <a:rPr lang="en-US" sz="1250" b="1" dirty="0">
                          <a:solidFill>
                            <a:srgbClr val="14213D"/>
                          </a:solidFill>
                          <a:latin typeface="Calibri" pitchFamily="34" charset="0"/>
                          <a:ea typeface="Calibri" pitchFamily="34" charset="-122"/>
                          <a:cs typeface="Calibri" pitchFamily="34" charset="-120"/>
                        </a:rPr>
                        <a:t>Gaussian QJL matrix M</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ourier New" pitchFamily="34" charset="0"/>
                          <a:ea typeface="Courier New" pitchFamily="34" charset="-122"/>
                          <a:cs typeface="Courier New" pitchFamily="34" charset="-120"/>
                        </a:rPr>
                        <a:t>48 × 48</a:t>
                      </a:r>
                      <a:endParaRPr lang="en-US" sz="1250" dirty="0">
                        <a:latin typeface="Courier New" charset="0"/>
                        <a:ea typeface="Courier New" charset="0"/>
                        <a:cs typeface="Courier New"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Q15 (int16_t)</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Global</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Constant flash / L1 data memory</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8328">
                <a:tc>
                  <a:txBody>
                    <a:bodyPr/>
                    <a:lstStyle/>
                    <a:p>
                      <a:pPr marL="0" indent="0">
                        <a:buNone/>
                      </a:pPr>
                      <a:r>
                        <a:rPr lang="en-US" sz="1250" b="1" dirty="0">
                          <a:solidFill>
                            <a:srgbClr val="14213D"/>
                          </a:solidFill>
                          <a:latin typeface="Calibri" pitchFamily="34" charset="0"/>
                          <a:ea typeface="Calibri" pitchFamily="34" charset="-122"/>
                          <a:cs typeface="Calibri" pitchFamily="34" charset="-120"/>
                        </a:rPr>
                        <a:t>Centroid codebook ROM</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ourier New" pitchFamily="34" charset="0"/>
                          <a:ea typeface="Courier New" pitchFamily="34" charset="-122"/>
                          <a:cs typeface="Courier New" pitchFamily="34" charset="-120"/>
                        </a:rPr>
                        <a:t>8 × 16-bit</a:t>
                      </a:r>
                      <a:endParaRPr lang="en-US" sz="1250" dirty="0">
                        <a:latin typeface="Courier New" charset="0"/>
                        <a:ea typeface="Courier New" charset="0"/>
                        <a:cs typeface="Courier New"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Q15 (int16_t)</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Global</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Combinational ROM (tq_get_cent)</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8328">
                <a:tc gridSpan="5">
                  <a:txBody>
                    <a:bodyPr/>
                    <a:lstStyle/>
                    <a:p>
                      <a:pPr marL="0" indent="0">
                        <a:buNone/>
                      </a:pPr>
                      <a:r>
                        <a:rPr lang="en-US" sz="1100" b="1" dirty="0">
                          <a:solidFill>
                            <a:srgbClr val="4A5670"/>
                          </a:solidFill>
                          <a:latin typeface="Courier New" pitchFamily="34" charset="0"/>
                          <a:ea typeface="Courier New" pitchFamily="34" charset="-122"/>
                          <a:cs typeface="Courier New" pitchFamily="34" charset="-120"/>
                        </a:rPr>
                        <a:t>Compressed KV-cache · per token, per head, per layer</a:t>
                      </a:r>
                      <a:endParaRPr lang="en-US" sz="1100" dirty="0">
                        <a:latin typeface="Courier New" charset="0"/>
                        <a:ea typeface="Courier New" charset="0"/>
                        <a:cs typeface="Courier New"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E1E6EC"/>
                    </a:solidFill>
                  </a:tcPr>
                </a:tc>
                <a:tc hMerge="1">
                  <a:txBody>
                    <a:bodyPr/>
                    <a:lstStyle/>
                    <a:p>
                      <a:endParaRPr lang="en-IL"/>
                    </a:p>
                  </a:txBody>
                  <a:tcPr/>
                </a:tc>
                <a:tc hMerge="1">
                  <a:txBody>
                    <a:bodyPr/>
                    <a:lstStyle/>
                    <a:p>
                      <a:endParaRPr lang="en-IL"/>
                    </a:p>
                  </a:txBody>
                  <a:tcPr/>
                </a:tc>
                <a:tc hMerge="1">
                  <a:txBody>
                    <a:bodyPr/>
                    <a:lstStyle/>
                    <a:p>
                      <a:endParaRPr lang="en-IL"/>
                    </a:p>
                  </a:txBody>
                  <a:tcPr/>
                </a:tc>
                <a:tc hMerge="1">
                  <a:txBody>
                    <a:bodyPr/>
                    <a:lstStyle/>
                    <a:p>
                      <a:endParaRPr lang="en-IL"/>
                    </a:p>
                  </a:txBody>
                  <a:tcPr/>
                </a:tc>
                <a:extLst>
                  <a:ext uri="{0D108BD9-81ED-4DB2-BD59-A6C34878D82A}">
                    <a16:rowId xmlns:a16="http://schemas.microsoft.com/office/drawing/2014/main" val="10007"/>
                  </a:ext>
                </a:extLst>
              </a:tr>
              <a:tr h="338328">
                <a:tc>
                  <a:txBody>
                    <a:bodyPr/>
                    <a:lstStyle/>
                    <a:p>
                      <a:pPr marL="0" indent="0">
                        <a:buNone/>
                      </a:pPr>
                      <a:r>
                        <a:rPr lang="en-US" sz="1250" b="1" dirty="0">
                          <a:solidFill>
                            <a:srgbClr val="14213D"/>
                          </a:solidFill>
                          <a:latin typeface="Calibri" pitchFamily="34" charset="0"/>
                          <a:ea typeface="Calibri" pitchFamily="34" charset="-122"/>
                          <a:cs typeface="Calibri" pitchFamily="34" charset="-120"/>
                        </a:rPr>
                        <a:t>Key norm ‖K‖₂</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ourier New" pitchFamily="34" charset="0"/>
                          <a:ea typeface="Courier New" pitchFamily="34" charset="-122"/>
                          <a:cs typeface="Courier New" pitchFamily="34" charset="-120"/>
                        </a:rPr>
                        <a:t>Scalar</a:t>
                      </a:r>
                      <a:endParaRPr lang="en-US" sz="1250" dirty="0">
                        <a:latin typeface="Courier New" charset="0"/>
                        <a:ea typeface="Courier New" charset="0"/>
                        <a:cs typeface="Courier New"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Float / INT16</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Per token/head/layer</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Metadata KV-cache buffer</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38328">
                <a:tc>
                  <a:txBody>
                    <a:bodyPr/>
                    <a:lstStyle/>
                    <a:p>
                      <a:pPr marL="0" indent="0">
                        <a:buNone/>
                      </a:pPr>
                      <a:r>
                        <a:rPr lang="en-US" sz="1250" b="1" dirty="0">
                          <a:solidFill>
                            <a:srgbClr val="B0661F"/>
                          </a:solidFill>
                          <a:latin typeface="Calibri" pitchFamily="34" charset="0"/>
                          <a:ea typeface="Calibri" pitchFamily="34" charset="-122"/>
                          <a:cs typeface="Calibri" pitchFamily="34" charset="-120"/>
                        </a:rPr>
                        <a:t>PolarQuant centroid indices</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ourier New" pitchFamily="34" charset="0"/>
                          <a:ea typeface="Courier New" pitchFamily="34" charset="-122"/>
                          <a:cs typeface="Courier New" pitchFamily="34" charset="-120"/>
                        </a:rPr>
                        <a:t>3 b × 48 → 18 B</a:t>
                      </a:r>
                      <a:endParaRPr lang="en-US" sz="1250" dirty="0">
                        <a:latin typeface="Courier New" charset="0"/>
                        <a:ea typeface="Courier New" charset="0"/>
                        <a:cs typeface="Courier New"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Packed</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Per token/head/layer</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Compressed index buffer</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38328">
                <a:tc>
                  <a:txBody>
                    <a:bodyPr/>
                    <a:lstStyle/>
                    <a:p>
                      <a:pPr marL="0" indent="0">
                        <a:buNone/>
                      </a:pPr>
                      <a:r>
                        <a:rPr lang="en-US" sz="1250" b="1" dirty="0">
                          <a:solidFill>
                            <a:srgbClr val="1C7373"/>
                          </a:solidFill>
                          <a:latin typeface="Calibri" pitchFamily="34" charset="0"/>
                          <a:ea typeface="Calibri" pitchFamily="34" charset="-122"/>
                          <a:cs typeface="Calibri" pitchFamily="34" charset="-120"/>
                        </a:rPr>
                        <a:t>QJL residual signs</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ourier New" pitchFamily="34" charset="0"/>
                          <a:ea typeface="Courier New" pitchFamily="34" charset="-122"/>
                          <a:cs typeface="Courier New" pitchFamily="34" charset="-120"/>
                        </a:rPr>
                        <a:t>1 b × 48 → 6 B</a:t>
                      </a:r>
                      <a:endParaRPr lang="en-US" sz="1250" dirty="0">
                        <a:latin typeface="Courier New" charset="0"/>
                        <a:ea typeface="Courier New" charset="0"/>
                        <a:cs typeface="Courier New"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Packed</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Per token/head/layer</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Compressed sign bitmask</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38328">
                <a:tc>
                  <a:txBody>
                    <a:bodyPr/>
                    <a:lstStyle/>
                    <a:p>
                      <a:pPr marL="0" indent="0">
                        <a:buNone/>
                      </a:pPr>
                      <a:r>
                        <a:rPr lang="en-US" sz="1250" b="1" dirty="0">
                          <a:solidFill>
                            <a:srgbClr val="14213D"/>
                          </a:solidFill>
                          <a:latin typeface="Calibri" pitchFamily="34" charset="0"/>
                          <a:ea typeface="Calibri" pitchFamily="34" charset="-122"/>
                          <a:cs typeface="Calibri" pitchFamily="34" charset="-120"/>
                        </a:rPr>
                        <a:t>Value norm ‖V‖₂</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ourier New" pitchFamily="34" charset="0"/>
                          <a:ea typeface="Courier New" pitchFamily="34" charset="-122"/>
                          <a:cs typeface="Courier New" pitchFamily="34" charset="-120"/>
                        </a:rPr>
                        <a:t>Scalar</a:t>
                      </a:r>
                      <a:endParaRPr lang="en-US" sz="1250" dirty="0">
                        <a:latin typeface="Courier New" charset="0"/>
                        <a:ea typeface="Courier New" charset="0"/>
                        <a:cs typeface="Courier New"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Float / INT16</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Per token/head/layer</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Metadata KV-cache buffer</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38328">
                <a:tc>
                  <a:txBody>
                    <a:bodyPr/>
                    <a:lstStyle/>
                    <a:p>
                      <a:pPr marL="0" indent="0">
                        <a:buNone/>
                      </a:pPr>
                      <a:r>
                        <a:rPr lang="en-US" sz="1250" b="1" dirty="0">
                          <a:solidFill>
                            <a:srgbClr val="5B4BA8"/>
                          </a:solidFill>
                          <a:latin typeface="Calibri" pitchFamily="34" charset="0"/>
                          <a:ea typeface="Calibri" pitchFamily="34" charset="-122"/>
                          <a:cs typeface="Calibri" pitchFamily="34" charset="-120"/>
                        </a:rPr>
                        <a:t>Value centroid indices</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ourier New" pitchFamily="34" charset="0"/>
                          <a:ea typeface="Courier New" pitchFamily="34" charset="-122"/>
                          <a:cs typeface="Courier New" pitchFamily="34" charset="-120"/>
                        </a:rPr>
                        <a:t>3 b × 48 → 18 B</a:t>
                      </a:r>
                      <a:endParaRPr lang="en-US" sz="1250" dirty="0">
                        <a:latin typeface="Courier New" charset="0"/>
                        <a:ea typeface="Courier New" charset="0"/>
                        <a:cs typeface="Courier New"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Packed</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Per token/head/layer</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marL="0" indent="0">
                        <a:buNone/>
                      </a:pPr>
                      <a:r>
                        <a:rPr lang="en-US" sz="1250" dirty="0">
                          <a:solidFill>
                            <a:srgbClr val="4A5670"/>
                          </a:solidFill>
                          <a:latin typeface="Calibri" pitchFamily="34" charset="0"/>
                          <a:ea typeface="Calibri" pitchFamily="34" charset="-122"/>
                          <a:cs typeface="Calibri" pitchFamily="34" charset="-120"/>
                        </a:rPr>
                        <a:t>Compressed value buffer</a:t>
                      </a:r>
                      <a:endParaRPr lang="en-US" sz="1250" dirty="0">
                        <a:latin typeface="Calibri" charset="0"/>
                        <a:ea typeface="Calibri" charset="0"/>
                        <a:cs typeface="Calibri" charset="0"/>
                      </a:endParaRPr>
                    </a:p>
                  </a:txBody>
                  <a:tcPr marL="101600" marR="101600" marT="38100" marB="381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4856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7E53E-F329-8DBB-39F7-615ABBE1855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3D6079F-5EA9-7E65-8A24-CC5B9D42E96B}"/>
              </a:ext>
            </a:extLst>
          </p:cNvPr>
          <p:cNvSpPr txBox="1"/>
          <p:nvPr/>
        </p:nvSpPr>
        <p:spPr>
          <a:xfrm>
            <a:off x="548640" y="411480"/>
            <a:ext cx="11094415" cy="274320"/>
          </a:xfrm>
          <a:prstGeom prst="rect">
            <a:avLst/>
          </a:prstGeom>
          <a:noFill/>
          <a:ln/>
        </p:spPr>
        <p:txBody>
          <a:bodyPr wrap="square" lIns="0" tIns="0" rIns="0" bIns="0" rtlCol="0" anchor="t"/>
          <a:lstStyle/>
          <a:p>
            <a:pPr marL="0" indent="0" algn="l">
              <a:lnSpc>
                <a:spcPct val="110000"/>
              </a:lnSpc>
              <a:buNone/>
            </a:pPr>
            <a:r>
              <a:rPr lang="en-US" sz="1200" dirty="0">
                <a:solidFill>
                  <a:srgbClr val="4A5670"/>
                </a:solidFill>
                <a:latin typeface="Courier New" pitchFamily="34" charset="0"/>
                <a:ea typeface="Courier New" pitchFamily="34" charset="-122"/>
                <a:cs typeface="Courier New" pitchFamily="34" charset="-120"/>
              </a:rPr>
              <a:t>Phase 1 of 3 · cache ingestion</a:t>
            </a:r>
            <a:endParaRPr lang="en-US" sz="1200" dirty="0"/>
          </a:p>
        </p:txBody>
      </p:sp>
      <p:sp>
        <p:nvSpPr>
          <p:cNvPr id="3" name="Text 1">
            <a:extLst>
              <a:ext uri="{FF2B5EF4-FFF2-40B4-BE49-F238E27FC236}">
                <a16:creationId xmlns:a16="http://schemas.microsoft.com/office/drawing/2014/main" id="{F9EBC831-8FFF-EAA2-FB2E-5365DC1C146F}"/>
              </a:ext>
            </a:extLst>
          </p:cNvPr>
          <p:cNvSpPr txBox="1"/>
          <p:nvPr/>
        </p:nvSpPr>
        <p:spPr>
          <a:xfrm>
            <a:off x="548640" y="685800"/>
            <a:ext cx="11094415" cy="685800"/>
          </a:xfrm>
          <a:prstGeom prst="rect">
            <a:avLst/>
          </a:prstGeom>
          <a:noFill/>
          <a:ln/>
        </p:spPr>
        <p:txBody>
          <a:bodyPr wrap="square" lIns="0" tIns="0" rIns="0" bIns="0" rtlCol="0" anchor="t"/>
          <a:lstStyle/>
          <a:p>
            <a:pPr marL="0" indent="0" algn="l">
              <a:lnSpc>
                <a:spcPct val="110000"/>
              </a:lnSpc>
              <a:buNone/>
            </a:pPr>
            <a:r>
              <a:rPr lang="en-US" sz="3400" b="1" dirty="0">
                <a:solidFill>
                  <a:srgbClr val="14213D"/>
                </a:solidFill>
                <a:latin typeface="Cambria" pitchFamily="34" charset="0"/>
                <a:ea typeface="Cambria" pitchFamily="34" charset="-122"/>
                <a:cs typeface="Cambria" pitchFamily="34" charset="-120"/>
              </a:rPr>
              <a:t>Quantizing each new token</a:t>
            </a:r>
            <a:endParaRPr lang="en-US" sz="3400" dirty="0"/>
          </a:p>
        </p:txBody>
      </p:sp>
      <p:sp>
        <p:nvSpPr>
          <p:cNvPr id="4" name="Text 2">
            <a:extLst>
              <a:ext uri="{FF2B5EF4-FFF2-40B4-BE49-F238E27FC236}">
                <a16:creationId xmlns:a16="http://schemas.microsoft.com/office/drawing/2014/main" id="{217D73AD-135F-1844-C303-9C3EA1E70F35}"/>
              </a:ext>
            </a:extLst>
          </p:cNvPr>
          <p:cNvSpPr txBox="1"/>
          <p:nvPr/>
        </p:nvSpPr>
        <p:spPr>
          <a:xfrm>
            <a:off x="548640" y="1371600"/>
            <a:ext cx="9601200" cy="685800"/>
          </a:xfrm>
          <a:prstGeom prst="rect">
            <a:avLst/>
          </a:prstGeom>
          <a:noFill/>
          <a:ln/>
        </p:spPr>
        <p:txBody>
          <a:bodyPr wrap="square" lIns="0" tIns="0" rIns="0" bIns="0" rtlCol="0" anchor="t"/>
          <a:lstStyle/>
          <a:p>
            <a:pPr marL="0" indent="0" algn="l">
              <a:lnSpc>
                <a:spcPct val="120000"/>
              </a:lnSpc>
              <a:buNone/>
            </a:pPr>
            <a:r>
              <a:rPr lang="en-US" sz="1500" dirty="0">
                <a:solidFill>
                  <a:srgbClr val="4A5670"/>
                </a:solidFill>
                <a:latin typeface="Calibri" pitchFamily="34" charset="0"/>
                <a:ea typeface="Calibri" pitchFamily="34" charset="-122"/>
                <a:cs typeface="Calibri" pitchFamily="34" charset="-120"/>
              </a:rPr>
              <a:t>Runs once per new token, for every layer l ∈ [0, L−1] and every head h ∈ [0, H−1].</a:t>
            </a:r>
            <a:endParaRPr lang="en-US" sz="1500" dirty="0"/>
          </a:p>
        </p:txBody>
      </p:sp>
      <p:sp>
        <p:nvSpPr>
          <p:cNvPr id="5" name="Shape 3">
            <a:extLst>
              <a:ext uri="{FF2B5EF4-FFF2-40B4-BE49-F238E27FC236}">
                <a16:creationId xmlns:a16="http://schemas.microsoft.com/office/drawing/2014/main" id="{4DA5E0E3-7FCF-6B37-F6EF-F63D038F8029}"/>
              </a:ext>
            </a:extLst>
          </p:cNvPr>
          <p:cNvSpPr/>
          <p:nvPr/>
        </p:nvSpPr>
        <p:spPr>
          <a:xfrm>
            <a:off x="548640" y="2148840"/>
            <a:ext cx="3520440" cy="2011680"/>
          </a:xfrm>
          <a:prstGeom prst="roundRect">
            <a:avLst>
              <a:gd name="adj" fmla="val 2727"/>
            </a:avLst>
          </a:prstGeom>
          <a:solidFill>
            <a:srgbClr val="FFFFFF"/>
          </a:solidFill>
          <a:ln w="12700">
            <a:solidFill>
              <a:srgbClr val="C9D1DC"/>
            </a:solidFill>
            <a:prstDash val="solid"/>
          </a:ln>
        </p:spPr>
        <p:txBody>
          <a:bodyPr/>
          <a:lstStyle/>
          <a:p>
            <a:endParaRPr lang="en-IL"/>
          </a:p>
        </p:txBody>
      </p:sp>
      <p:sp>
        <p:nvSpPr>
          <p:cNvPr id="6" name="Text 4">
            <a:extLst>
              <a:ext uri="{FF2B5EF4-FFF2-40B4-BE49-F238E27FC236}">
                <a16:creationId xmlns:a16="http://schemas.microsoft.com/office/drawing/2014/main" id="{8BB301B4-4BA6-4E9F-A6AB-9A00C71C3928}"/>
              </a:ext>
            </a:extLst>
          </p:cNvPr>
          <p:cNvSpPr txBox="1"/>
          <p:nvPr/>
        </p:nvSpPr>
        <p:spPr>
          <a:xfrm>
            <a:off x="777240" y="2331720"/>
            <a:ext cx="2743200" cy="256032"/>
          </a:xfrm>
          <a:prstGeom prst="rect">
            <a:avLst/>
          </a:prstGeom>
          <a:noFill/>
          <a:ln/>
        </p:spPr>
        <p:txBody>
          <a:bodyPr wrap="square" lIns="0" tIns="0" rIns="0" bIns="0" rtlCol="0" anchor="t"/>
          <a:lstStyle/>
          <a:p>
            <a:pPr marL="0" indent="0" algn="l">
              <a:lnSpc>
                <a:spcPct val="110000"/>
              </a:lnSpc>
              <a:buNone/>
            </a:pPr>
            <a:r>
              <a:rPr lang="en-US" sz="1200" b="1" dirty="0">
                <a:solidFill>
                  <a:srgbClr val="4A5670"/>
                </a:solidFill>
                <a:latin typeface="Courier New" pitchFamily="34" charset="0"/>
                <a:ea typeface="Courier New" pitchFamily="34" charset="-122"/>
                <a:cs typeface="Courier New" pitchFamily="34" charset="-120"/>
              </a:rPr>
              <a:t>1</a:t>
            </a:r>
            <a:endParaRPr lang="en-US" sz="1200" dirty="0"/>
          </a:p>
        </p:txBody>
      </p:sp>
      <p:sp>
        <p:nvSpPr>
          <p:cNvPr id="7" name="Text 5">
            <a:extLst>
              <a:ext uri="{FF2B5EF4-FFF2-40B4-BE49-F238E27FC236}">
                <a16:creationId xmlns:a16="http://schemas.microsoft.com/office/drawing/2014/main" id="{94D45D9B-3423-B122-B74D-A18DCFA2E6A1}"/>
              </a:ext>
            </a:extLst>
          </p:cNvPr>
          <p:cNvSpPr txBox="1"/>
          <p:nvPr/>
        </p:nvSpPr>
        <p:spPr>
          <a:xfrm>
            <a:off x="777240" y="2606040"/>
            <a:ext cx="3063240" cy="365760"/>
          </a:xfrm>
          <a:prstGeom prst="rect">
            <a:avLst/>
          </a:prstGeom>
          <a:noFill/>
          <a:ln/>
        </p:spPr>
        <p:txBody>
          <a:bodyPr wrap="square" lIns="0" tIns="0" rIns="0" bIns="0" rtlCol="0" anchor="t"/>
          <a:lstStyle/>
          <a:p>
            <a:pPr marL="0" indent="0" algn="l">
              <a:lnSpc>
                <a:spcPct val="110000"/>
              </a:lnSpc>
              <a:buNone/>
            </a:pPr>
            <a:r>
              <a:rPr lang="en-US" sz="1800" b="1" dirty="0">
                <a:solidFill>
                  <a:srgbClr val="14213D"/>
                </a:solidFill>
                <a:latin typeface="Cambria" pitchFamily="34" charset="0"/>
                <a:ea typeface="Cambria" pitchFamily="34" charset="-122"/>
                <a:cs typeface="Cambria" pitchFamily="34" charset="-120"/>
              </a:rPr>
              <a:t>Project</a:t>
            </a:r>
            <a:endParaRPr lang="en-US" sz="1800" dirty="0"/>
          </a:p>
        </p:txBody>
      </p:sp>
      <p:sp>
        <p:nvSpPr>
          <p:cNvPr id="8" name="Text 6">
            <a:extLst>
              <a:ext uri="{FF2B5EF4-FFF2-40B4-BE49-F238E27FC236}">
                <a16:creationId xmlns:a16="http://schemas.microsoft.com/office/drawing/2014/main" id="{6A7DBF7F-FFC3-CF84-44C5-6E4FC98665F1}"/>
              </a:ext>
            </a:extLst>
          </p:cNvPr>
          <p:cNvSpPr txBox="1"/>
          <p:nvPr/>
        </p:nvSpPr>
        <p:spPr>
          <a:xfrm>
            <a:off x="777240" y="3017520"/>
            <a:ext cx="3063240" cy="365760"/>
          </a:xfrm>
          <a:prstGeom prst="rect">
            <a:avLst/>
          </a:prstGeom>
          <a:noFill/>
          <a:ln/>
        </p:spPr>
        <p:txBody>
          <a:bodyPr wrap="square" lIns="0" tIns="0" rIns="0" bIns="0" rtlCol="0" anchor="t"/>
          <a:lstStyle/>
          <a:p>
            <a:pPr marL="0" indent="0" algn="l">
              <a:lnSpc>
                <a:spcPct val="110000"/>
              </a:lnSpc>
              <a:buNone/>
            </a:pPr>
            <a:r>
              <a:rPr lang="en-US" sz="1400" i="1" dirty="0">
                <a:solidFill>
                  <a:srgbClr val="14213D"/>
                </a:solidFill>
                <a:latin typeface="Cambria Math" pitchFamily="34" charset="0"/>
                <a:ea typeface="Cambria Math" pitchFamily="34" charset="-122"/>
                <a:cs typeface="Cambria Math" pitchFamily="34" charset="-120"/>
              </a:rPr>
              <a:t>K = W</a:t>
            </a:r>
            <a:r>
              <a:rPr lang="en-US" sz="1400" i="1" baseline="-40000" dirty="0">
                <a:solidFill>
                  <a:srgbClr val="14213D"/>
                </a:solidFill>
                <a:latin typeface="Cambria Math" pitchFamily="34" charset="0"/>
                <a:ea typeface="Cambria Math" pitchFamily="34" charset="-122"/>
                <a:cs typeface="Cambria Math" pitchFamily="34" charset="-120"/>
              </a:rPr>
              <a:t>k</a:t>
            </a:r>
            <a:r>
              <a:rPr lang="en-US" sz="1400" i="1" dirty="0">
                <a:solidFill>
                  <a:srgbClr val="14213D"/>
                </a:solidFill>
                <a:latin typeface="Cambria Math" pitchFamily="34" charset="0"/>
                <a:ea typeface="Cambria Math" pitchFamily="34" charset="-122"/>
                <a:cs typeface="Cambria Math" pitchFamily="34" charset="-120"/>
              </a:rPr>
              <a:t>·x</a:t>
            </a:r>
            <a:r>
              <a:rPr lang="en-US" sz="1400" i="1" baseline="-40000" dirty="0">
                <a:solidFill>
                  <a:srgbClr val="14213D"/>
                </a:solidFill>
                <a:latin typeface="Cambria Math" pitchFamily="34" charset="0"/>
                <a:ea typeface="Cambria Math" pitchFamily="34" charset="-122"/>
                <a:cs typeface="Cambria Math" pitchFamily="34" charset="-120"/>
              </a:rPr>
              <a:t>norm</a:t>
            </a:r>
            <a:r>
              <a:rPr lang="en-US" sz="1400" i="1" dirty="0">
                <a:solidFill>
                  <a:srgbClr val="14213D"/>
                </a:solidFill>
                <a:latin typeface="Cambria Math" pitchFamily="34" charset="0"/>
                <a:ea typeface="Cambria Math" pitchFamily="34" charset="-122"/>
                <a:cs typeface="Cambria Math" pitchFamily="34" charset="-120"/>
              </a:rPr>
              <a:t>,  V = W</a:t>
            </a:r>
            <a:r>
              <a:rPr lang="en-US" sz="1400" i="1" baseline="-40000" dirty="0">
                <a:solidFill>
                  <a:srgbClr val="14213D"/>
                </a:solidFill>
                <a:latin typeface="Cambria Math" pitchFamily="34" charset="0"/>
                <a:ea typeface="Cambria Math" pitchFamily="34" charset="-122"/>
                <a:cs typeface="Cambria Math" pitchFamily="34" charset="-120"/>
              </a:rPr>
              <a:t>v</a:t>
            </a:r>
            <a:r>
              <a:rPr lang="en-US" sz="1400" i="1" dirty="0">
                <a:solidFill>
                  <a:srgbClr val="14213D"/>
                </a:solidFill>
                <a:latin typeface="Cambria Math" pitchFamily="34" charset="0"/>
                <a:ea typeface="Cambria Math" pitchFamily="34" charset="-122"/>
                <a:cs typeface="Cambria Math" pitchFamily="34" charset="-120"/>
              </a:rPr>
              <a:t>·x</a:t>
            </a:r>
            <a:r>
              <a:rPr lang="en-US" sz="1400" i="1" baseline="-40000" dirty="0">
                <a:solidFill>
                  <a:srgbClr val="14213D"/>
                </a:solidFill>
                <a:latin typeface="Cambria Math" pitchFamily="34" charset="0"/>
                <a:ea typeface="Cambria Math" pitchFamily="34" charset="-122"/>
                <a:cs typeface="Cambria Math" pitchFamily="34" charset="-120"/>
              </a:rPr>
              <a:t>norm</a:t>
            </a:r>
            <a:endParaRPr lang="en-US" sz="1400" dirty="0"/>
          </a:p>
        </p:txBody>
      </p:sp>
      <p:sp>
        <p:nvSpPr>
          <p:cNvPr id="9" name="Text 7">
            <a:extLst>
              <a:ext uri="{FF2B5EF4-FFF2-40B4-BE49-F238E27FC236}">
                <a16:creationId xmlns:a16="http://schemas.microsoft.com/office/drawing/2014/main" id="{6C4D55DE-DB44-E1B9-F4DE-28115F3F1FCE}"/>
              </a:ext>
            </a:extLst>
          </p:cNvPr>
          <p:cNvSpPr txBox="1"/>
          <p:nvPr/>
        </p:nvSpPr>
        <p:spPr>
          <a:xfrm>
            <a:off x="777240" y="3410712"/>
            <a:ext cx="3063240" cy="658368"/>
          </a:xfrm>
          <a:prstGeom prst="rect">
            <a:avLst/>
          </a:prstGeom>
          <a:noFill/>
          <a:ln/>
        </p:spPr>
        <p:txBody>
          <a:bodyPr wrap="square" lIns="0" tIns="0" rIns="0" bIns="0" rtlCol="0" anchor="t"/>
          <a:lstStyle/>
          <a:p>
            <a:pPr marL="0" indent="0" algn="l">
              <a:lnSpc>
                <a:spcPct val="115000"/>
              </a:lnSpc>
              <a:buNone/>
            </a:pPr>
            <a:r>
              <a:rPr lang="en-US" sz="1300" dirty="0">
                <a:solidFill>
                  <a:srgbClr val="4A5670"/>
                </a:solidFill>
                <a:latin typeface="Calibri" pitchFamily="34" charset="0"/>
                <a:ea typeface="Calibri" pitchFamily="34" charset="-122"/>
                <a:cs typeface="Calibri" pitchFamily="34" charset="-120"/>
              </a:rPr>
              <a:t>Computed with SDOT4; d = 48 elements per head.</a:t>
            </a:r>
            <a:endParaRPr lang="en-US" sz="1300" dirty="0"/>
          </a:p>
        </p:txBody>
      </p:sp>
      <p:sp>
        <p:nvSpPr>
          <p:cNvPr id="10" name="Shape 8">
            <a:extLst>
              <a:ext uri="{FF2B5EF4-FFF2-40B4-BE49-F238E27FC236}">
                <a16:creationId xmlns:a16="http://schemas.microsoft.com/office/drawing/2014/main" id="{8B908DB7-246E-CD1F-FAB3-6A7B8468140A}"/>
              </a:ext>
            </a:extLst>
          </p:cNvPr>
          <p:cNvSpPr/>
          <p:nvPr/>
        </p:nvSpPr>
        <p:spPr>
          <a:xfrm>
            <a:off x="4343400" y="2148840"/>
            <a:ext cx="3520440" cy="2011680"/>
          </a:xfrm>
          <a:prstGeom prst="roundRect">
            <a:avLst>
              <a:gd name="adj" fmla="val 2727"/>
            </a:avLst>
          </a:prstGeom>
          <a:solidFill>
            <a:srgbClr val="FFFFFF"/>
          </a:solidFill>
          <a:ln w="12700">
            <a:solidFill>
              <a:srgbClr val="C9D1DC"/>
            </a:solidFill>
            <a:prstDash val="solid"/>
          </a:ln>
        </p:spPr>
        <p:txBody>
          <a:bodyPr/>
          <a:lstStyle/>
          <a:p>
            <a:endParaRPr lang="en-IL"/>
          </a:p>
        </p:txBody>
      </p:sp>
      <p:sp>
        <p:nvSpPr>
          <p:cNvPr id="11" name="Text 9">
            <a:extLst>
              <a:ext uri="{FF2B5EF4-FFF2-40B4-BE49-F238E27FC236}">
                <a16:creationId xmlns:a16="http://schemas.microsoft.com/office/drawing/2014/main" id="{C7559D3B-08A8-AE91-FB2A-42D5631C0C6D}"/>
              </a:ext>
            </a:extLst>
          </p:cNvPr>
          <p:cNvSpPr txBox="1"/>
          <p:nvPr/>
        </p:nvSpPr>
        <p:spPr>
          <a:xfrm>
            <a:off x="4572000" y="2331720"/>
            <a:ext cx="2743200" cy="256032"/>
          </a:xfrm>
          <a:prstGeom prst="rect">
            <a:avLst/>
          </a:prstGeom>
          <a:noFill/>
          <a:ln/>
        </p:spPr>
        <p:txBody>
          <a:bodyPr wrap="square" lIns="0" tIns="0" rIns="0" bIns="0" rtlCol="0" anchor="t"/>
          <a:lstStyle/>
          <a:p>
            <a:pPr marL="0" indent="0" algn="l">
              <a:lnSpc>
                <a:spcPct val="110000"/>
              </a:lnSpc>
              <a:buNone/>
            </a:pPr>
            <a:r>
              <a:rPr lang="en-US" sz="1200" b="1" dirty="0">
                <a:solidFill>
                  <a:srgbClr val="4A5670"/>
                </a:solidFill>
                <a:latin typeface="Courier New" pitchFamily="34" charset="0"/>
                <a:ea typeface="Courier New" pitchFamily="34" charset="-122"/>
                <a:cs typeface="Courier New" pitchFamily="34" charset="-120"/>
              </a:rPr>
              <a:t>2</a:t>
            </a:r>
            <a:endParaRPr lang="en-US" sz="1200" dirty="0"/>
          </a:p>
        </p:txBody>
      </p:sp>
      <p:sp>
        <p:nvSpPr>
          <p:cNvPr id="12" name="Text 10">
            <a:extLst>
              <a:ext uri="{FF2B5EF4-FFF2-40B4-BE49-F238E27FC236}">
                <a16:creationId xmlns:a16="http://schemas.microsoft.com/office/drawing/2014/main" id="{0BAF1672-ED5B-3DF8-7E98-51558CE7A861}"/>
              </a:ext>
            </a:extLst>
          </p:cNvPr>
          <p:cNvSpPr txBox="1"/>
          <p:nvPr/>
        </p:nvSpPr>
        <p:spPr>
          <a:xfrm>
            <a:off x="4572000" y="2606040"/>
            <a:ext cx="3063240" cy="365760"/>
          </a:xfrm>
          <a:prstGeom prst="rect">
            <a:avLst/>
          </a:prstGeom>
          <a:noFill/>
          <a:ln/>
        </p:spPr>
        <p:txBody>
          <a:bodyPr wrap="square" lIns="0" tIns="0" rIns="0" bIns="0" rtlCol="0" anchor="t"/>
          <a:lstStyle/>
          <a:p>
            <a:pPr marL="0" indent="0" algn="l">
              <a:lnSpc>
                <a:spcPct val="110000"/>
              </a:lnSpc>
              <a:buNone/>
            </a:pPr>
            <a:r>
              <a:rPr lang="en-US" sz="1800" b="1" dirty="0">
                <a:solidFill>
                  <a:srgbClr val="14213D"/>
                </a:solidFill>
                <a:latin typeface="Cambria" pitchFamily="34" charset="0"/>
                <a:ea typeface="Cambria" pitchFamily="34" charset="-122"/>
                <a:cs typeface="Cambria" pitchFamily="34" charset="-120"/>
              </a:rPr>
              <a:t>Normalize</a:t>
            </a:r>
            <a:endParaRPr lang="en-US" sz="1800" dirty="0"/>
          </a:p>
        </p:txBody>
      </p:sp>
      <p:sp>
        <p:nvSpPr>
          <p:cNvPr id="13" name="Text 11">
            <a:extLst>
              <a:ext uri="{FF2B5EF4-FFF2-40B4-BE49-F238E27FC236}">
                <a16:creationId xmlns:a16="http://schemas.microsoft.com/office/drawing/2014/main" id="{BF5A27CC-8355-5502-C528-D604352A9B23}"/>
              </a:ext>
            </a:extLst>
          </p:cNvPr>
          <p:cNvSpPr txBox="1"/>
          <p:nvPr/>
        </p:nvSpPr>
        <p:spPr>
          <a:xfrm>
            <a:off x="4572000" y="3017520"/>
            <a:ext cx="3063240" cy="365760"/>
          </a:xfrm>
          <a:prstGeom prst="rect">
            <a:avLst/>
          </a:prstGeom>
          <a:noFill/>
          <a:ln/>
        </p:spPr>
        <p:txBody>
          <a:bodyPr wrap="square" lIns="0" tIns="0" rIns="0" bIns="0" rtlCol="0" anchor="t"/>
          <a:lstStyle/>
          <a:p>
            <a:pPr marL="0" indent="0" algn="l">
              <a:lnSpc>
                <a:spcPct val="110000"/>
              </a:lnSpc>
              <a:buNone/>
            </a:pPr>
            <a:r>
              <a:rPr lang="en-US" sz="1400" i="1" dirty="0">
                <a:solidFill>
                  <a:srgbClr val="14213D"/>
                </a:solidFill>
                <a:latin typeface="Cambria Math" pitchFamily="34" charset="0"/>
                <a:ea typeface="Cambria Math" pitchFamily="34" charset="-122"/>
                <a:cs typeface="Cambria Math" pitchFamily="34" charset="-120"/>
              </a:rPr>
              <a:t>g</a:t>
            </a:r>
            <a:r>
              <a:rPr lang="en-US" sz="1400" i="1" baseline="-40000" dirty="0">
                <a:solidFill>
                  <a:srgbClr val="14213D"/>
                </a:solidFill>
                <a:latin typeface="Cambria Math" pitchFamily="34" charset="0"/>
                <a:ea typeface="Cambria Math" pitchFamily="34" charset="-122"/>
                <a:cs typeface="Cambria Math" pitchFamily="34" charset="-120"/>
              </a:rPr>
              <a:t>k</a:t>
            </a:r>
            <a:r>
              <a:rPr lang="en-US" sz="1400" i="1" dirty="0">
                <a:solidFill>
                  <a:srgbClr val="14213D"/>
                </a:solidFill>
                <a:latin typeface="Cambria Math" pitchFamily="34" charset="0"/>
                <a:ea typeface="Cambria Math" pitchFamily="34" charset="-122"/>
                <a:cs typeface="Cambria Math" pitchFamily="34" charset="-120"/>
              </a:rPr>
              <a:t> = ‖K‖</a:t>
            </a:r>
            <a:r>
              <a:rPr lang="en-US" sz="1400" i="1" baseline="-40000" dirty="0">
                <a:solidFill>
                  <a:srgbClr val="14213D"/>
                </a:solidFill>
                <a:latin typeface="Cambria Math" pitchFamily="34" charset="0"/>
                <a:ea typeface="Cambria Math" pitchFamily="34" charset="-122"/>
                <a:cs typeface="Cambria Math" pitchFamily="34" charset="-120"/>
              </a:rPr>
              <a:t>2</a:t>
            </a:r>
            <a:r>
              <a:rPr lang="en-US" sz="1400" i="1" dirty="0">
                <a:solidFill>
                  <a:srgbClr val="14213D"/>
                </a:solidFill>
                <a:latin typeface="Cambria Math" pitchFamily="34" charset="0"/>
                <a:ea typeface="Cambria Math" pitchFamily="34" charset="-122"/>
                <a:cs typeface="Cambria Math" pitchFamily="34" charset="-120"/>
              </a:rPr>
              <a:t>,  K̃ = K / g</a:t>
            </a:r>
            <a:r>
              <a:rPr lang="en-US" sz="1400" i="1" baseline="-40000" dirty="0">
                <a:solidFill>
                  <a:srgbClr val="14213D"/>
                </a:solidFill>
                <a:latin typeface="Cambria Math" pitchFamily="34" charset="0"/>
                <a:ea typeface="Cambria Math" pitchFamily="34" charset="-122"/>
                <a:cs typeface="Cambria Math" pitchFamily="34" charset="-120"/>
              </a:rPr>
              <a:t>k</a:t>
            </a:r>
            <a:endParaRPr lang="en-US" sz="1400" dirty="0"/>
          </a:p>
        </p:txBody>
      </p:sp>
      <p:sp>
        <p:nvSpPr>
          <p:cNvPr id="14" name="Text 12">
            <a:extLst>
              <a:ext uri="{FF2B5EF4-FFF2-40B4-BE49-F238E27FC236}">
                <a16:creationId xmlns:a16="http://schemas.microsoft.com/office/drawing/2014/main" id="{4A9D3E40-8B20-3113-5292-50BFB97B1D5E}"/>
              </a:ext>
            </a:extLst>
          </p:cNvPr>
          <p:cNvSpPr txBox="1"/>
          <p:nvPr/>
        </p:nvSpPr>
        <p:spPr>
          <a:xfrm>
            <a:off x="4572000" y="3410712"/>
            <a:ext cx="3063240" cy="658368"/>
          </a:xfrm>
          <a:prstGeom prst="rect">
            <a:avLst/>
          </a:prstGeom>
          <a:noFill/>
          <a:ln/>
        </p:spPr>
        <p:txBody>
          <a:bodyPr wrap="square" lIns="0" tIns="0" rIns="0" bIns="0" rtlCol="0" anchor="t"/>
          <a:lstStyle/>
          <a:p>
            <a:pPr marL="0" indent="0" algn="l">
              <a:lnSpc>
                <a:spcPct val="115000"/>
              </a:lnSpc>
              <a:buNone/>
            </a:pPr>
            <a:r>
              <a:rPr lang="en-US" sz="1300" dirty="0">
                <a:solidFill>
                  <a:srgbClr val="4A5670"/>
                </a:solidFill>
                <a:latin typeface="Calibri" pitchFamily="34" charset="0"/>
                <a:ea typeface="Calibri" pitchFamily="34" charset="-122"/>
                <a:cs typeface="Calibri" pitchFamily="34" charset="-120"/>
              </a:rPr>
              <a:t>Norm stored as a scalar; direction placed on the unit hypersphere.</a:t>
            </a:r>
            <a:endParaRPr lang="en-US" sz="1300" dirty="0"/>
          </a:p>
        </p:txBody>
      </p:sp>
      <p:sp>
        <p:nvSpPr>
          <p:cNvPr id="15" name="Shape 13">
            <a:extLst>
              <a:ext uri="{FF2B5EF4-FFF2-40B4-BE49-F238E27FC236}">
                <a16:creationId xmlns:a16="http://schemas.microsoft.com/office/drawing/2014/main" id="{07968645-BB32-AD8A-1050-0628C069B375}"/>
              </a:ext>
            </a:extLst>
          </p:cNvPr>
          <p:cNvSpPr/>
          <p:nvPr/>
        </p:nvSpPr>
        <p:spPr>
          <a:xfrm>
            <a:off x="8138160" y="2148840"/>
            <a:ext cx="3520440" cy="2011680"/>
          </a:xfrm>
          <a:prstGeom prst="roundRect">
            <a:avLst>
              <a:gd name="adj" fmla="val 2727"/>
            </a:avLst>
          </a:prstGeom>
          <a:solidFill>
            <a:srgbClr val="FFFFFF"/>
          </a:solidFill>
          <a:ln w="12700">
            <a:solidFill>
              <a:srgbClr val="C9D1DC"/>
            </a:solidFill>
            <a:prstDash val="solid"/>
          </a:ln>
        </p:spPr>
        <p:txBody>
          <a:bodyPr/>
          <a:lstStyle/>
          <a:p>
            <a:endParaRPr lang="en-IL"/>
          </a:p>
        </p:txBody>
      </p:sp>
      <p:sp>
        <p:nvSpPr>
          <p:cNvPr id="16" name="Text 14">
            <a:extLst>
              <a:ext uri="{FF2B5EF4-FFF2-40B4-BE49-F238E27FC236}">
                <a16:creationId xmlns:a16="http://schemas.microsoft.com/office/drawing/2014/main" id="{C935A738-C7C5-9F5A-3826-CAF000F49E46}"/>
              </a:ext>
            </a:extLst>
          </p:cNvPr>
          <p:cNvSpPr txBox="1"/>
          <p:nvPr/>
        </p:nvSpPr>
        <p:spPr>
          <a:xfrm>
            <a:off x="8366760" y="2331720"/>
            <a:ext cx="2743200" cy="256032"/>
          </a:xfrm>
          <a:prstGeom prst="rect">
            <a:avLst/>
          </a:prstGeom>
          <a:noFill/>
          <a:ln/>
        </p:spPr>
        <p:txBody>
          <a:bodyPr wrap="square" lIns="0" tIns="0" rIns="0" bIns="0" rtlCol="0" anchor="t"/>
          <a:lstStyle/>
          <a:p>
            <a:pPr marL="0" indent="0" algn="l">
              <a:lnSpc>
                <a:spcPct val="110000"/>
              </a:lnSpc>
              <a:buNone/>
            </a:pPr>
            <a:r>
              <a:rPr lang="en-US" sz="1200" b="1" dirty="0">
                <a:solidFill>
                  <a:srgbClr val="4A5670"/>
                </a:solidFill>
                <a:latin typeface="Courier New" pitchFamily="34" charset="0"/>
                <a:ea typeface="Courier New" pitchFamily="34" charset="-122"/>
                <a:cs typeface="Courier New" pitchFamily="34" charset="-120"/>
              </a:rPr>
              <a:t>3</a:t>
            </a:r>
            <a:endParaRPr lang="en-US" sz="1200" dirty="0"/>
          </a:p>
        </p:txBody>
      </p:sp>
      <p:sp>
        <p:nvSpPr>
          <p:cNvPr id="17" name="Text 15">
            <a:extLst>
              <a:ext uri="{FF2B5EF4-FFF2-40B4-BE49-F238E27FC236}">
                <a16:creationId xmlns:a16="http://schemas.microsoft.com/office/drawing/2014/main" id="{93A433D5-FE3C-139F-51BC-288B706D990A}"/>
              </a:ext>
            </a:extLst>
          </p:cNvPr>
          <p:cNvSpPr txBox="1"/>
          <p:nvPr/>
        </p:nvSpPr>
        <p:spPr>
          <a:xfrm>
            <a:off x="8366760" y="2606040"/>
            <a:ext cx="3063240" cy="365760"/>
          </a:xfrm>
          <a:prstGeom prst="rect">
            <a:avLst/>
          </a:prstGeom>
          <a:noFill/>
          <a:ln/>
        </p:spPr>
        <p:txBody>
          <a:bodyPr wrap="square" lIns="0" tIns="0" rIns="0" bIns="0" rtlCol="0" anchor="t"/>
          <a:lstStyle/>
          <a:p>
            <a:pPr marL="0" indent="0" algn="l">
              <a:lnSpc>
                <a:spcPct val="110000"/>
              </a:lnSpc>
              <a:buNone/>
            </a:pPr>
            <a:r>
              <a:rPr lang="en-US" sz="1800" b="1" dirty="0">
                <a:solidFill>
                  <a:srgbClr val="14213D"/>
                </a:solidFill>
                <a:latin typeface="Cambria" pitchFamily="34" charset="0"/>
                <a:ea typeface="Cambria" pitchFamily="34" charset="-122"/>
                <a:cs typeface="Cambria" pitchFamily="34" charset="-120"/>
              </a:rPr>
              <a:t>Haar rotate</a:t>
            </a:r>
            <a:endParaRPr lang="en-US" sz="1800" dirty="0"/>
          </a:p>
        </p:txBody>
      </p:sp>
      <p:sp>
        <p:nvSpPr>
          <p:cNvPr id="18" name="Text 16">
            <a:extLst>
              <a:ext uri="{FF2B5EF4-FFF2-40B4-BE49-F238E27FC236}">
                <a16:creationId xmlns:a16="http://schemas.microsoft.com/office/drawing/2014/main" id="{BD9BCB15-A6F9-C42F-9BA2-3415D7A795DE}"/>
              </a:ext>
            </a:extLst>
          </p:cNvPr>
          <p:cNvSpPr txBox="1"/>
          <p:nvPr/>
        </p:nvSpPr>
        <p:spPr>
          <a:xfrm>
            <a:off x="8366760" y="3017520"/>
            <a:ext cx="3063240" cy="365760"/>
          </a:xfrm>
          <a:prstGeom prst="rect">
            <a:avLst/>
          </a:prstGeom>
          <a:noFill/>
          <a:ln/>
        </p:spPr>
        <p:txBody>
          <a:bodyPr wrap="square" lIns="0" tIns="0" rIns="0" bIns="0" rtlCol="0" anchor="t"/>
          <a:lstStyle/>
          <a:p>
            <a:pPr marL="0" indent="0" algn="l">
              <a:lnSpc>
                <a:spcPct val="110000"/>
              </a:lnSpc>
              <a:buNone/>
            </a:pPr>
            <a:r>
              <a:rPr lang="en-US" sz="1400" i="1" dirty="0">
                <a:solidFill>
                  <a:srgbClr val="14213D"/>
                </a:solidFill>
                <a:latin typeface="Cambria Math" pitchFamily="34" charset="0"/>
                <a:ea typeface="Cambria Math" pitchFamily="34" charset="-122"/>
                <a:cs typeface="Cambria Math" pitchFamily="34" charset="-120"/>
              </a:rPr>
              <a:t>K</a:t>
            </a:r>
            <a:r>
              <a:rPr lang="en-US" sz="1400" i="1" baseline="-40000" dirty="0">
                <a:solidFill>
                  <a:srgbClr val="14213D"/>
                </a:solidFill>
                <a:latin typeface="Cambria Math" pitchFamily="34" charset="0"/>
                <a:ea typeface="Cambria Math" pitchFamily="34" charset="-122"/>
                <a:cs typeface="Cambria Math" pitchFamily="34" charset="-120"/>
              </a:rPr>
              <a:t>rot</a:t>
            </a:r>
            <a:r>
              <a:rPr lang="en-US" sz="1400" i="1" dirty="0">
                <a:solidFill>
                  <a:srgbClr val="14213D"/>
                </a:solidFill>
                <a:latin typeface="Cambria Math" pitchFamily="34" charset="0"/>
                <a:ea typeface="Cambria Math" pitchFamily="34" charset="-122"/>
                <a:cs typeface="Cambria Math" pitchFamily="34" charset="-120"/>
              </a:rPr>
              <a:t> = H·K̃</a:t>
            </a:r>
            <a:endParaRPr lang="en-US" sz="1400" dirty="0"/>
          </a:p>
        </p:txBody>
      </p:sp>
      <p:sp>
        <p:nvSpPr>
          <p:cNvPr id="19" name="Text 17">
            <a:extLst>
              <a:ext uri="{FF2B5EF4-FFF2-40B4-BE49-F238E27FC236}">
                <a16:creationId xmlns:a16="http://schemas.microsoft.com/office/drawing/2014/main" id="{DAC89270-CB6A-B671-C883-1E6294B78F65}"/>
              </a:ext>
            </a:extLst>
          </p:cNvPr>
          <p:cNvSpPr txBox="1"/>
          <p:nvPr/>
        </p:nvSpPr>
        <p:spPr>
          <a:xfrm>
            <a:off x="8366760" y="3410712"/>
            <a:ext cx="3063240" cy="658368"/>
          </a:xfrm>
          <a:prstGeom prst="rect">
            <a:avLst/>
          </a:prstGeom>
          <a:noFill/>
          <a:ln/>
        </p:spPr>
        <p:txBody>
          <a:bodyPr wrap="square" lIns="0" tIns="0" rIns="0" bIns="0" rtlCol="0" anchor="t"/>
          <a:lstStyle/>
          <a:p>
            <a:pPr marL="0" indent="0" algn="l">
              <a:lnSpc>
                <a:spcPct val="115000"/>
              </a:lnSpc>
              <a:buNone/>
            </a:pPr>
            <a:r>
              <a:rPr lang="en-US" sz="1300" dirty="0">
                <a:solidFill>
                  <a:srgbClr val="4A5670"/>
                </a:solidFill>
                <a:latin typeface="Calibri" pitchFamily="34" charset="0"/>
                <a:ea typeface="Calibri" pitchFamily="34" charset="-122"/>
                <a:cs typeface="Calibri" pitchFamily="34" charset="-120"/>
              </a:rPr>
              <a:t>Via Q15MAC2. Equalizes variance across coordinates and removes directional outliers.</a:t>
            </a:r>
            <a:endParaRPr lang="en-US" sz="1300" dirty="0"/>
          </a:p>
        </p:txBody>
      </p:sp>
      <p:sp>
        <p:nvSpPr>
          <p:cNvPr id="20" name="Shape 18">
            <a:extLst>
              <a:ext uri="{FF2B5EF4-FFF2-40B4-BE49-F238E27FC236}">
                <a16:creationId xmlns:a16="http://schemas.microsoft.com/office/drawing/2014/main" id="{C788BAA8-13AC-C84E-AEE4-267675C55B0D}"/>
              </a:ext>
            </a:extLst>
          </p:cNvPr>
          <p:cNvSpPr/>
          <p:nvPr/>
        </p:nvSpPr>
        <p:spPr>
          <a:xfrm>
            <a:off x="548640" y="4434840"/>
            <a:ext cx="3520440" cy="2011680"/>
          </a:xfrm>
          <a:prstGeom prst="roundRect">
            <a:avLst>
              <a:gd name="adj" fmla="val 2727"/>
            </a:avLst>
          </a:prstGeom>
          <a:solidFill>
            <a:srgbClr val="F6E8DA"/>
          </a:solidFill>
          <a:ln w="12700">
            <a:solidFill>
              <a:srgbClr val="F6E8DA"/>
            </a:solidFill>
            <a:prstDash val="solid"/>
          </a:ln>
        </p:spPr>
        <p:txBody>
          <a:bodyPr/>
          <a:lstStyle/>
          <a:p>
            <a:endParaRPr lang="en-IL"/>
          </a:p>
        </p:txBody>
      </p:sp>
      <p:sp>
        <p:nvSpPr>
          <p:cNvPr id="21" name="Text 19">
            <a:extLst>
              <a:ext uri="{FF2B5EF4-FFF2-40B4-BE49-F238E27FC236}">
                <a16:creationId xmlns:a16="http://schemas.microsoft.com/office/drawing/2014/main" id="{500A7D52-6319-23B7-1365-6789CF89C661}"/>
              </a:ext>
            </a:extLst>
          </p:cNvPr>
          <p:cNvSpPr txBox="1"/>
          <p:nvPr/>
        </p:nvSpPr>
        <p:spPr>
          <a:xfrm>
            <a:off x="777240" y="4617720"/>
            <a:ext cx="2743200" cy="256032"/>
          </a:xfrm>
          <a:prstGeom prst="rect">
            <a:avLst/>
          </a:prstGeom>
          <a:noFill/>
          <a:ln/>
        </p:spPr>
        <p:txBody>
          <a:bodyPr wrap="square" lIns="0" tIns="0" rIns="0" bIns="0" rtlCol="0" anchor="t"/>
          <a:lstStyle/>
          <a:p>
            <a:pPr marL="0" indent="0" algn="l">
              <a:lnSpc>
                <a:spcPct val="110000"/>
              </a:lnSpc>
              <a:buNone/>
            </a:pPr>
            <a:r>
              <a:rPr lang="en-US" sz="1200" b="1" dirty="0">
                <a:solidFill>
                  <a:srgbClr val="B0661F"/>
                </a:solidFill>
                <a:latin typeface="Courier New" pitchFamily="34" charset="0"/>
                <a:ea typeface="Courier New" pitchFamily="34" charset="-122"/>
                <a:cs typeface="Courier New" pitchFamily="34" charset="-120"/>
              </a:rPr>
              <a:t>4 · Stream A</a:t>
            </a:r>
            <a:endParaRPr lang="en-US" sz="1200" dirty="0"/>
          </a:p>
        </p:txBody>
      </p:sp>
      <p:sp>
        <p:nvSpPr>
          <p:cNvPr id="22" name="Text 20">
            <a:extLst>
              <a:ext uri="{FF2B5EF4-FFF2-40B4-BE49-F238E27FC236}">
                <a16:creationId xmlns:a16="http://schemas.microsoft.com/office/drawing/2014/main" id="{81B9DF37-4E41-8A30-99E6-F1C95BAB3F1A}"/>
              </a:ext>
            </a:extLst>
          </p:cNvPr>
          <p:cNvSpPr txBox="1"/>
          <p:nvPr/>
        </p:nvSpPr>
        <p:spPr>
          <a:xfrm>
            <a:off x="777240" y="4892040"/>
            <a:ext cx="3063240" cy="365760"/>
          </a:xfrm>
          <a:prstGeom prst="rect">
            <a:avLst/>
          </a:prstGeom>
          <a:noFill/>
          <a:ln/>
        </p:spPr>
        <p:txBody>
          <a:bodyPr wrap="square" lIns="0" tIns="0" rIns="0" bIns="0" rtlCol="0" anchor="t"/>
          <a:lstStyle/>
          <a:p>
            <a:pPr marL="0" indent="0" algn="l">
              <a:lnSpc>
                <a:spcPct val="110000"/>
              </a:lnSpc>
              <a:buNone/>
            </a:pPr>
            <a:r>
              <a:rPr lang="en-US" sz="1800" b="1" dirty="0">
                <a:solidFill>
                  <a:srgbClr val="14213D"/>
                </a:solidFill>
                <a:latin typeface="Cambria" pitchFamily="34" charset="0"/>
                <a:ea typeface="Cambria" pitchFamily="34" charset="-122"/>
                <a:cs typeface="Cambria" pitchFamily="34" charset="-120"/>
              </a:rPr>
              <a:t>PolarQuant</a:t>
            </a:r>
            <a:endParaRPr lang="en-US" sz="1800" dirty="0"/>
          </a:p>
        </p:txBody>
      </p:sp>
      <p:sp>
        <p:nvSpPr>
          <p:cNvPr id="23" name="Text 21">
            <a:extLst>
              <a:ext uri="{FF2B5EF4-FFF2-40B4-BE49-F238E27FC236}">
                <a16:creationId xmlns:a16="http://schemas.microsoft.com/office/drawing/2014/main" id="{851F65BD-4DF7-2418-4243-5209C925FC1D}"/>
              </a:ext>
            </a:extLst>
          </p:cNvPr>
          <p:cNvSpPr txBox="1"/>
          <p:nvPr/>
        </p:nvSpPr>
        <p:spPr>
          <a:xfrm>
            <a:off x="777240" y="5303520"/>
            <a:ext cx="3063240" cy="365760"/>
          </a:xfrm>
          <a:prstGeom prst="rect">
            <a:avLst/>
          </a:prstGeom>
          <a:noFill/>
          <a:ln/>
        </p:spPr>
        <p:txBody>
          <a:bodyPr wrap="square" lIns="0" tIns="0" rIns="0" bIns="0" rtlCol="0" anchor="t"/>
          <a:lstStyle/>
          <a:p>
            <a:pPr marL="0" indent="0" algn="l">
              <a:lnSpc>
                <a:spcPct val="110000"/>
              </a:lnSpc>
              <a:buNone/>
            </a:pPr>
            <a:r>
              <a:rPr lang="en-US" sz="1400" i="1" dirty="0">
                <a:solidFill>
                  <a:srgbClr val="14213D"/>
                </a:solidFill>
                <a:latin typeface="Cambria Math" pitchFamily="34" charset="0"/>
                <a:ea typeface="Cambria Math" pitchFamily="34" charset="-122"/>
                <a:cs typeface="Cambria Math" pitchFamily="34" charset="-120"/>
              </a:rPr>
              <a:t>idx</a:t>
            </a:r>
            <a:r>
              <a:rPr lang="en-US" sz="1400" i="1" baseline="-40000" dirty="0">
                <a:solidFill>
                  <a:srgbClr val="14213D"/>
                </a:solidFill>
                <a:latin typeface="Cambria Math" pitchFamily="34" charset="0"/>
                <a:ea typeface="Cambria Math" pitchFamily="34" charset="-122"/>
                <a:cs typeface="Cambria Math" pitchFamily="34" charset="-120"/>
              </a:rPr>
              <a:t>i</a:t>
            </a:r>
            <a:r>
              <a:rPr lang="en-US" sz="1400" i="1" dirty="0">
                <a:solidFill>
                  <a:srgbClr val="14213D"/>
                </a:solidFill>
                <a:latin typeface="Cambria Math" pitchFamily="34" charset="0"/>
                <a:ea typeface="Cambria Math" pitchFamily="34" charset="-122"/>
                <a:cs typeface="Cambria Math" pitchFamily="34" charset="-120"/>
              </a:rPr>
              <a:t> = argmin</a:t>
            </a:r>
            <a:r>
              <a:rPr lang="en-US" sz="1400" i="1" baseline="-40000" dirty="0">
                <a:solidFill>
                  <a:srgbClr val="14213D"/>
                </a:solidFill>
                <a:latin typeface="Cambria Math" pitchFamily="34" charset="0"/>
                <a:ea typeface="Cambria Math" pitchFamily="34" charset="-122"/>
                <a:cs typeface="Cambria Math" pitchFamily="34" charset="-120"/>
              </a:rPr>
              <a:t>c</a:t>
            </a:r>
            <a:r>
              <a:rPr lang="en-US" sz="1400" i="1" dirty="0">
                <a:solidFill>
                  <a:srgbClr val="14213D"/>
                </a:solidFill>
                <a:latin typeface="Cambria Math" pitchFamily="34" charset="0"/>
                <a:ea typeface="Cambria Math" pitchFamily="34" charset="-122"/>
                <a:cs typeface="Cambria Math" pitchFamily="34" charset="-120"/>
              </a:rPr>
              <a:t> |K</a:t>
            </a:r>
            <a:r>
              <a:rPr lang="en-US" sz="1400" i="1" baseline="-40000" dirty="0">
                <a:solidFill>
                  <a:srgbClr val="14213D"/>
                </a:solidFill>
                <a:latin typeface="Cambria Math" pitchFamily="34" charset="0"/>
                <a:ea typeface="Cambria Math" pitchFamily="34" charset="-122"/>
                <a:cs typeface="Cambria Math" pitchFamily="34" charset="-120"/>
              </a:rPr>
              <a:t>rot</a:t>
            </a:r>
            <a:r>
              <a:rPr lang="en-US" sz="1400" i="1" dirty="0">
                <a:solidFill>
                  <a:srgbClr val="14213D"/>
                </a:solidFill>
                <a:latin typeface="Cambria Math" pitchFamily="34" charset="0"/>
                <a:ea typeface="Cambria Math" pitchFamily="34" charset="-122"/>
                <a:cs typeface="Cambria Math" pitchFamily="34" charset="-120"/>
              </a:rPr>
              <a:t>[i] − C[c]|</a:t>
            </a:r>
            <a:endParaRPr lang="en-US" sz="1400" dirty="0"/>
          </a:p>
        </p:txBody>
      </p:sp>
      <p:sp>
        <p:nvSpPr>
          <p:cNvPr id="24" name="Text 22">
            <a:extLst>
              <a:ext uri="{FF2B5EF4-FFF2-40B4-BE49-F238E27FC236}">
                <a16:creationId xmlns:a16="http://schemas.microsoft.com/office/drawing/2014/main" id="{36E7967D-F901-7F78-DFC8-3BF784FABA7B}"/>
              </a:ext>
            </a:extLst>
          </p:cNvPr>
          <p:cNvSpPr txBox="1"/>
          <p:nvPr/>
        </p:nvSpPr>
        <p:spPr>
          <a:xfrm>
            <a:off x="777240" y="5696712"/>
            <a:ext cx="3063240" cy="658368"/>
          </a:xfrm>
          <a:prstGeom prst="rect">
            <a:avLst/>
          </a:prstGeom>
          <a:noFill/>
          <a:ln/>
        </p:spPr>
        <p:txBody>
          <a:bodyPr wrap="square" lIns="0" tIns="0" rIns="0" bIns="0" rtlCol="0" anchor="t"/>
          <a:lstStyle/>
          <a:p>
            <a:pPr marL="0" indent="0" algn="l">
              <a:lnSpc>
                <a:spcPct val="115000"/>
              </a:lnSpc>
              <a:buNone/>
            </a:pPr>
            <a:r>
              <a:rPr lang="en-US" sz="1300" dirty="0">
                <a:solidFill>
                  <a:srgbClr val="4A5670"/>
                </a:solidFill>
                <a:latin typeface="Calibri" pitchFamily="34" charset="0"/>
                <a:ea typeface="Calibri" pitchFamily="34" charset="-122"/>
                <a:cs typeface="Calibri" pitchFamily="34" charset="-120"/>
              </a:rPr>
              <a:t>Nearest of 8 centroids per coordinate; eight 3-bit indices packed per 24 bits.</a:t>
            </a:r>
            <a:endParaRPr lang="en-US" sz="1300" dirty="0"/>
          </a:p>
        </p:txBody>
      </p:sp>
      <p:sp>
        <p:nvSpPr>
          <p:cNvPr id="25" name="Shape 23">
            <a:extLst>
              <a:ext uri="{FF2B5EF4-FFF2-40B4-BE49-F238E27FC236}">
                <a16:creationId xmlns:a16="http://schemas.microsoft.com/office/drawing/2014/main" id="{7DA23FDD-1C76-85DD-5DD6-2D18B5B8F308}"/>
              </a:ext>
            </a:extLst>
          </p:cNvPr>
          <p:cNvSpPr/>
          <p:nvPr/>
        </p:nvSpPr>
        <p:spPr>
          <a:xfrm>
            <a:off x="4343400" y="4434840"/>
            <a:ext cx="3520440" cy="2011680"/>
          </a:xfrm>
          <a:prstGeom prst="roundRect">
            <a:avLst>
              <a:gd name="adj" fmla="val 2727"/>
            </a:avLst>
          </a:prstGeom>
          <a:solidFill>
            <a:srgbClr val="DDEFED"/>
          </a:solidFill>
          <a:ln w="12700">
            <a:solidFill>
              <a:srgbClr val="DDEFED"/>
            </a:solidFill>
            <a:prstDash val="solid"/>
          </a:ln>
        </p:spPr>
        <p:txBody>
          <a:bodyPr/>
          <a:lstStyle/>
          <a:p>
            <a:endParaRPr lang="en-IL"/>
          </a:p>
        </p:txBody>
      </p:sp>
      <p:sp>
        <p:nvSpPr>
          <p:cNvPr id="26" name="Text 24">
            <a:extLst>
              <a:ext uri="{FF2B5EF4-FFF2-40B4-BE49-F238E27FC236}">
                <a16:creationId xmlns:a16="http://schemas.microsoft.com/office/drawing/2014/main" id="{AD38ED17-A1EA-388F-39F4-500718A74D1A}"/>
              </a:ext>
            </a:extLst>
          </p:cNvPr>
          <p:cNvSpPr txBox="1"/>
          <p:nvPr/>
        </p:nvSpPr>
        <p:spPr>
          <a:xfrm>
            <a:off x="4572000" y="4617720"/>
            <a:ext cx="2743200" cy="256032"/>
          </a:xfrm>
          <a:prstGeom prst="rect">
            <a:avLst/>
          </a:prstGeom>
          <a:noFill/>
          <a:ln/>
        </p:spPr>
        <p:txBody>
          <a:bodyPr wrap="square" lIns="0" tIns="0" rIns="0" bIns="0" rtlCol="0" anchor="t"/>
          <a:lstStyle/>
          <a:p>
            <a:pPr marL="0" indent="0" algn="l">
              <a:lnSpc>
                <a:spcPct val="110000"/>
              </a:lnSpc>
              <a:buNone/>
            </a:pPr>
            <a:r>
              <a:rPr lang="en-US" sz="1200" b="1" dirty="0">
                <a:solidFill>
                  <a:srgbClr val="1C7373"/>
                </a:solidFill>
                <a:latin typeface="Courier New" pitchFamily="34" charset="0"/>
                <a:ea typeface="Courier New" pitchFamily="34" charset="-122"/>
                <a:cs typeface="Courier New" pitchFamily="34" charset="-120"/>
              </a:rPr>
              <a:t>5 · Stream B</a:t>
            </a:r>
            <a:endParaRPr lang="en-US" sz="1200" dirty="0"/>
          </a:p>
        </p:txBody>
      </p:sp>
      <p:sp>
        <p:nvSpPr>
          <p:cNvPr id="27" name="Text 25">
            <a:extLst>
              <a:ext uri="{FF2B5EF4-FFF2-40B4-BE49-F238E27FC236}">
                <a16:creationId xmlns:a16="http://schemas.microsoft.com/office/drawing/2014/main" id="{FA96F974-36FA-E7AD-C1E9-ADDC6C76C024}"/>
              </a:ext>
            </a:extLst>
          </p:cNvPr>
          <p:cNvSpPr txBox="1"/>
          <p:nvPr/>
        </p:nvSpPr>
        <p:spPr>
          <a:xfrm>
            <a:off x="4572000" y="4892040"/>
            <a:ext cx="3063240" cy="365760"/>
          </a:xfrm>
          <a:prstGeom prst="rect">
            <a:avLst/>
          </a:prstGeom>
          <a:noFill/>
          <a:ln/>
        </p:spPr>
        <p:txBody>
          <a:bodyPr wrap="square" lIns="0" tIns="0" rIns="0" bIns="0" rtlCol="0" anchor="t"/>
          <a:lstStyle/>
          <a:p>
            <a:pPr marL="0" indent="0" algn="l">
              <a:lnSpc>
                <a:spcPct val="110000"/>
              </a:lnSpc>
              <a:buNone/>
            </a:pPr>
            <a:r>
              <a:rPr lang="en-US" sz="1800" b="1" dirty="0">
                <a:solidFill>
                  <a:srgbClr val="14213D"/>
                </a:solidFill>
                <a:latin typeface="Cambria" pitchFamily="34" charset="0"/>
                <a:ea typeface="Cambria" pitchFamily="34" charset="-122"/>
                <a:cs typeface="Cambria" pitchFamily="34" charset="-120"/>
              </a:rPr>
              <a:t>QJL residual</a:t>
            </a:r>
            <a:endParaRPr lang="en-US" sz="1800" dirty="0"/>
          </a:p>
        </p:txBody>
      </p:sp>
      <p:sp>
        <p:nvSpPr>
          <p:cNvPr id="28" name="Text 26">
            <a:extLst>
              <a:ext uri="{FF2B5EF4-FFF2-40B4-BE49-F238E27FC236}">
                <a16:creationId xmlns:a16="http://schemas.microsoft.com/office/drawing/2014/main" id="{80A1C69F-7D92-00D5-83C1-E4DEDB5DC07E}"/>
              </a:ext>
            </a:extLst>
          </p:cNvPr>
          <p:cNvSpPr txBox="1"/>
          <p:nvPr/>
        </p:nvSpPr>
        <p:spPr>
          <a:xfrm>
            <a:off x="4572000" y="5303520"/>
            <a:ext cx="3063240" cy="365760"/>
          </a:xfrm>
          <a:prstGeom prst="rect">
            <a:avLst/>
          </a:prstGeom>
          <a:noFill/>
          <a:ln/>
        </p:spPr>
        <p:txBody>
          <a:bodyPr wrap="square" lIns="0" tIns="0" rIns="0" bIns="0" rtlCol="0" anchor="t"/>
          <a:lstStyle/>
          <a:p>
            <a:pPr marL="0" indent="0" algn="l">
              <a:lnSpc>
                <a:spcPct val="110000"/>
              </a:lnSpc>
              <a:buNone/>
            </a:pPr>
            <a:r>
              <a:rPr lang="en-US" sz="1400" i="1" dirty="0">
                <a:solidFill>
                  <a:srgbClr val="14213D"/>
                </a:solidFill>
                <a:latin typeface="Cambria Math" pitchFamily="34" charset="0"/>
                <a:ea typeface="Cambria Math" pitchFamily="34" charset="-122"/>
                <a:cs typeface="Cambria Math" pitchFamily="34" charset="-120"/>
              </a:rPr>
              <a:t>r = K</a:t>
            </a:r>
            <a:r>
              <a:rPr lang="en-US" sz="1400" i="1" baseline="-40000" dirty="0">
                <a:solidFill>
                  <a:srgbClr val="14213D"/>
                </a:solidFill>
                <a:latin typeface="Cambria Math" pitchFamily="34" charset="0"/>
                <a:ea typeface="Cambria Math" pitchFamily="34" charset="-122"/>
                <a:cs typeface="Cambria Math" pitchFamily="34" charset="-120"/>
              </a:rPr>
              <a:t>rot</a:t>
            </a:r>
            <a:r>
              <a:rPr lang="en-US" sz="1400" i="1" dirty="0">
                <a:solidFill>
                  <a:srgbClr val="14213D"/>
                </a:solidFill>
                <a:latin typeface="Cambria Math" pitchFamily="34" charset="0"/>
                <a:ea typeface="Cambria Math" pitchFamily="34" charset="-122"/>
                <a:cs typeface="Cambria Math" pitchFamily="34" charset="-120"/>
              </a:rPr>
              <a:t> − K̂</a:t>
            </a:r>
            <a:r>
              <a:rPr lang="en-US" sz="1400" i="1" baseline="-40000" dirty="0">
                <a:solidFill>
                  <a:srgbClr val="14213D"/>
                </a:solidFill>
                <a:latin typeface="Cambria Math" pitchFamily="34" charset="0"/>
                <a:ea typeface="Cambria Math" pitchFamily="34" charset="-122"/>
                <a:cs typeface="Cambria Math" pitchFamily="34" charset="-120"/>
              </a:rPr>
              <a:t>cent</a:t>
            </a:r>
            <a:r>
              <a:rPr lang="en-US" sz="1400" i="1" dirty="0">
                <a:solidFill>
                  <a:srgbClr val="14213D"/>
                </a:solidFill>
                <a:latin typeface="Cambria Math" pitchFamily="34" charset="0"/>
                <a:ea typeface="Cambria Math" pitchFamily="34" charset="-122"/>
                <a:cs typeface="Cambria Math" pitchFamily="34" charset="-120"/>
              </a:rPr>
              <a:t>,  S</a:t>
            </a:r>
            <a:r>
              <a:rPr lang="en-US" sz="1400" i="1" baseline="-40000" dirty="0">
                <a:solidFill>
                  <a:srgbClr val="14213D"/>
                </a:solidFill>
                <a:latin typeface="Cambria Math" pitchFamily="34" charset="0"/>
                <a:ea typeface="Cambria Math" pitchFamily="34" charset="-122"/>
                <a:cs typeface="Cambria Math" pitchFamily="34" charset="-120"/>
              </a:rPr>
              <a:t>i</a:t>
            </a:r>
            <a:r>
              <a:rPr lang="en-US" sz="1400" i="1" dirty="0">
                <a:solidFill>
                  <a:srgbClr val="14213D"/>
                </a:solidFill>
                <a:latin typeface="Cambria Math" pitchFamily="34" charset="0"/>
                <a:ea typeface="Cambria Math" pitchFamily="34" charset="-122"/>
                <a:cs typeface="Cambria Math" pitchFamily="34" charset="-120"/>
              </a:rPr>
              <a:t> = sign((M·r)</a:t>
            </a:r>
            <a:r>
              <a:rPr lang="en-US" sz="1400" i="1" baseline="-40000" dirty="0">
                <a:solidFill>
                  <a:srgbClr val="14213D"/>
                </a:solidFill>
                <a:latin typeface="Cambria Math" pitchFamily="34" charset="0"/>
                <a:ea typeface="Cambria Math" pitchFamily="34" charset="-122"/>
                <a:cs typeface="Cambria Math" pitchFamily="34" charset="-120"/>
              </a:rPr>
              <a:t>i</a:t>
            </a:r>
            <a:r>
              <a:rPr lang="en-US" sz="1400" i="1" dirty="0">
                <a:solidFill>
                  <a:srgbClr val="14213D"/>
                </a:solidFill>
                <a:latin typeface="Cambria Math" pitchFamily="34" charset="0"/>
                <a:ea typeface="Cambria Math" pitchFamily="34" charset="-122"/>
                <a:cs typeface="Cambria Math" pitchFamily="34" charset="-120"/>
              </a:rPr>
              <a:t>)</a:t>
            </a:r>
            <a:endParaRPr lang="en-US" sz="1400" dirty="0"/>
          </a:p>
        </p:txBody>
      </p:sp>
      <p:sp>
        <p:nvSpPr>
          <p:cNvPr id="29" name="Text 27">
            <a:extLst>
              <a:ext uri="{FF2B5EF4-FFF2-40B4-BE49-F238E27FC236}">
                <a16:creationId xmlns:a16="http://schemas.microsoft.com/office/drawing/2014/main" id="{13DEF1E2-0D57-A380-B903-55363DE77FA8}"/>
              </a:ext>
            </a:extLst>
          </p:cNvPr>
          <p:cNvSpPr txBox="1"/>
          <p:nvPr/>
        </p:nvSpPr>
        <p:spPr>
          <a:xfrm>
            <a:off x="4572000" y="5696712"/>
            <a:ext cx="3063240" cy="658368"/>
          </a:xfrm>
          <a:prstGeom prst="rect">
            <a:avLst/>
          </a:prstGeom>
          <a:noFill/>
          <a:ln/>
        </p:spPr>
        <p:txBody>
          <a:bodyPr wrap="square" lIns="0" tIns="0" rIns="0" bIns="0" rtlCol="0" anchor="t"/>
          <a:lstStyle/>
          <a:p>
            <a:pPr marL="0" indent="0" algn="l">
              <a:lnSpc>
                <a:spcPct val="115000"/>
              </a:lnSpc>
              <a:buNone/>
            </a:pPr>
            <a:r>
              <a:rPr lang="en-US" sz="1300" dirty="0">
                <a:solidFill>
                  <a:srgbClr val="4A5670"/>
                </a:solidFill>
                <a:latin typeface="Calibri" pitchFamily="34" charset="0"/>
                <a:ea typeface="Calibri" pitchFamily="34" charset="-122"/>
                <a:cs typeface="Calibri" pitchFamily="34" charset="-120"/>
              </a:rPr>
              <a:t>Bit 0 if z ≥ 0, 1 if z &lt; 0. 48 signs packed into two 32-bit masks.</a:t>
            </a:r>
            <a:endParaRPr lang="en-US" sz="1300" dirty="0"/>
          </a:p>
        </p:txBody>
      </p:sp>
      <p:sp>
        <p:nvSpPr>
          <p:cNvPr id="30" name="Shape 28">
            <a:extLst>
              <a:ext uri="{FF2B5EF4-FFF2-40B4-BE49-F238E27FC236}">
                <a16:creationId xmlns:a16="http://schemas.microsoft.com/office/drawing/2014/main" id="{0BE11960-862B-963B-3FF2-FB34751864D1}"/>
              </a:ext>
            </a:extLst>
          </p:cNvPr>
          <p:cNvSpPr/>
          <p:nvPr/>
        </p:nvSpPr>
        <p:spPr>
          <a:xfrm>
            <a:off x="8138160" y="4434840"/>
            <a:ext cx="3520440" cy="2011680"/>
          </a:xfrm>
          <a:prstGeom prst="roundRect">
            <a:avLst>
              <a:gd name="adj" fmla="val 2727"/>
            </a:avLst>
          </a:prstGeom>
          <a:solidFill>
            <a:srgbClr val="E8E5F6"/>
          </a:solidFill>
          <a:ln w="12700">
            <a:solidFill>
              <a:srgbClr val="E8E5F6"/>
            </a:solidFill>
            <a:prstDash val="solid"/>
          </a:ln>
        </p:spPr>
        <p:txBody>
          <a:bodyPr/>
          <a:lstStyle/>
          <a:p>
            <a:endParaRPr lang="en-IL"/>
          </a:p>
        </p:txBody>
      </p:sp>
      <p:sp>
        <p:nvSpPr>
          <p:cNvPr id="31" name="Text 29">
            <a:extLst>
              <a:ext uri="{FF2B5EF4-FFF2-40B4-BE49-F238E27FC236}">
                <a16:creationId xmlns:a16="http://schemas.microsoft.com/office/drawing/2014/main" id="{ED127B71-A291-3FF7-7258-3FB9DFF35334}"/>
              </a:ext>
            </a:extLst>
          </p:cNvPr>
          <p:cNvSpPr txBox="1"/>
          <p:nvPr/>
        </p:nvSpPr>
        <p:spPr>
          <a:xfrm>
            <a:off x="8366760" y="4617720"/>
            <a:ext cx="2743200" cy="256032"/>
          </a:xfrm>
          <a:prstGeom prst="rect">
            <a:avLst/>
          </a:prstGeom>
          <a:noFill/>
          <a:ln/>
        </p:spPr>
        <p:txBody>
          <a:bodyPr wrap="square" lIns="0" tIns="0" rIns="0" bIns="0" rtlCol="0" anchor="t"/>
          <a:lstStyle/>
          <a:p>
            <a:pPr marL="0" indent="0" algn="l">
              <a:lnSpc>
                <a:spcPct val="110000"/>
              </a:lnSpc>
              <a:buNone/>
            </a:pPr>
            <a:r>
              <a:rPr lang="en-US" sz="1200" b="1" dirty="0">
                <a:solidFill>
                  <a:srgbClr val="5B4BA8"/>
                </a:solidFill>
                <a:latin typeface="Courier New" pitchFamily="34" charset="0"/>
                <a:ea typeface="Courier New" pitchFamily="34" charset="-122"/>
                <a:cs typeface="Courier New" pitchFamily="34" charset="-120"/>
              </a:rPr>
              <a:t>6 · Values</a:t>
            </a:r>
            <a:endParaRPr lang="en-US" sz="1200" dirty="0"/>
          </a:p>
        </p:txBody>
      </p:sp>
      <p:sp>
        <p:nvSpPr>
          <p:cNvPr id="32" name="Text 30">
            <a:extLst>
              <a:ext uri="{FF2B5EF4-FFF2-40B4-BE49-F238E27FC236}">
                <a16:creationId xmlns:a16="http://schemas.microsoft.com/office/drawing/2014/main" id="{25E0CFB3-7074-A5D0-5AF4-0C1575AAF3B2}"/>
              </a:ext>
            </a:extLst>
          </p:cNvPr>
          <p:cNvSpPr txBox="1"/>
          <p:nvPr/>
        </p:nvSpPr>
        <p:spPr>
          <a:xfrm>
            <a:off x="8366760" y="4892040"/>
            <a:ext cx="3063240" cy="365760"/>
          </a:xfrm>
          <a:prstGeom prst="rect">
            <a:avLst/>
          </a:prstGeom>
          <a:noFill/>
          <a:ln/>
        </p:spPr>
        <p:txBody>
          <a:bodyPr wrap="square" lIns="0" tIns="0" rIns="0" bIns="0" rtlCol="0" anchor="t"/>
          <a:lstStyle/>
          <a:p>
            <a:pPr marL="0" indent="0" algn="l">
              <a:lnSpc>
                <a:spcPct val="110000"/>
              </a:lnSpc>
              <a:buNone/>
            </a:pPr>
            <a:r>
              <a:rPr lang="en-US" sz="1800" b="1" dirty="0">
                <a:solidFill>
                  <a:srgbClr val="14213D"/>
                </a:solidFill>
                <a:latin typeface="Cambria" pitchFamily="34" charset="0"/>
                <a:ea typeface="Cambria" pitchFamily="34" charset="-122"/>
                <a:cs typeface="Cambria" pitchFamily="34" charset="-120"/>
              </a:rPr>
              <a:t>Repeat for V</a:t>
            </a:r>
            <a:endParaRPr lang="en-US" sz="1800" dirty="0"/>
          </a:p>
        </p:txBody>
      </p:sp>
      <p:sp>
        <p:nvSpPr>
          <p:cNvPr id="33" name="Text 31">
            <a:extLst>
              <a:ext uri="{FF2B5EF4-FFF2-40B4-BE49-F238E27FC236}">
                <a16:creationId xmlns:a16="http://schemas.microsoft.com/office/drawing/2014/main" id="{33FED6A8-3D07-96D7-9E32-991ACEBC39B7}"/>
              </a:ext>
            </a:extLst>
          </p:cNvPr>
          <p:cNvSpPr txBox="1"/>
          <p:nvPr/>
        </p:nvSpPr>
        <p:spPr>
          <a:xfrm>
            <a:off x="8366760" y="5303520"/>
            <a:ext cx="3063240" cy="365760"/>
          </a:xfrm>
          <a:prstGeom prst="rect">
            <a:avLst/>
          </a:prstGeom>
          <a:noFill/>
          <a:ln/>
        </p:spPr>
        <p:txBody>
          <a:bodyPr wrap="square" lIns="0" tIns="0" rIns="0" bIns="0" rtlCol="0" anchor="t"/>
          <a:lstStyle/>
          <a:p>
            <a:pPr marL="0" indent="0" algn="l">
              <a:lnSpc>
                <a:spcPct val="110000"/>
              </a:lnSpc>
              <a:buNone/>
            </a:pPr>
            <a:r>
              <a:rPr lang="en-US" sz="1400" i="1" dirty="0">
                <a:solidFill>
                  <a:srgbClr val="14213D"/>
                </a:solidFill>
                <a:latin typeface="Cambria Math" pitchFamily="34" charset="0"/>
                <a:ea typeface="Cambria Math" pitchFamily="34" charset="-122"/>
                <a:cs typeface="Cambria Math" pitchFamily="34" charset="-120"/>
              </a:rPr>
              <a:t>g</a:t>
            </a:r>
            <a:r>
              <a:rPr lang="en-US" sz="1400" i="1" baseline="-40000" dirty="0">
                <a:solidFill>
                  <a:srgbClr val="14213D"/>
                </a:solidFill>
                <a:latin typeface="Cambria Math" pitchFamily="34" charset="0"/>
                <a:ea typeface="Cambria Math" pitchFamily="34" charset="-122"/>
                <a:cs typeface="Cambria Math" pitchFamily="34" charset="-120"/>
              </a:rPr>
              <a:t>v</a:t>
            </a:r>
            <a:r>
              <a:rPr lang="en-US" sz="1400" i="1" dirty="0">
                <a:solidFill>
                  <a:srgbClr val="14213D"/>
                </a:solidFill>
                <a:latin typeface="Cambria Math" pitchFamily="34" charset="0"/>
                <a:ea typeface="Cambria Math" pitchFamily="34" charset="-122"/>
                <a:cs typeface="Cambria Math" pitchFamily="34" charset="-120"/>
              </a:rPr>
              <a:t> and 3-bit indices of V</a:t>
            </a:r>
            <a:r>
              <a:rPr lang="en-US" sz="1400" i="1" baseline="-40000" dirty="0">
                <a:solidFill>
                  <a:srgbClr val="14213D"/>
                </a:solidFill>
                <a:latin typeface="Cambria Math" pitchFamily="34" charset="0"/>
                <a:ea typeface="Cambria Math" pitchFamily="34" charset="-122"/>
                <a:cs typeface="Cambria Math" pitchFamily="34" charset="-120"/>
              </a:rPr>
              <a:t>rot</a:t>
            </a:r>
            <a:endParaRPr lang="en-US" sz="1400" dirty="0"/>
          </a:p>
        </p:txBody>
      </p:sp>
      <p:sp>
        <p:nvSpPr>
          <p:cNvPr id="34" name="Text 32">
            <a:extLst>
              <a:ext uri="{FF2B5EF4-FFF2-40B4-BE49-F238E27FC236}">
                <a16:creationId xmlns:a16="http://schemas.microsoft.com/office/drawing/2014/main" id="{ADE077DB-3DB1-FF07-C534-4299B3DFB884}"/>
              </a:ext>
            </a:extLst>
          </p:cNvPr>
          <p:cNvSpPr txBox="1"/>
          <p:nvPr/>
        </p:nvSpPr>
        <p:spPr>
          <a:xfrm>
            <a:off x="8366760" y="5696712"/>
            <a:ext cx="3063240" cy="658368"/>
          </a:xfrm>
          <a:prstGeom prst="rect">
            <a:avLst/>
          </a:prstGeom>
          <a:noFill/>
          <a:ln/>
        </p:spPr>
        <p:txBody>
          <a:bodyPr wrap="square" lIns="0" tIns="0" rIns="0" bIns="0" rtlCol="0" anchor="t"/>
          <a:lstStyle/>
          <a:p>
            <a:pPr marL="0" indent="0" algn="l">
              <a:lnSpc>
                <a:spcPct val="115000"/>
              </a:lnSpc>
              <a:buNone/>
            </a:pPr>
            <a:r>
              <a:rPr lang="en-US" sz="1300" dirty="0">
                <a:solidFill>
                  <a:srgbClr val="4A5670"/>
                </a:solidFill>
                <a:latin typeface="Calibri" pitchFamily="34" charset="0"/>
                <a:ea typeface="Calibri" pitchFamily="34" charset="-122"/>
                <a:cs typeface="Calibri" pitchFamily="34" charset="-120"/>
              </a:rPr>
              <a:t>Steps 2–4 only: norm plus centroid indices. No residual stream.</a:t>
            </a:r>
            <a:endParaRPr lang="en-US" sz="1300" dirty="0"/>
          </a:p>
        </p:txBody>
      </p:sp>
    </p:spTree>
    <p:extLst>
      <p:ext uri="{BB962C8B-B14F-4D97-AF65-F5344CB8AC3E}">
        <p14:creationId xmlns:p14="http://schemas.microsoft.com/office/powerpoint/2010/main" val="1761100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D9B81-3841-0739-2DB8-2B803873138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29AC860-5E18-21E5-55D7-1FA7260C8E6D}"/>
              </a:ext>
            </a:extLst>
          </p:cNvPr>
          <p:cNvSpPr txBox="1"/>
          <p:nvPr/>
        </p:nvSpPr>
        <p:spPr>
          <a:xfrm>
            <a:off x="548640" y="411480"/>
            <a:ext cx="11094415" cy="274320"/>
          </a:xfrm>
          <a:prstGeom prst="rect">
            <a:avLst/>
          </a:prstGeom>
          <a:noFill/>
          <a:ln/>
        </p:spPr>
        <p:txBody>
          <a:bodyPr wrap="square" lIns="0" tIns="0" rIns="0" bIns="0" rtlCol="0" anchor="t"/>
          <a:lstStyle/>
          <a:p>
            <a:pPr marL="0" indent="0" algn="l">
              <a:lnSpc>
                <a:spcPct val="110000"/>
              </a:lnSpc>
              <a:buNone/>
            </a:pPr>
            <a:r>
              <a:rPr lang="en-US" sz="1200" dirty="0">
                <a:solidFill>
                  <a:srgbClr val="4A5670"/>
                </a:solidFill>
                <a:latin typeface="Courier New" pitchFamily="34" charset="0"/>
                <a:ea typeface="Courier New" pitchFamily="34" charset="-122"/>
                <a:cs typeface="Courier New" pitchFamily="34" charset="-120"/>
              </a:rPr>
              <a:t>Phase 2 of 3 · attention scoring</a:t>
            </a:r>
            <a:endParaRPr lang="en-US" sz="1200" dirty="0"/>
          </a:p>
        </p:txBody>
      </p:sp>
      <p:sp>
        <p:nvSpPr>
          <p:cNvPr id="3" name="Text 1">
            <a:extLst>
              <a:ext uri="{FF2B5EF4-FFF2-40B4-BE49-F238E27FC236}">
                <a16:creationId xmlns:a16="http://schemas.microsoft.com/office/drawing/2014/main" id="{B2E760EE-90BB-C499-E48C-212440B70683}"/>
              </a:ext>
            </a:extLst>
          </p:cNvPr>
          <p:cNvSpPr txBox="1"/>
          <p:nvPr/>
        </p:nvSpPr>
        <p:spPr>
          <a:xfrm>
            <a:off x="548640" y="685800"/>
            <a:ext cx="11094415" cy="685800"/>
          </a:xfrm>
          <a:prstGeom prst="rect">
            <a:avLst/>
          </a:prstGeom>
          <a:noFill/>
          <a:ln/>
        </p:spPr>
        <p:txBody>
          <a:bodyPr wrap="square" lIns="0" tIns="0" rIns="0" bIns="0" rtlCol="0" anchor="t"/>
          <a:lstStyle/>
          <a:p>
            <a:pPr marL="0" indent="0" algn="l">
              <a:lnSpc>
                <a:spcPct val="110000"/>
              </a:lnSpc>
              <a:buNone/>
            </a:pPr>
            <a:r>
              <a:rPr lang="en-US" sz="3400" b="1" dirty="0">
                <a:solidFill>
                  <a:srgbClr val="14213D"/>
                </a:solidFill>
                <a:latin typeface="Cambria" pitchFamily="34" charset="0"/>
                <a:ea typeface="Cambria" pitchFamily="34" charset="-122"/>
                <a:cs typeface="Cambria" pitchFamily="34" charset="-120"/>
              </a:rPr>
              <a:t>Dual-stream scoring without dequantizing</a:t>
            </a:r>
            <a:endParaRPr lang="en-US" sz="3400" dirty="0"/>
          </a:p>
        </p:txBody>
      </p:sp>
      <p:sp>
        <p:nvSpPr>
          <p:cNvPr id="4" name="Shape 2">
            <a:extLst>
              <a:ext uri="{FF2B5EF4-FFF2-40B4-BE49-F238E27FC236}">
                <a16:creationId xmlns:a16="http://schemas.microsoft.com/office/drawing/2014/main" id="{7AD9B244-3986-E357-0B5D-F28E4D2A14E1}"/>
              </a:ext>
            </a:extLst>
          </p:cNvPr>
          <p:cNvSpPr/>
          <p:nvPr/>
        </p:nvSpPr>
        <p:spPr>
          <a:xfrm>
            <a:off x="4907128" y="1463040"/>
            <a:ext cx="2377440" cy="457200"/>
          </a:xfrm>
          <a:prstGeom prst="roundRect">
            <a:avLst>
              <a:gd name="adj" fmla="val 12000"/>
            </a:avLst>
          </a:prstGeom>
          <a:solidFill>
            <a:srgbClr val="FFFFFF"/>
          </a:solidFill>
          <a:ln w="12700">
            <a:solidFill>
              <a:srgbClr val="14213D"/>
            </a:solidFill>
            <a:prstDash val="solid"/>
          </a:ln>
        </p:spPr>
        <p:txBody>
          <a:bodyPr/>
          <a:lstStyle/>
          <a:p>
            <a:endParaRPr lang="en-IL"/>
          </a:p>
        </p:txBody>
      </p:sp>
      <p:sp>
        <p:nvSpPr>
          <p:cNvPr id="5" name="Text 3">
            <a:extLst>
              <a:ext uri="{FF2B5EF4-FFF2-40B4-BE49-F238E27FC236}">
                <a16:creationId xmlns:a16="http://schemas.microsoft.com/office/drawing/2014/main" id="{1DB349E0-F453-C3A4-0EEE-88B6BE718D92}"/>
              </a:ext>
            </a:extLst>
          </p:cNvPr>
          <p:cNvSpPr txBox="1"/>
          <p:nvPr/>
        </p:nvSpPr>
        <p:spPr>
          <a:xfrm>
            <a:off x="4907128" y="1463040"/>
            <a:ext cx="2377440" cy="457200"/>
          </a:xfrm>
          <a:prstGeom prst="rect">
            <a:avLst/>
          </a:prstGeom>
          <a:noFill/>
          <a:ln/>
        </p:spPr>
        <p:txBody>
          <a:bodyPr wrap="square" lIns="0" tIns="0" rIns="0" bIns="0" rtlCol="0" anchor="ctr"/>
          <a:lstStyle/>
          <a:p>
            <a:pPr marL="0" indent="0" algn="ctr">
              <a:lnSpc>
                <a:spcPct val="110000"/>
              </a:lnSpc>
              <a:buNone/>
            </a:pPr>
            <a:r>
              <a:rPr lang="en-US" sz="1500" b="1" dirty="0">
                <a:solidFill>
                  <a:srgbClr val="14213D"/>
                </a:solidFill>
                <a:latin typeface="Calibri" pitchFamily="34" charset="0"/>
                <a:ea typeface="Calibri" pitchFamily="34" charset="-122"/>
                <a:cs typeface="Calibri" pitchFamily="34" charset="-120"/>
              </a:rPr>
              <a:t>Current query Q</a:t>
            </a:r>
            <a:endParaRPr lang="en-US" sz="1500" dirty="0"/>
          </a:p>
        </p:txBody>
      </p:sp>
      <p:sp>
        <p:nvSpPr>
          <p:cNvPr id="6" name="Shape 4">
            <a:extLst>
              <a:ext uri="{FF2B5EF4-FFF2-40B4-BE49-F238E27FC236}">
                <a16:creationId xmlns:a16="http://schemas.microsoft.com/office/drawing/2014/main" id="{C7122F9A-3E23-3F5A-96C3-8141D5656866}"/>
              </a:ext>
            </a:extLst>
          </p:cNvPr>
          <p:cNvSpPr/>
          <p:nvPr/>
        </p:nvSpPr>
        <p:spPr>
          <a:xfrm>
            <a:off x="6095848" y="1920240"/>
            <a:ext cx="914" cy="182880"/>
          </a:xfrm>
          <a:prstGeom prst="line">
            <a:avLst/>
          </a:prstGeom>
          <a:noFill/>
          <a:ln w="22225">
            <a:solidFill>
              <a:srgbClr val="4A5670"/>
            </a:solidFill>
            <a:prstDash val="solid"/>
          </a:ln>
        </p:spPr>
        <p:txBody>
          <a:bodyPr/>
          <a:lstStyle/>
          <a:p>
            <a:endParaRPr lang="en-IL"/>
          </a:p>
        </p:txBody>
      </p:sp>
      <p:sp>
        <p:nvSpPr>
          <p:cNvPr id="7" name="Shape 5">
            <a:extLst>
              <a:ext uri="{FF2B5EF4-FFF2-40B4-BE49-F238E27FC236}">
                <a16:creationId xmlns:a16="http://schemas.microsoft.com/office/drawing/2014/main" id="{2314D364-2D94-232F-0458-512BF2D938EB}"/>
              </a:ext>
            </a:extLst>
          </p:cNvPr>
          <p:cNvSpPr/>
          <p:nvPr/>
        </p:nvSpPr>
        <p:spPr>
          <a:xfrm>
            <a:off x="3017520" y="2103120"/>
            <a:ext cx="6156655" cy="914"/>
          </a:xfrm>
          <a:prstGeom prst="line">
            <a:avLst/>
          </a:prstGeom>
          <a:noFill/>
          <a:ln w="22225">
            <a:solidFill>
              <a:srgbClr val="4A5670"/>
            </a:solidFill>
            <a:prstDash val="solid"/>
          </a:ln>
        </p:spPr>
        <p:txBody>
          <a:bodyPr/>
          <a:lstStyle/>
          <a:p>
            <a:endParaRPr lang="en-IL"/>
          </a:p>
        </p:txBody>
      </p:sp>
      <p:sp>
        <p:nvSpPr>
          <p:cNvPr id="8" name="Shape 6">
            <a:extLst>
              <a:ext uri="{FF2B5EF4-FFF2-40B4-BE49-F238E27FC236}">
                <a16:creationId xmlns:a16="http://schemas.microsoft.com/office/drawing/2014/main" id="{8E54894B-8CD1-F3CA-8F06-93C1536CC295}"/>
              </a:ext>
            </a:extLst>
          </p:cNvPr>
          <p:cNvSpPr/>
          <p:nvPr/>
        </p:nvSpPr>
        <p:spPr>
          <a:xfrm>
            <a:off x="3017520" y="2103120"/>
            <a:ext cx="914" cy="182880"/>
          </a:xfrm>
          <a:prstGeom prst="line">
            <a:avLst/>
          </a:prstGeom>
          <a:noFill/>
          <a:ln w="22225">
            <a:solidFill>
              <a:srgbClr val="B0661F"/>
            </a:solidFill>
            <a:prstDash val="solid"/>
            <a:tailEnd type="triangle"/>
          </a:ln>
        </p:spPr>
        <p:txBody>
          <a:bodyPr/>
          <a:lstStyle/>
          <a:p>
            <a:endParaRPr lang="en-IL"/>
          </a:p>
        </p:txBody>
      </p:sp>
      <p:sp>
        <p:nvSpPr>
          <p:cNvPr id="9" name="Shape 7">
            <a:extLst>
              <a:ext uri="{FF2B5EF4-FFF2-40B4-BE49-F238E27FC236}">
                <a16:creationId xmlns:a16="http://schemas.microsoft.com/office/drawing/2014/main" id="{88E1D860-F549-2BA4-5298-F83563498EC5}"/>
              </a:ext>
            </a:extLst>
          </p:cNvPr>
          <p:cNvSpPr/>
          <p:nvPr/>
        </p:nvSpPr>
        <p:spPr>
          <a:xfrm>
            <a:off x="9174175" y="2103120"/>
            <a:ext cx="914" cy="182880"/>
          </a:xfrm>
          <a:prstGeom prst="line">
            <a:avLst/>
          </a:prstGeom>
          <a:noFill/>
          <a:ln w="22225">
            <a:solidFill>
              <a:srgbClr val="1C7373"/>
            </a:solidFill>
            <a:prstDash val="solid"/>
            <a:tailEnd type="triangle"/>
          </a:ln>
        </p:spPr>
        <p:txBody>
          <a:bodyPr/>
          <a:lstStyle/>
          <a:p>
            <a:endParaRPr lang="en-IL"/>
          </a:p>
        </p:txBody>
      </p:sp>
      <p:sp>
        <p:nvSpPr>
          <p:cNvPr id="10" name="Shape 8">
            <a:extLst>
              <a:ext uri="{FF2B5EF4-FFF2-40B4-BE49-F238E27FC236}">
                <a16:creationId xmlns:a16="http://schemas.microsoft.com/office/drawing/2014/main" id="{1ADE8924-1B60-1647-41EC-4E539BAFEA3E}"/>
              </a:ext>
            </a:extLst>
          </p:cNvPr>
          <p:cNvSpPr/>
          <p:nvPr/>
        </p:nvSpPr>
        <p:spPr>
          <a:xfrm>
            <a:off x="1737360" y="2286000"/>
            <a:ext cx="2560320" cy="411480"/>
          </a:xfrm>
          <a:prstGeom prst="roundRect">
            <a:avLst>
              <a:gd name="adj" fmla="val 13333"/>
            </a:avLst>
          </a:prstGeom>
          <a:solidFill>
            <a:srgbClr val="F6E8DA"/>
          </a:solidFill>
          <a:ln w="12700">
            <a:solidFill>
              <a:srgbClr val="B0661F"/>
            </a:solidFill>
            <a:prstDash val="solid"/>
          </a:ln>
        </p:spPr>
        <p:txBody>
          <a:bodyPr/>
          <a:lstStyle/>
          <a:p>
            <a:endParaRPr lang="en-IL"/>
          </a:p>
        </p:txBody>
      </p:sp>
      <p:sp>
        <p:nvSpPr>
          <p:cNvPr id="11" name="Text 9">
            <a:extLst>
              <a:ext uri="{FF2B5EF4-FFF2-40B4-BE49-F238E27FC236}">
                <a16:creationId xmlns:a16="http://schemas.microsoft.com/office/drawing/2014/main" id="{5613BD85-E617-463F-04AA-289B42293D12}"/>
              </a:ext>
            </a:extLst>
          </p:cNvPr>
          <p:cNvSpPr txBox="1"/>
          <p:nvPr/>
        </p:nvSpPr>
        <p:spPr>
          <a:xfrm>
            <a:off x="1737360" y="2286000"/>
            <a:ext cx="2560320" cy="411480"/>
          </a:xfrm>
          <a:prstGeom prst="rect">
            <a:avLst/>
          </a:prstGeom>
          <a:noFill/>
          <a:ln/>
        </p:spPr>
        <p:txBody>
          <a:bodyPr wrap="square" lIns="0" tIns="0" rIns="0" bIns="0" rtlCol="0" anchor="ctr"/>
          <a:lstStyle/>
          <a:p>
            <a:pPr marL="0" indent="0" algn="ctr">
              <a:lnSpc>
                <a:spcPct val="110000"/>
              </a:lnSpc>
              <a:buNone/>
            </a:pPr>
            <a:r>
              <a:rPr lang="en-US" sz="1300" dirty="0">
                <a:solidFill>
                  <a:srgbClr val="14213D"/>
                </a:solidFill>
                <a:latin typeface="Courier New" pitchFamily="34" charset="0"/>
                <a:ea typeface="Courier New" pitchFamily="34" charset="-122"/>
                <a:cs typeface="Courier New" pitchFamily="34" charset="-120"/>
              </a:rPr>
              <a:t>Q_rot = H · Q</a:t>
            </a:r>
            <a:endParaRPr lang="en-US" sz="1300" dirty="0"/>
          </a:p>
        </p:txBody>
      </p:sp>
      <p:sp>
        <p:nvSpPr>
          <p:cNvPr id="12" name="Shape 10">
            <a:extLst>
              <a:ext uri="{FF2B5EF4-FFF2-40B4-BE49-F238E27FC236}">
                <a16:creationId xmlns:a16="http://schemas.microsoft.com/office/drawing/2014/main" id="{57DF1F39-66B0-CEEE-6F06-5938759D5D43}"/>
              </a:ext>
            </a:extLst>
          </p:cNvPr>
          <p:cNvSpPr/>
          <p:nvPr/>
        </p:nvSpPr>
        <p:spPr>
          <a:xfrm>
            <a:off x="7894015" y="2286000"/>
            <a:ext cx="2560320" cy="411480"/>
          </a:xfrm>
          <a:prstGeom prst="roundRect">
            <a:avLst>
              <a:gd name="adj" fmla="val 13333"/>
            </a:avLst>
          </a:prstGeom>
          <a:solidFill>
            <a:srgbClr val="DDEFED"/>
          </a:solidFill>
          <a:ln w="12700">
            <a:solidFill>
              <a:srgbClr val="1C7373"/>
            </a:solidFill>
            <a:prstDash val="solid"/>
          </a:ln>
        </p:spPr>
        <p:txBody>
          <a:bodyPr/>
          <a:lstStyle/>
          <a:p>
            <a:endParaRPr lang="en-IL"/>
          </a:p>
        </p:txBody>
      </p:sp>
      <p:sp>
        <p:nvSpPr>
          <p:cNvPr id="13" name="Text 11">
            <a:extLst>
              <a:ext uri="{FF2B5EF4-FFF2-40B4-BE49-F238E27FC236}">
                <a16:creationId xmlns:a16="http://schemas.microsoft.com/office/drawing/2014/main" id="{29CD5A29-A82E-43A9-EFE6-8EBD5135245C}"/>
              </a:ext>
            </a:extLst>
          </p:cNvPr>
          <p:cNvSpPr txBox="1"/>
          <p:nvPr/>
        </p:nvSpPr>
        <p:spPr>
          <a:xfrm>
            <a:off x="7894015" y="2286000"/>
            <a:ext cx="2560320" cy="411480"/>
          </a:xfrm>
          <a:prstGeom prst="rect">
            <a:avLst/>
          </a:prstGeom>
          <a:noFill/>
          <a:ln/>
        </p:spPr>
        <p:txBody>
          <a:bodyPr wrap="square" lIns="0" tIns="0" rIns="0" bIns="0" rtlCol="0" anchor="ctr"/>
          <a:lstStyle/>
          <a:p>
            <a:pPr marL="0" indent="0" algn="ctr">
              <a:lnSpc>
                <a:spcPct val="110000"/>
              </a:lnSpc>
              <a:buNone/>
            </a:pPr>
            <a:r>
              <a:rPr lang="en-US" sz="1300" dirty="0">
                <a:solidFill>
                  <a:srgbClr val="14213D"/>
                </a:solidFill>
                <a:latin typeface="Courier New" pitchFamily="34" charset="0"/>
                <a:ea typeface="Courier New" pitchFamily="34" charset="-122"/>
                <a:cs typeface="Courier New" pitchFamily="34" charset="-120"/>
              </a:rPr>
              <a:t>Q_qjl = Mᵀ · Q</a:t>
            </a:r>
            <a:endParaRPr lang="en-US" sz="1300" dirty="0"/>
          </a:p>
        </p:txBody>
      </p:sp>
      <p:sp>
        <p:nvSpPr>
          <p:cNvPr id="14" name="Shape 12">
            <a:extLst>
              <a:ext uri="{FF2B5EF4-FFF2-40B4-BE49-F238E27FC236}">
                <a16:creationId xmlns:a16="http://schemas.microsoft.com/office/drawing/2014/main" id="{7E43B43C-A82D-4CE5-6178-218A984C97B3}"/>
              </a:ext>
            </a:extLst>
          </p:cNvPr>
          <p:cNvSpPr/>
          <p:nvPr/>
        </p:nvSpPr>
        <p:spPr>
          <a:xfrm>
            <a:off x="3017520" y="2697480"/>
            <a:ext cx="914" cy="182880"/>
          </a:xfrm>
          <a:prstGeom prst="line">
            <a:avLst/>
          </a:prstGeom>
          <a:noFill/>
          <a:ln w="22225">
            <a:solidFill>
              <a:srgbClr val="B0661F"/>
            </a:solidFill>
            <a:prstDash val="solid"/>
            <a:tailEnd type="triangle"/>
          </a:ln>
        </p:spPr>
        <p:txBody>
          <a:bodyPr/>
          <a:lstStyle/>
          <a:p>
            <a:endParaRPr lang="en-IL"/>
          </a:p>
        </p:txBody>
      </p:sp>
      <p:sp>
        <p:nvSpPr>
          <p:cNvPr id="15" name="Shape 13">
            <a:extLst>
              <a:ext uri="{FF2B5EF4-FFF2-40B4-BE49-F238E27FC236}">
                <a16:creationId xmlns:a16="http://schemas.microsoft.com/office/drawing/2014/main" id="{7B909C20-2422-DBD5-ACB6-38318E8D9195}"/>
              </a:ext>
            </a:extLst>
          </p:cNvPr>
          <p:cNvSpPr/>
          <p:nvPr/>
        </p:nvSpPr>
        <p:spPr>
          <a:xfrm>
            <a:off x="9174175" y="2697480"/>
            <a:ext cx="914" cy="182880"/>
          </a:xfrm>
          <a:prstGeom prst="line">
            <a:avLst/>
          </a:prstGeom>
          <a:noFill/>
          <a:ln w="22225">
            <a:solidFill>
              <a:srgbClr val="1C7373"/>
            </a:solidFill>
            <a:prstDash val="solid"/>
            <a:tailEnd type="triangle"/>
          </a:ln>
        </p:spPr>
        <p:txBody>
          <a:bodyPr/>
          <a:lstStyle/>
          <a:p>
            <a:endParaRPr lang="en-IL"/>
          </a:p>
        </p:txBody>
      </p:sp>
      <p:sp>
        <p:nvSpPr>
          <p:cNvPr id="16" name="Shape 14">
            <a:extLst>
              <a:ext uri="{FF2B5EF4-FFF2-40B4-BE49-F238E27FC236}">
                <a16:creationId xmlns:a16="http://schemas.microsoft.com/office/drawing/2014/main" id="{02C85A3B-AD2E-BFDE-E721-41FE744C895F}"/>
              </a:ext>
            </a:extLst>
          </p:cNvPr>
          <p:cNvSpPr/>
          <p:nvPr/>
        </p:nvSpPr>
        <p:spPr>
          <a:xfrm>
            <a:off x="868680" y="2880360"/>
            <a:ext cx="4297680" cy="1874520"/>
          </a:xfrm>
          <a:prstGeom prst="roundRect">
            <a:avLst>
              <a:gd name="adj" fmla="val 2927"/>
            </a:avLst>
          </a:prstGeom>
          <a:solidFill>
            <a:srgbClr val="FFFFFF"/>
          </a:solidFill>
          <a:ln w="12700">
            <a:solidFill>
              <a:srgbClr val="B0661F"/>
            </a:solidFill>
            <a:prstDash val="solid"/>
          </a:ln>
        </p:spPr>
        <p:txBody>
          <a:bodyPr/>
          <a:lstStyle/>
          <a:p>
            <a:endParaRPr lang="en-IL"/>
          </a:p>
        </p:txBody>
      </p:sp>
      <p:sp>
        <p:nvSpPr>
          <p:cNvPr id="17" name="Text 15">
            <a:extLst>
              <a:ext uri="{FF2B5EF4-FFF2-40B4-BE49-F238E27FC236}">
                <a16:creationId xmlns:a16="http://schemas.microsoft.com/office/drawing/2014/main" id="{106D25ED-0DF3-19FB-6015-BF6C00F34BDD}"/>
              </a:ext>
            </a:extLst>
          </p:cNvPr>
          <p:cNvSpPr txBox="1"/>
          <p:nvPr/>
        </p:nvSpPr>
        <p:spPr>
          <a:xfrm>
            <a:off x="1097280" y="2999232"/>
            <a:ext cx="3931920" cy="274320"/>
          </a:xfrm>
          <a:prstGeom prst="rect">
            <a:avLst/>
          </a:prstGeom>
          <a:noFill/>
          <a:ln/>
        </p:spPr>
        <p:txBody>
          <a:bodyPr wrap="square" lIns="0" tIns="0" rIns="0" bIns="0" rtlCol="0" anchor="t"/>
          <a:lstStyle/>
          <a:p>
            <a:pPr marL="0" indent="0" algn="l">
              <a:lnSpc>
                <a:spcPct val="110000"/>
              </a:lnSpc>
              <a:buNone/>
            </a:pPr>
            <a:r>
              <a:rPr lang="en-US" sz="1350" b="1" dirty="0">
                <a:solidFill>
                  <a:srgbClr val="B0661F"/>
                </a:solidFill>
                <a:latin typeface="Calibri" pitchFamily="34" charset="0"/>
                <a:ea typeface="Calibri" pitchFamily="34" charset="-122"/>
                <a:cs typeface="Calibri" pitchFamily="34" charset="-120"/>
              </a:rPr>
              <a:t>Stream A · PolarQuant scoring</a:t>
            </a:r>
            <a:endParaRPr lang="en-US" sz="1350" dirty="0"/>
          </a:p>
        </p:txBody>
      </p:sp>
      <p:sp>
        <p:nvSpPr>
          <p:cNvPr id="18" name="Text 16">
            <a:extLst>
              <a:ext uri="{FF2B5EF4-FFF2-40B4-BE49-F238E27FC236}">
                <a16:creationId xmlns:a16="http://schemas.microsoft.com/office/drawing/2014/main" id="{F1E28E58-5C15-CA51-3823-973D5A1E5DA5}"/>
              </a:ext>
            </a:extLst>
          </p:cNvPr>
          <p:cNvSpPr txBox="1"/>
          <p:nvPr/>
        </p:nvSpPr>
        <p:spPr>
          <a:xfrm>
            <a:off x="1097280" y="3383280"/>
            <a:ext cx="1645920" cy="274320"/>
          </a:xfrm>
          <a:prstGeom prst="rect">
            <a:avLst/>
          </a:prstGeom>
          <a:noFill/>
          <a:ln/>
        </p:spPr>
        <p:txBody>
          <a:bodyPr wrap="square" lIns="0" tIns="0" rIns="0" bIns="0" rtlCol="0" anchor="t"/>
          <a:lstStyle/>
          <a:p>
            <a:pPr marL="0" indent="0" algn="l">
              <a:lnSpc>
                <a:spcPct val="110000"/>
              </a:lnSpc>
              <a:buNone/>
            </a:pPr>
            <a:r>
              <a:rPr lang="en-US" sz="1200" b="1" dirty="0">
                <a:solidFill>
                  <a:srgbClr val="14213D"/>
                </a:solidFill>
                <a:latin typeface="Courier New" pitchFamily="34" charset="0"/>
                <a:ea typeface="Courier New" pitchFamily="34" charset="-122"/>
                <a:cs typeface="Courier New" pitchFamily="34" charset="-120"/>
              </a:rPr>
              <a:t>TQ_ACC_CLR</a:t>
            </a:r>
            <a:endParaRPr lang="en-US" sz="1200" dirty="0"/>
          </a:p>
        </p:txBody>
      </p:sp>
      <p:sp>
        <p:nvSpPr>
          <p:cNvPr id="19" name="Text 17">
            <a:extLst>
              <a:ext uri="{FF2B5EF4-FFF2-40B4-BE49-F238E27FC236}">
                <a16:creationId xmlns:a16="http://schemas.microsoft.com/office/drawing/2014/main" id="{D50B3B7A-F703-1242-2E5F-A28683E5A84F}"/>
              </a:ext>
            </a:extLst>
          </p:cNvPr>
          <p:cNvSpPr txBox="1"/>
          <p:nvPr/>
        </p:nvSpPr>
        <p:spPr>
          <a:xfrm>
            <a:off x="2788920" y="3383280"/>
            <a:ext cx="2286000" cy="274320"/>
          </a:xfrm>
          <a:prstGeom prst="rect">
            <a:avLst/>
          </a:prstGeom>
          <a:noFill/>
          <a:ln/>
        </p:spPr>
        <p:txBody>
          <a:bodyPr wrap="square" lIns="0" tIns="0" rIns="0" bIns="0" rtlCol="0" anchor="t"/>
          <a:lstStyle/>
          <a:p>
            <a:pPr marL="0" indent="0" algn="l">
              <a:lnSpc>
                <a:spcPct val="110000"/>
              </a:lnSpc>
              <a:buNone/>
            </a:pPr>
            <a:r>
              <a:rPr lang="en-US" sz="1250" dirty="0">
                <a:solidFill>
                  <a:srgbClr val="4A5670"/>
                </a:solidFill>
                <a:latin typeface="Calibri" pitchFamily="34" charset="0"/>
                <a:ea typeface="Calibri" pitchFamily="34" charset="-122"/>
                <a:cs typeface="Calibri" pitchFamily="34" charset="-120"/>
              </a:rPr>
              <a:t>clear 40-bit accumulator</a:t>
            </a:r>
            <a:endParaRPr lang="en-US" sz="1250" dirty="0"/>
          </a:p>
        </p:txBody>
      </p:sp>
      <p:sp>
        <p:nvSpPr>
          <p:cNvPr id="20" name="Text 18">
            <a:extLst>
              <a:ext uri="{FF2B5EF4-FFF2-40B4-BE49-F238E27FC236}">
                <a16:creationId xmlns:a16="http://schemas.microsoft.com/office/drawing/2014/main" id="{15D2CC4F-0DE5-24C7-302E-4D6532B5B876}"/>
              </a:ext>
            </a:extLst>
          </p:cNvPr>
          <p:cNvSpPr txBox="1"/>
          <p:nvPr/>
        </p:nvSpPr>
        <p:spPr>
          <a:xfrm>
            <a:off x="1097280" y="3712464"/>
            <a:ext cx="1645920" cy="274320"/>
          </a:xfrm>
          <a:prstGeom prst="rect">
            <a:avLst/>
          </a:prstGeom>
          <a:noFill/>
          <a:ln/>
        </p:spPr>
        <p:txBody>
          <a:bodyPr wrap="square" lIns="0" tIns="0" rIns="0" bIns="0" rtlCol="0" anchor="t"/>
          <a:lstStyle/>
          <a:p>
            <a:pPr marL="0" indent="0" algn="l">
              <a:lnSpc>
                <a:spcPct val="110000"/>
              </a:lnSpc>
              <a:buNone/>
            </a:pPr>
            <a:r>
              <a:rPr lang="en-US" sz="1200" b="1" dirty="0">
                <a:solidFill>
                  <a:srgbClr val="14213D"/>
                </a:solidFill>
                <a:latin typeface="Courier New" pitchFamily="34" charset="0"/>
                <a:ea typeface="Courier New" pitchFamily="34" charset="-122"/>
                <a:cs typeface="Courier New" pitchFamily="34" charset="-120"/>
              </a:rPr>
              <a:t>TQ_IDX_LOAD</a:t>
            </a:r>
            <a:endParaRPr lang="en-US" sz="1200" dirty="0"/>
          </a:p>
        </p:txBody>
      </p:sp>
      <p:sp>
        <p:nvSpPr>
          <p:cNvPr id="21" name="Text 19">
            <a:extLst>
              <a:ext uri="{FF2B5EF4-FFF2-40B4-BE49-F238E27FC236}">
                <a16:creationId xmlns:a16="http://schemas.microsoft.com/office/drawing/2014/main" id="{7817739B-EDC4-D4BC-29B9-F1A1912E478B}"/>
              </a:ext>
            </a:extLst>
          </p:cNvPr>
          <p:cNvSpPr txBox="1"/>
          <p:nvPr/>
        </p:nvSpPr>
        <p:spPr>
          <a:xfrm>
            <a:off x="2788920" y="3712464"/>
            <a:ext cx="2286000" cy="274320"/>
          </a:xfrm>
          <a:prstGeom prst="rect">
            <a:avLst/>
          </a:prstGeom>
          <a:noFill/>
          <a:ln/>
        </p:spPr>
        <p:txBody>
          <a:bodyPr wrap="square" lIns="0" tIns="0" rIns="0" bIns="0" rtlCol="0" anchor="t"/>
          <a:lstStyle/>
          <a:p>
            <a:pPr marL="0" indent="0" algn="l">
              <a:lnSpc>
                <a:spcPct val="110000"/>
              </a:lnSpc>
              <a:buNone/>
            </a:pPr>
            <a:r>
              <a:rPr lang="en-US" sz="1250" dirty="0">
                <a:solidFill>
                  <a:srgbClr val="4A5670"/>
                </a:solidFill>
                <a:latin typeface="Calibri" pitchFamily="34" charset="0"/>
                <a:ea typeface="Calibri" pitchFamily="34" charset="-122"/>
                <a:cs typeface="Calibri" pitchFamily="34" charset="-120"/>
              </a:rPr>
              <a:t>stream 3-bit indices</a:t>
            </a:r>
            <a:endParaRPr lang="en-US" sz="1250" dirty="0"/>
          </a:p>
        </p:txBody>
      </p:sp>
      <p:sp>
        <p:nvSpPr>
          <p:cNvPr id="22" name="Text 20">
            <a:extLst>
              <a:ext uri="{FF2B5EF4-FFF2-40B4-BE49-F238E27FC236}">
                <a16:creationId xmlns:a16="http://schemas.microsoft.com/office/drawing/2014/main" id="{B9FF3612-2F44-D090-9F49-D520DB15E942}"/>
              </a:ext>
            </a:extLst>
          </p:cNvPr>
          <p:cNvSpPr txBox="1"/>
          <p:nvPr/>
        </p:nvSpPr>
        <p:spPr>
          <a:xfrm>
            <a:off x="1097280" y="4041648"/>
            <a:ext cx="1645920" cy="274320"/>
          </a:xfrm>
          <a:prstGeom prst="rect">
            <a:avLst/>
          </a:prstGeom>
          <a:noFill/>
          <a:ln/>
        </p:spPr>
        <p:txBody>
          <a:bodyPr wrap="square" lIns="0" tIns="0" rIns="0" bIns="0" rtlCol="0" anchor="t"/>
          <a:lstStyle/>
          <a:p>
            <a:pPr marL="0" indent="0" algn="l">
              <a:lnSpc>
                <a:spcPct val="110000"/>
              </a:lnSpc>
              <a:buNone/>
            </a:pPr>
            <a:r>
              <a:rPr lang="en-US" sz="1200" b="1" dirty="0">
                <a:solidFill>
                  <a:srgbClr val="14213D"/>
                </a:solidFill>
                <a:latin typeface="Courier New" pitchFamily="34" charset="0"/>
                <a:ea typeface="Courier New" pitchFamily="34" charset="-122"/>
                <a:cs typeface="Courier New" pitchFamily="34" charset="-120"/>
              </a:rPr>
              <a:t>TQ_DECMAC2</a:t>
            </a:r>
            <a:endParaRPr lang="en-US" sz="1200" dirty="0"/>
          </a:p>
        </p:txBody>
      </p:sp>
      <p:sp>
        <p:nvSpPr>
          <p:cNvPr id="23" name="Text 21">
            <a:extLst>
              <a:ext uri="{FF2B5EF4-FFF2-40B4-BE49-F238E27FC236}">
                <a16:creationId xmlns:a16="http://schemas.microsoft.com/office/drawing/2014/main" id="{6C0E61B0-CE63-AB0F-1A18-87D3F7FDF54A}"/>
              </a:ext>
            </a:extLst>
          </p:cNvPr>
          <p:cNvSpPr txBox="1"/>
          <p:nvPr/>
        </p:nvSpPr>
        <p:spPr>
          <a:xfrm>
            <a:off x="2788920" y="4041648"/>
            <a:ext cx="2286000" cy="274320"/>
          </a:xfrm>
          <a:prstGeom prst="rect">
            <a:avLst/>
          </a:prstGeom>
          <a:noFill/>
          <a:ln/>
        </p:spPr>
        <p:txBody>
          <a:bodyPr wrap="square" lIns="0" tIns="0" rIns="0" bIns="0" rtlCol="0" anchor="t"/>
          <a:lstStyle/>
          <a:p>
            <a:pPr marL="0" indent="0" algn="l">
              <a:lnSpc>
                <a:spcPct val="110000"/>
              </a:lnSpc>
              <a:buNone/>
            </a:pPr>
            <a:r>
              <a:rPr lang="en-US" sz="1250" dirty="0">
                <a:solidFill>
                  <a:srgbClr val="4A5670"/>
                </a:solidFill>
                <a:latin typeface="Calibri" pitchFamily="34" charset="0"/>
                <a:ea typeface="Calibri" pitchFamily="34" charset="-122"/>
                <a:cs typeface="Calibri" pitchFamily="34" charset="-120"/>
              </a:rPr>
              <a:t>dual ROM decode + MAC</a:t>
            </a:r>
            <a:endParaRPr lang="en-US" sz="1250" dirty="0"/>
          </a:p>
        </p:txBody>
      </p:sp>
      <p:sp>
        <p:nvSpPr>
          <p:cNvPr id="24" name="Text 22">
            <a:extLst>
              <a:ext uri="{FF2B5EF4-FFF2-40B4-BE49-F238E27FC236}">
                <a16:creationId xmlns:a16="http://schemas.microsoft.com/office/drawing/2014/main" id="{41E4F6FE-72AF-3BE8-F388-A6CECDE6447A}"/>
              </a:ext>
            </a:extLst>
          </p:cNvPr>
          <p:cNvSpPr txBox="1"/>
          <p:nvPr/>
        </p:nvSpPr>
        <p:spPr>
          <a:xfrm>
            <a:off x="1097280" y="4370832"/>
            <a:ext cx="1645920" cy="274320"/>
          </a:xfrm>
          <a:prstGeom prst="rect">
            <a:avLst/>
          </a:prstGeom>
          <a:noFill/>
          <a:ln/>
        </p:spPr>
        <p:txBody>
          <a:bodyPr wrap="square" lIns="0" tIns="0" rIns="0" bIns="0" rtlCol="0" anchor="t"/>
          <a:lstStyle/>
          <a:p>
            <a:pPr marL="0" indent="0" algn="l">
              <a:lnSpc>
                <a:spcPct val="110000"/>
              </a:lnSpc>
              <a:buNone/>
            </a:pPr>
            <a:r>
              <a:rPr lang="en-US" sz="1200" b="1" dirty="0">
                <a:solidFill>
                  <a:srgbClr val="14213D"/>
                </a:solidFill>
                <a:latin typeface="Courier New" pitchFamily="34" charset="0"/>
                <a:ea typeface="Courier New" pitchFamily="34" charset="-122"/>
                <a:cs typeface="Courier New" pitchFamily="34" charset="-120"/>
              </a:rPr>
              <a:t>TQ_ACC_RD</a:t>
            </a:r>
            <a:endParaRPr lang="en-US" sz="1200" dirty="0"/>
          </a:p>
        </p:txBody>
      </p:sp>
      <p:sp>
        <p:nvSpPr>
          <p:cNvPr id="25" name="Text 23">
            <a:extLst>
              <a:ext uri="{FF2B5EF4-FFF2-40B4-BE49-F238E27FC236}">
                <a16:creationId xmlns:a16="http://schemas.microsoft.com/office/drawing/2014/main" id="{2EF8BB83-AA91-305A-DFEF-9398CC8CA057}"/>
              </a:ext>
            </a:extLst>
          </p:cNvPr>
          <p:cNvSpPr txBox="1"/>
          <p:nvPr/>
        </p:nvSpPr>
        <p:spPr>
          <a:xfrm>
            <a:off x="2788920" y="4370832"/>
            <a:ext cx="2286000" cy="274320"/>
          </a:xfrm>
          <a:prstGeom prst="rect">
            <a:avLst/>
          </a:prstGeom>
          <a:noFill/>
          <a:ln/>
        </p:spPr>
        <p:txBody>
          <a:bodyPr wrap="square" lIns="0" tIns="0" rIns="0" bIns="0" rtlCol="0" anchor="t"/>
          <a:lstStyle/>
          <a:p>
            <a:pPr marL="0" indent="0" algn="l">
              <a:lnSpc>
                <a:spcPct val="110000"/>
              </a:lnSpc>
              <a:buNone/>
            </a:pPr>
            <a:r>
              <a:rPr lang="en-US" sz="1250" dirty="0">
                <a:solidFill>
                  <a:srgbClr val="4A5670"/>
                </a:solidFill>
                <a:latin typeface="Calibri" pitchFamily="34" charset="0"/>
                <a:ea typeface="Calibri" pitchFamily="34" charset="-122"/>
                <a:cs typeface="Calibri" pitchFamily="34" charset="-120"/>
              </a:rPr>
              <a:t>rescale Q15 (&gt;&gt;&gt; 15)</a:t>
            </a:r>
            <a:endParaRPr lang="en-US" sz="1250" dirty="0"/>
          </a:p>
        </p:txBody>
      </p:sp>
      <p:sp>
        <p:nvSpPr>
          <p:cNvPr id="26" name="Shape 24">
            <a:extLst>
              <a:ext uri="{FF2B5EF4-FFF2-40B4-BE49-F238E27FC236}">
                <a16:creationId xmlns:a16="http://schemas.microsoft.com/office/drawing/2014/main" id="{060BE81D-3FF2-3692-E9B2-D807EAEBFCF3}"/>
              </a:ext>
            </a:extLst>
          </p:cNvPr>
          <p:cNvSpPr/>
          <p:nvPr/>
        </p:nvSpPr>
        <p:spPr>
          <a:xfrm>
            <a:off x="7025335" y="2880360"/>
            <a:ext cx="4297680" cy="1874520"/>
          </a:xfrm>
          <a:prstGeom prst="roundRect">
            <a:avLst>
              <a:gd name="adj" fmla="val 2927"/>
            </a:avLst>
          </a:prstGeom>
          <a:solidFill>
            <a:srgbClr val="FFFFFF"/>
          </a:solidFill>
          <a:ln w="12700">
            <a:solidFill>
              <a:srgbClr val="1C7373"/>
            </a:solidFill>
            <a:prstDash val="solid"/>
          </a:ln>
        </p:spPr>
        <p:txBody>
          <a:bodyPr/>
          <a:lstStyle/>
          <a:p>
            <a:endParaRPr lang="en-IL"/>
          </a:p>
        </p:txBody>
      </p:sp>
      <p:sp>
        <p:nvSpPr>
          <p:cNvPr id="27" name="Text 25">
            <a:extLst>
              <a:ext uri="{FF2B5EF4-FFF2-40B4-BE49-F238E27FC236}">
                <a16:creationId xmlns:a16="http://schemas.microsoft.com/office/drawing/2014/main" id="{18C35FA6-C858-0D43-6CB3-E945B098D401}"/>
              </a:ext>
            </a:extLst>
          </p:cNvPr>
          <p:cNvSpPr txBox="1"/>
          <p:nvPr/>
        </p:nvSpPr>
        <p:spPr>
          <a:xfrm>
            <a:off x="7253935" y="2999232"/>
            <a:ext cx="3931920" cy="274320"/>
          </a:xfrm>
          <a:prstGeom prst="rect">
            <a:avLst/>
          </a:prstGeom>
          <a:noFill/>
          <a:ln/>
        </p:spPr>
        <p:txBody>
          <a:bodyPr wrap="square" lIns="0" tIns="0" rIns="0" bIns="0" rtlCol="0" anchor="t"/>
          <a:lstStyle/>
          <a:p>
            <a:pPr marL="0" indent="0" algn="l">
              <a:lnSpc>
                <a:spcPct val="110000"/>
              </a:lnSpc>
              <a:buNone/>
            </a:pPr>
            <a:r>
              <a:rPr lang="en-US" sz="1350" b="1" dirty="0">
                <a:solidFill>
                  <a:srgbClr val="1C7373"/>
                </a:solidFill>
                <a:latin typeface="Calibri" pitchFamily="34" charset="0"/>
                <a:ea typeface="Calibri" pitchFamily="34" charset="-122"/>
                <a:cs typeface="Calibri" pitchFamily="34" charset="-120"/>
              </a:rPr>
              <a:t>Stream B · QJL residual scoring</a:t>
            </a:r>
            <a:endParaRPr lang="en-US" sz="1350" dirty="0"/>
          </a:p>
        </p:txBody>
      </p:sp>
      <p:sp>
        <p:nvSpPr>
          <p:cNvPr id="28" name="Text 26">
            <a:extLst>
              <a:ext uri="{FF2B5EF4-FFF2-40B4-BE49-F238E27FC236}">
                <a16:creationId xmlns:a16="http://schemas.microsoft.com/office/drawing/2014/main" id="{EC3E8751-E625-46F7-84DE-703C64E6ED3B}"/>
              </a:ext>
            </a:extLst>
          </p:cNvPr>
          <p:cNvSpPr txBox="1"/>
          <p:nvPr/>
        </p:nvSpPr>
        <p:spPr>
          <a:xfrm>
            <a:off x="7253935" y="3383280"/>
            <a:ext cx="1645920" cy="274320"/>
          </a:xfrm>
          <a:prstGeom prst="rect">
            <a:avLst/>
          </a:prstGeom>
          <a:noFill/>
          <a:ln/>
        </p:spPr>
        <p:txBody>
          <a:bodyPr wrap="square" lIns="0" tIns="0" rIns="0" bIns="0" rtlCol="0" anchor="t"/>
          <a:lstStyle/>
          <a:p>
            <a:pPr marL="0" indent="0" algn="l">
              <a:lnSpc>
                <a:spcPct val="110000"/>
              </a:lnSpc>
              <a:buNone/>
            </a:pPr>
            <a:r>
              <a:rPr lang="en-US" sz="1200" b="1" dirty="0">
                <a:solidFill>
                  <a:srgbClr val="14213D"/>
                </a:solidFill>
                <a:latin typeface="Courier New" pitchFamily="34" charset="0"/>
                <a:ea typeface="Courier New" pitchFamily="34" charset="-122"/>
                <a:cs typeface="Courier New" pitchFamily="34" charset="-120"/>
              </a:rPr>
              <a:t>TQ_SACC_CLR</a:t>
            </a:r>
            <a:endParaRPr lang="en-US" sz="1200" dirty="0"/>
          </a:p>
        </p:txBody>
      </p:sp>
      <p:sp>
        <p:nvSpPr>
          <p:cNvPr id="29" name="Text 27">
            <a:extLst>
              <a:ext uri="{FF2B5EF4-FFF2-40B4-BE49-F238E27FC236}">
                <a16:creationId xmlns:a16="http://schemas.microsoft.com/office/drawing/2014/main" id="{F44055AE-207F-E99C-BF54-7B899F9345ED}"/>
              </a:ext>
            </a:extLst>
          </p:cNvPr>
          <p:cNvSpPr txBox="1"/>
          <p:nvPr/>
        </p:nvSpPr>
        <p:spPr>
          <a:xfrm>
            <a:off x="8945575" y="3383280"/>
            <a:ext cx="2286000" cy="274320"/>
          </a:xfrm>
          <a:prstGeom prst="rect">
            <a:avLst/>
          </a:prstGeom>
          <a:noFill/>
          <a:ln/>
        </p:spPr>
        <p:txBody>
          <a:bodyPr wrap="square" lIns="0" tIns="0" rIns="0" bIns="0" rtlCol="0" anchor="t"/>
          <a:lstStyle/>
          <a:p>
            <a:pPr marL="0" indent="0" algn="l">
              <a:lnSpc>
                <a:spcPct val="110000"/>
              </a:lnSpc>
              <a:buNone/>
            </a:pPr>
            <a:r>
              <a:rPr lang="en-US" sz="1250" dirty="0">
                <a:solidFill>
                  <a:srgbClr val="4A5670"/>
                </a:solidFill>
                <a:latin typeface="Calibri" pitchFamily="34" charset="0"/>
                <a:ea typeface="Calibri" pitchFamily="34" charset="-122"/>
                <a:cs typeface="Calibri" pitchFamily="34" charset="-120"/>
              </a:rPr>
              <a:t>clear 32-bit accumulator</a:t>
            </a:r>
            <a:endParaRPr lang="en-US" sz="1250" dirty="0"/>
          </a:p>
        </p:txBody>
      </p:sp>
      <p:sp>
        <p:nvSpPr>
          <p:cNvPr id="30" name="Text 28">
            <a:extLst>
              <a:ext uri="{FF2B5EF4-FFF2-40B4-BE49-F238E27FC236}">
                <a16:creationId xmlns:a16="http://schemas.microsoft.com/office/drawing/2014/main" id="{0C706E0F-87EA-2817-77A1-48816C97BA04}"/>
              </a:ext>
            </a:extLst>
          </p:cNvPr>
          <p:cNvSpPr txBox="1"/>
          <p:nvPr/>
        </p:nvSpPr>
        <p:spPr>
          <a:xfrm>
            <a:off x="7253935" y="3712464"/>
            <a:ext cx="1645920" cy="274320"/>
          </a:xfrm>
          <a:prstGeom prst="rect">
            <a:avLst/>
          </a:prstGeom>
          <a:noFill/>
          <a:ln/>
        </p:spPr>
        <p:txBody>
          <a:bodyPr wrap="square" lIns="0" tIns="0" rIns="0" bIns="0" rtlCol="0" anchor="t"/>
          <a:lstStyle/>
          <a:p>
            <a:pPr marL="0" indent="0" algn="l">
              <a:lnSpc>
                <a:spcPct val="110000"/>
              </a:lnSpc>
              <a:buNone/>
            </a:pPr>
            <a:r>
              <a:rPr lang="en-US" sz="1200" b="1" dirty="0">
                <a:solidFill>
                  <a:srgbClr val="14213D"/>
                </a:solidFill>
                <a:latin typeface="Courier New" pitchFamily="34" charset="0"/>
                <a:ea typeface="Courier New" pitchFamily="34" charset="-122"/>
                <a:cs typeface="Courier New" pitchFamily="34" charset="-120"/>
              </a:rPr>
              <a:t>TQ_SGN_LOAD</a:t>
            </a:r>
            <a:endParaRPr lang="en-US" sz="1200" dirty="0"/>
          </a:p>
        </p:txBody>
      </p:sp>
      <p:sp>
        <p:nvSpPr>
          <p:cNvPr id="31" name="Text 29">
            <a:extLst>
              <a:ext uri="{FF2B5EF4-FFF2-40B4-BE49-F238E27FC236}">
                <a16:creationId xmlns:a16="http://schemas.microsoft.com/office/drawing/2014/main" id="{72F5307F-ABD0-952F-EBDB-68D8744BD1C6}"/>
              </a:ext>
            </a:extLst>
          </p:cNvPr>
          <p:cNvSpPr txBox="1"/>
          <p:nvPr/>
        </p:nvSpPr>
        <p:spPr>
          <a:xfrm>
            <a:off x="8945575" y="3712464"/>
            <a:ext cx="2286000" cy="274320"/>
          </a:xfrm>
          <a:prstGeom prst="rect">
            <a:avLst/>
          </a:prstGeom>
          <a:noFill/>
          <a:ln/>
        </p:spPr>
        <p:txBody>
          <a:bodyPr wrap="square" lIns="0" tIns="0" rIns="0" bIns="0" rtlCol="0" anchor="t"/>
          <a:lstStyle/>
          <a:p>
            <a:pPr marL="0" indent="0" algn="l">
              <a:lnSpc>
                <a:spcPct val="110000"/>
              </a:lnSpc>
              <a:buNone/>
            </a:pPr>
            <a:r>
              <a:rPr lang="en-US" sz="1250" dirty="0">
                <a:solidFill>
                  <a:srgbClr val="4A5670"/>
                </a:solidFill>
                <a:latin typeface="Calibri" pitchFamily="34" charset="0"/>
                <a:ea typeface="Calibri" pitchFamily="34" charset="-122"/>
                <a:cs typeface="Calibri" pitchFamily="34" charset="-120"/>
              </a:rPr>
              <a:t>latch 32 sign bits</a:t>
            </a:r>
            <a:endParaRPr lang="en-US" sz="1250" dirty="0"/>
          </a:p>
        </p:txBody>
      </p:sp>
      <p:sp>
        <p:nvSpPr>
          <p:cNvPr id="32" name="Text 30">
            <a:extLst>
              <a:ext uri="{FF2B5EF4-FFF2-40B4-BE49-F238E27FC236}">
                <a16:creationId xmlns:a16="http://schemas.microsoft.com/office/drawing/2014/main" id="{9E55F4AC-1EE5-E134-015A-0C11ED5AF33C}"/>
              </a:ext>
            </a:extLst>
          </p:cNvPr>
          <p:cNvSpPr txBox="1"/>
          <p:nvPr/>
        </p:nvSpPr>
        <p:spPr>
          <a:xfrm>
            <a:off x="7253935" y="4041648"/>
            <a:ext cx="1645920" cy="274320"/>
          </a:xfrm>
          <a:prstGeom prst="rect">
            <a:avLst/>
          </a:prstGeom>
          <a:noFill/>
          <a:ln/>
        </p:spPr>
        <p:txBody>
          <a:bodyPr wrap="square" lIns="0" tIns="0" rIns="0" bIns="0" rtlCol="0" anchor="t"/>
          <a:lstStyle/>
          <a:p>
            <a:pPr marL="0" indent="0" algn="l">
              <a:lnSpc>
                <a:spcPct val="110000"/>
              </a:lnSpc>
              <a:buNone/>
            </a:pPr>
            <a:r>
              <a:rPr lang="en-US" sz="1200" b="1" dirty="0">
                <a:solidFill>
                  <a:srgbClr val="14213D"/>
                </a:solidFill>
                <a:latin typeface="Courier New" pitchFamily="34" charset="0"/>
                <a:ea typeface="Courier New" pitchFamily="34" charset="-122"/>
                <a:cs typeface="Courier New" pitchFamily="34" charset="-120"/>
              </a:rPr>
              <a:t>TQ_SGNACC2</a:t>
            </a:r>
            <a:endParaRPr lang="en-US" sz="1200" dirty="0"/>
          </a:p>
        </p:txBody>
      </p:sp>
      <p:sp>
        <p:nvSpPr>
          <p:cNvPr id="33" name="Text 31">
            <a:extLst>
              <a:ext uri="{FF2B5EF4-FFF2-40B4-BE49-F238E27FC236}">
                <a16:creationId xmlns:a16="http://schemas.microsoft.com/office/drawing/2014/main" id="{27C247D6-5AEB-3880-CE14-8CED719DB8D8}"/>
              </a:ext>
            </a:extLst>
          </p:cNvPr>
          <p:cNvSpPr txBox="1"/>
          <p:nvPr/>
        </p:nvSpPr>
        <p:spPr>
          <a:xfrm>
            <a:off x="8945575" y="4041648"/>
            <a:ext cx="2286000" cy="274320"/>
          </a:xfrm>
          <a:prstGeom prst="rect">
            <a:avLst/>
          </a:prstGeom>
          <a:noFill/>
          <a:ln/>
        </p:spPr>
        <p:txBody>
          <a:bodyPr wrap="square" lIns="0" tIns="0" rIns="0" bIns="0" rtlCol="0" anchor="t"/>
          <a:lstStyle/>
          <a:p>
            <a:pPr marL="0" indent="0" algn="l">
              <a:lnSpc>
                <a:spcPct val="110000"/>
              </a:lnSpc>
              <a:buNone/>
            </a:pPr>
            <a:r>
              <a:rPr lang="en-US" sz="1250" dirty="0">
                <a:solidFill>
                  <a:srgbClr val="4A5670"/>
                </a:solidFill>
                <a:latin typeface="Calibri" pitchFamily="34" charset="0"/>
                <a:ea typeface="Calibri" pitchFamily="34" charset="-122"/>
                <a:cs typeface="Calibri" pitchFamily="34" charset="-120"/>
              </a:rPr>
              <a:t>branchless ± add</a:t>
            </a:r>
            <a:endParaRPr lang="en-US" sz="1250" dirty="0"/>
          </a:p>
        </p:txBody>
      </p:sp>
      <p:sp>
        <p:nvSpPr>
          <p:cNvPr id="34" name="Text 32">
            <a:extLst>
              <a:ext uri="{FF2B5EF4-FFF2-40B4-BE49-F238E27FC236}">
                <a16:creationId xmlns:a16="http://schemas.microsoft.com/office/drawing/2014/main" id="{CFE54539-5682-66E0-5D6C-629F51B1206A}"/>
              </a:ext>
            </a:extLst>
          </p:cNvPr>
          <p:cNvSpPr txBox="1"/>
          <p:nvPr/>
        </p:nvSpPr>
        <p:spPr>
          <a:xfrm>
            <a:off x="7253935" y="4370832"/>
            <a:ext cx="1645920" cy="274320"/>
          </a:xfrm>
          <a:prstGeom prst="rect">
            <a:avLst/>
          </a:prstGeom>
          <a:noFill/>
          <a:ln/>
        </p:spPr>
        <p:txBody>
          <a:bodyPr wrap="square" lIns="0" tIns="0" rIns="0" bIns="0" rtlCol="0" anchor="t"/>
          <a:lstStyle/>
          <a:p>
            <a:pPr marL="0" indent="0" algn="l">
              <a:lnSpc>
                <a:spcPct val="110000"/>
              </a:lnSpc>
              <a:buNone/>
            </a:pPr>
            <a:r>
              <a:rPr lang="en-US" sz="1200" b="1" dirty="0">
                <a:solidFill>
                  <a:srgbClr val="14213D"/>
                </a:solidFill>
                <a:latin typeface="Courier New" pitchFamily="34" charset="0"/>
                <a:ea typeface="Courier New" pitchFamily="34" charset="-122"/>
                <a:cs typeface="Courier New" pitchFamily="34" charset="-120"/>
              </a:rPr>
              <a:t>TQ_SACC_RD</a:t>
            </a:r>
            <a:endParaRPr lang="en-US" sz="1200" dirty="0"/>
          </a:p>
        </p:txBody>
      </p:sp>
      <p:sp>
        <p:nvSpPr>
          <p:cNvPr id="35" name="Text 33">
            <a:extLst>
              <a:ext uri="{FF2B5EF4-FFF2-40B4-BE49-F238E27FC236}">
                <a16:creationId xmlns:a16="http://schemas.microsoft.com/office/drawing/2014/main" id="{57815904-76A1-4CC6-BE4F-081D58436A5A}"/>
              </a:ext>
            </a:extLst>
          </p:cNvPr>
          <p:cNvSpPr txBox="1"/>
          <p:nvPr/>
        </p:nvSpPr>
        <p:spPr>
          <a:xfrm>
            <a:off x="8945575" y="4370832"/>
            <a:ext cx="2286000" cy="274320"/>
          </a:xfrm>
          <a:prstGeom prst="rect">
            <a:avLst/>
          </a:prstGeom>
          <a:noFill/>
          <a:ln/>
        </p:spPr>
        <p:txBody>
          <a:bodyPr wrap="square" lIns="0" tIns="0" rIns="0" bIns="0" rtlCol="0" anchor="t"/>
          <a:lstStyle/>
          <a:p>
            <a:pPr marL="0" indent="0" algn="l">
              <a:lnSpc>
                <a:spcPct val="110000"/>
              </a:lnSpc>
              <a:buNone/>
            </a:pPr>
            <a:r>
              <a:rPr lang="en-US" sz="1250" dirty="0">
                <a:solidFill>
                  <a:srgbClr val="4A5670"/>
                </a:solidFill>
                <a:latin typeface="Calibri" pitchFamily="34" charset="0"/>
                <a:ea typeface="Calibri" pitchFamily="34" charset="-122"/>
                <a:cs typeface="Calibri" pitchFamily="34" charset="-120"/>
              </a:rPr>
              <a:t>read residual dot</a:t>
            </a:r>
            <a:endParaRPr lang="en-US" sz="1250" dirty="0"/>
          </a:p>
        </p:txBody>
      </p:sp>
      <p:sp>
        <p:nvSpPr>
          <p:cNvPr id="36" name="Shape 34">
            <a:extLst>
              <a:ext uri="{FF2B5EF4-FFF2-40B4-BE49-F238E27FC236}">
                <a16:creationId xmlns:a16="http://schemas.microsoft.com/office/drawing/2014/main" id="{3F7575A2-26C2-1424-4368-E80C60348AB1}"/>
              </a:ext>
            </a:extLst>
          </p:cNvPr>
          <p:cNvSpPr/>
          <p:nvPr/>
        </p:nvSpPr>
        <p:spPr>
          <a:xfrm>
            <a:off x="3017520" y="4754880"/>
            <a:ext cx="914" cy="274320"/>
          </a:xfrm>
          <a:prstGeom prst="line">
            <a:avLst/>
          </a:prstGeom>
          <a:noFill/>
          <a:ln w="22225">
            <a:solidFill>
              <a:srgbClr val="B0661F"/>
            </a:solidFill>
            <a:prstDash val="solid"/>
          </a:ln>
        </p:spPr>
        <p:txBody>
          <a:bodyPr/>
          <a:lstStyle/>
          <a:p>
            <a:endParaRPr lang="en-IL"/>
          </a:p>
        </p:txBody>
      </p:sp>
      <p:sp>
        <p:nvSpPr>
          <p:cNvPr id="37" name="Shape 35">
            <a:extLst>
              <a:ext uri="{FF2B5EF4-FFF2-40B4-BE49-F238E27FC236}">
                <a16:creationId xmlns:a16="http://schemas.microsoft.com/office/drawing/2014/main" id="{343BDD8F-98E7-3514-5D0E-DCCBB320E5AB}"/>
              </a:ext>
            </a:extLst>
          </p:cNvPr>
          <p:cNvSpPr/>
          <p:nvPr/>
        </p:nvSpPr>
        <p:spPr>
          <a:xfrm>
            <a:off x="3017520" y="5029200"/>
            <a:ext cx="2712568" cy="914"/>
          </a:xfrm>
          <a:prstGeom prst="line">
            <a:avLst/>
          </a:prstGeom>
          <a:noFill/>
          <a:ln w="22225">
            <a:solidFill>
              <a:srgbClr val="B0661F"/>
            </a:solidFill>
            <a:prstDash val="solid"/>
          </a:ln>
        </p:spPr>
        <p:txBody>
          <a:bodyPr/>
          <a:lstStyle/>
          <a:p>
            <a:endParaRPr lang="en-IL"/>
          </a:p>
        </p:txBody>
      </p:sp>
      <p:sp>
        <p:nvSpPr>
          <p:cNvPr id="38" name="Shape 36">
            <a:extLst>
              <a:ext uri="{FF2B5EF4-FFF2-40B4-BE49-F238E27FC236}">
                <a16:creationId xmlns:a16="http://schemas.microsoft.com/office/drawing/2014/main" id="{1FFECD09-1FD4-B687-F2C5-ED9C7FBC7FA9}"/>
              </a:ext>
            </a:extLst>
          </p:cNvPr>
          <p:cNvSpPr/>
          <p:nvPr/>
        </p:nvSpPr>
        <p:spPr>
          <a:xfrm>
            <a:off x="5730088" y="5029200"/>
            <a:ext cx="914" cy="201168"/>
          </a:xfrm>
          <a:prstGeom prst="line">
            <a:avLst/>
          </a:prstGeom>
          <a:noFill/>
          <a:ln w="22225">
            <a:solidFill>
              <a:srgbClr val="B0661F"/>
            </a:solidFill>
            <a:prstDash val="solid"/>
            <a:tailEnd type="triangle"/>
          </a:ln>
        </p:spPr>
        <p:txBody>
          <a:bodyPr/>
          <a:lstStyle/>
          <a:p>
            <a:endParaRPr lang="en-IL"/>
          </a:p>
        </p:txBody>
      </p:sp>
      <p:sp>
        <p:nvSpPr>
          <p:cNvPr id="39" name="Shape 37">
            <a:extLst>
              <a:ext uri="{FF2B5EF4-FFF2-40B4-BE49-F238E27FC236}">
                <a16:creationId xmlns:a16="http://schemas.microsoft.com/office/drawing/2014/main" id="{EF6AA375-2626-85F0-3925-C31D5757EF4B}"/>
              </a:ext>
            </a:extLst>
          </p:cNvPr>
          <p:cNvSpPr/>
          <p:nvPr/>
        </p:nvSpPr>
        <p:spPr>
          <a:xfrm>
            <a:off x="9174175" y="4754880"/>
            <a:ext cx="914" cy="274320"/>
          </a:xfrm>
          <a:prstGeom prst="line">
            <a:avLst/>
          </a:prstGeom>
          <a:noFill/>
          <a:ln w="22225">
            <a:solidFill>
              <a:srgbClr val="1C7373"/>
            </a:solidFill>
            <a:prstDash val="solid"/>
          </a:ln>
        </p:spPr>
        <p:txBody>
          <a:bodyPr/>
          <a:lstStyle/>
          <a:p>
            <a:endParaRPr lang="en-IL"/>
          </a:p>
        </p:txBody>
      </p:sp>
      <p:sp>
        <p:nvSpPr>
          <p:cNvPr id="40" name="Shape 38">
            <a:extLst>
              <a:ext uri="{FF2B5EF4-FFF2-40B4-BE49-F238E27FC236}">
                <a16:creationId xmlns:a16="http://schemas.microsoft.com/office/drawing/2014/main" id="{7EAA507A-DEA7-0E1C-3D8E-B317F17C45A0}"/>
              </a:ext>
            </a:extLst>
          </p:cNvPr>
          <p:cNvSpPr/>
          <p:nvPr/>
        </p:nvSpPr>
        <p:spPr>
          <a:xfrm flipH="1">
            <a:off x="6461608" y="5029200"/>
            <a:ext cx="2712568" cy="914"/>
          </a:xfrm>
          <a:prstGeom prst="line">
            <a:avLst/>
          </a:prstGeom>
          <a:noFill/>
          <a:ln w="22225">
            <a:solidFill>
              <a:srgbClr val="1C7373"/>
            </a:solidFill>
            <a:prstDash val="solid"/>
          </a:ln>
        </p:spPr>
        <p:txBody>
          <a:bodyPr/>
          <a:lstStyle/>
          <a:p>
            <a:endParaRPr lang="en-IL"/>
          </a:p>
        </p:txBody>
      </p:sp>
      <p:sp>
        <p:nvSpPr>
          <p:cNvPr id="41" name="Shape 39">
            <a:extLst>
              <a:ext uri="{FF2B5EF4-FFF2-40B4-BE49-F238E27FC236}">
                <a16:creationId xmlns:a16="http://schemas.microsoft.com/office/drawing/2014/main" id="{E68DBDA8-9162-7DF6-C93A-2C6200CF4588}"/>
              </a:ext>
            </a:extLst>
          </p:cNvPr>
          <p:cNvSpPr/>
          <p:nvPr/>
        </p:nvSpPr>
        <p:spPr>
          <a:xfrm>
            <a:off x="6461608" y="5029200"/>
            <a:ext cx="914" cy="201168"/>
          </a:xfrm>
          <a:prstGeom prst="line">
            <a:avLst/>
          </a:prstGeom>
          <a:noFill/>
          <a:ln w="22225">
            <a:solidFill>
              <a:srgbClr val="1C7373"/>
            </a:solidFill>
            <a:prstDash val="solid"/>
            <a:tailEnd type="triangle"/>
          </a:ln>
        </p:spPr>
        <p:txBody>
          <a:bodyPr/>
          <a:lstStyle/>
          <a:p>
            <a:endParaRPr lang="en-IL"/>
          </a:p>
        </p:txBody>
      </p:sp>
      <p:sp>
        <p:nvSpPr>
          <p:cNvPr id="42" name="Text 40">
            <a:extLst>
              <a:ext uri="{FF2B5EF4-FFF2-40B4-BE49-F238E27FC236}">
                <a16:creationId xmlns:a16="http://schemas.microsoft.com/office/drawing/2014/main" id="{5B2EA7A6-27A1-4199-E1D2-80970AA36F90}"/>
              </a:ext>
            </a:extLst>
          </p:cNvPr>
          <p:cNvSpPr txBox="1"/>
          <p:nvPr/>
        </p:nvSpPr>
        <p:spPr>
          <a:xfrm>
            <a:off x="3108960" y="4782312"/>
            <a:ext cx="1280160" cy="228600"/>
          </a:xfrm>
          <a:prstGeom prst="rect">
            <a:avLst/>
          </a:prstGeom>
          <a:noFill/>
          <a:ln/>
        </p:spPr>
        <p:txBody>
          <a:bodyPr wrap="square" lIns="0" tIns="0" rIns="0" bIns="0" rtlCol="0" anchor="t"/>
          <a:lstStyle/>
          <a:p>
            <a:pPr marL="0" indent="0" algn="l">
              <a:lnSpc>
                <a:spcPct val="110000"/>
              </a:lnSpc>
              <a:buNone/>
            </a:pPr>
            <a:r>
              <a:rPr lang="en-US" sz="1100" b="1" dirty="0">
                <a:solidFill>
                  <a:srgbClr val="B0661F"/>
                </a:solidFill>
                <a:latin typeface="Courier New" pitchFamily="34" charset="0"/>
                <a:ea typeface="Courier New" pitchFamily="34" charset="-122"/>
                <a:cs typeface="Courier New" pitchFamily="34" charset="-120"/>
              </a:rPr>
              <a:t>Score_PQ</a:t>
            </a:r>
            <a:endParaRPr lang="en-US" sz="1100" dirty="0"/>
          </a:p>
        </p:txBody>
      </p:sp>
      <p:sp>
        <p:nvSpPr>
          <p:cNvPr id="43" name="Text 41">
            <a:extLst>
              <a:ext uri="{FF2B5EF4-FFF2-40B4-BE49-F238E27FC236}">
                <a16:creationId xmlns:a16="http://schemas.microsoft.com/office/drawing/2014/main" id="{59BB88CA-9B70-037B-C70C-4FBED038B4FE}"/>
              </a:ext>
            </a:extLst>
          </p:cNvPr>
          <p:cNvSpPr txBox="1"/>
          <p:nvPr/>
        </p:nvSpPr>
        <p:spPr>
          <a:xfrm>
            <a:off x="7802575" y="4782312"/>
            <a:ext cx="1280160" cy="228600"/>
          </a:xfrm>
          <a:prstGeom prst="rect">
            <a:avLst/>
          </a:prstGeom>
          <a:noFill/>
          <a:ln/>
        </p:spPr>
        <p:txBody>
          <a:bodyPr wrap="square" lIns="0" tIns="0" rIns="0" bIns="0" rtlCol="0" anchor="t"/>
          <a:lstStyle/>
          <a:p>
            <a:pPr marL="0" indent="0" algn="r">
              <a:lnSpc>
                <a:spcPct val="110000"/>
              </a:lnSpc>
              <a:buNone/>
            </a:pPr>
            <a:r>
              <a:rPr lang="en-US" sz="1100" b="1" dirty="0">
                <a:solidFill>
                  <a:srgbClr val="1C7373"/>
                </a:solidFill>
                <a:latin typeface="Courier New" pitchFamily="34" charset="0"/>
                <a:ea typeface="Courier New" pitchFamily="34" charset="-122"/>
                <a:cs typeface="Courier New" pitchFamily="34" charset="-120"/>
              </a:rPr>
              <a:t>Score_QJL</a:t>
            </a:r>
            <a:endParaRPr lang="en-US" sz="1100" dirty="0"/>
          </a:p>
        </p:txBody>
      </p:sp>
      <p:sp>
        <p:nvSpPr>
          <p:cNvPr id="44" name="Shape 42">
            <a:extLst>
              <a:ext uri="{FF2B5EF4-FFF2-40B4-BE49-F238E27FC236}">
                <a16:creationId xmlns:a16="http://schemas.microsoft.com/office/drawing/2014/main" id="{7AB7BDE8-5982-0B6F-CDEF-F83636A2970C}"/>
              </a:ext>
            </a:extLst>
          </p:cNvPr>
          <p:cNvSpPr/>
          <p:nvPr/>
        </p:nvSpPr>
        <p:spPr>
          <a:xfrm>
            <a:off x="3352648" y="5230368"/>
            <a:ext cx="5486400" cy="502920"/>
          </a:xfrm>
          <a:prstGeom prst="roundRect">
            <a:avLst>
              <a:gd name="adj" fmla="val 10909"/>
            </a:avLst>
          </a:prstGeom>
          <a:solidFill>
            <a:srgbClr val="FFFFFF"/>
          </a:solidFill>
          <a:ln w="12700">
            <a:solidFill>
              <a:srgbClr val="14213D"/>
            </a:solidFill>
            <a:prstDash val="solid"/>
          </a:ln>
        </p:spPr>
        <p:txBody>
          <a:bodyPr/>
          <a:lstStyle/>
          <a:p>
            <a:endParaRPr lang="en-IL"/>
          </a:p>
        </p:txBody>
      </p:sp>
      <p:sp>
        <p:nvSpPr>
          <p:cNvPr id="45" name="Text 43">
            <a:extLst>
              <a:ext uri="{FF2B5EF4-FFF2-40B4-BE49-F238E27FC236}">
                <a16:creationId xmlns:a16="http://schemas.microsoft.com/office/drawing/2014/main" id="{955DD627-FBAD-45CE-745A-6C2DF2210BAB}"/>
              </a:ext>
            </a:extLst>
          </p:cNvPr>
          <p:cNvSpPr txBox="1"/>
          <p:nvPr/>
        </p:nvSpPr>
        <p:spPr>
          <a:xfrm>
            <a:off x="3352648" y="5230368"/>
            <a:ext cx="5486400" cy="502920"/>
          </a:xfrm>
          <a:prstGeom prst="rect">
            <a:avLst/>
          </a:prstGeom>
          <a:noFill/>
          <a:ln/>
        </p:spPr>
        <p:txBody>
          <a:bodyPr wrap="square" lIns="0" tIns="0" rIns="0" bIns="0" rtlCol="0" anchor="ctr"/>
          <a:lstStyle/>
          <a:p>
            <a:pPr marL="0" indent="0" algn="ctr">
              <a:lnSpc>
                <a:spcPct val="110000"/>
              </a:lnSpc>
              <a:buNone/>
            </a:pPr>
            <a:r>
              <a:rPr lang="en-US" sz="1700" i="1" dirty="0">
                <a:solidFill>
                  <a:srgbClr val="14213D"/>
                </a:solidFill>
                <a:latin typeface="Cambria Math" pitchFamily="34" charset="0"/>
                <a:ea typeface="Cambria Math" pitchFamily="34" charset="-122"/>
                <a:cs typeface="Cambria Math" pitchFamily="34" charset="-120"/>
              </a:rPr>
              <a:t>S(t) = g</a:t>
            </a:r>
            <a:r>
              <a:rPr lang="en-US" sz="1700" i="1" baseline="-40000" dirty="0">
                <a:solidFill>
                  <a:srgbClr val="14213D"/>
                </a:solidFill>
                <a:latin typeface="Cambria Math" pitchFamily="34" charset="0"/>
                <a:ea typeface="Cambria Math" pitchFamily="34" charset="-122"/>
                <a:cs typeface="Cambria Math" pitchFamily="34" charset="-120"/>
              </a:rPr>
              <a:t>k</a:t>
            </a:r>
            <a:r>
              <a:rPr lang="en-US" sz="1700" i="1" dirty="0">
                <a:solidFill>
                  <a:srgbClr val="14213D"/>
                </a:solidFill>
                <a:latin typeface="Cambria Math" pitchFamily="34" charset="0"/>
                <a:ea typeface="Cambria Math" pitchFamily="34" charset="-122"/>
                <a:cs typeface="Cambria Math" pitchFamily="34" charset="-120"/>
              </a:rPr>
              <a:t>(t) · [ Score</a:t>
            </a:r>
            <a:r>
              <a:rPr lang="en-US" sz="1700" i="1" baseline="-40000" dirty="0">
                <a:solidFill>
                  <a:srgbClr val="14213D"/>
                </a:solidFill>
                <a:latin typeface="Cambria Math" pitchFamily="34" charset="0"/>
                <a:ea typeface="Cambria Math" pitchFamily="34" charset="-122"/>
                <a:cs typeface="Cambria Math" pitchFamily="34" charset="-120"/>
              </a:rPr>
              <a:t>PQ</a:t>
            </a:r>
            <a:r>
              <a:rPr lang="en-US" sz="1700" i="1" dirty="0">
                <a:solidFill>
                  <a:srgbClr val="14213D"/>
                </a:solidFill>
                <a:latin typeface="Cambria Math" pitchFamily="34" charset="0"/>
                <a:ea typeface="Cambria Math" pitchFamily="34" charset="-122"/>
                <a:cs typeface="Cambria Math" pitchFamily="34" charset="-120"/>
              </a:rPr>
              <a:t>·γ + Score</a:t>
            </a:r>
            <a:r>
              <a:rPr lang="en-US" sz="1700" i="1" baseline="-40000" dirty="0">
                <a:solidFill>
                  <a:srgbClr val="14213D"/>
                </a:solidFill>
                <a:latin typeface="Cambria Math" pitchFamily="34" charset="0"/>
                <a:ea typeface="Cambria Math" pitchFamily="34" charset="-122"/>
                <a:cs typeface="Cambria Math" pitchFamily="34" charset="-120"/>
              </a:rPr>
              <a:t>QJL</a:t>
            </a:r>
            <a:r>
              <a:rPr lang="en-US" sz="1700" i="1" dirty="0">
                <a:solidFill>
                  <a:srgbClr val="14213D"/>
                </a:solidFill>
                <a:latin typeface="Cambria Math" pitchFamily="34" charset="0"/>
                <a:ea typeface="Cambria Math" pitchFamily="34" charset="-122"/>
                <a:cs typeface="Cambria Math" pitchFamily="34" charset="-120"/>
              </a:rPr>
              <a:t>·λ ]</a:t>
            </a:r>
            <a:endParaRPr lang="en-US" sz="1700" dirty="0"/>
          </a:p>
        </p:txBody>
      </p:sp>
      <p:sp>
        <p:nvSpPr>
          <p:cNvPr id="46" name="Shape 44">
            <a:extLst>
              <a:ext uri="{FF2B5EF4-FFF2-40B4-BE49-F238E27FC236}">
                <a16:creationId xmlns:a16="http://schemas.microsoft.com/office/drawing/2014/main" id="{AC8A4FD0-3A28-0CC9-169E-A09157785305}"/>
              </a:ext>
            </a:extLst>
          </p:cNvPr>
          <p:cNvSpPr/>
          <p:nvPr/>
        </p:nvSpPr>
        <p:spPr>
          <a:xfrm>
            <a:off x="6095848" y="5733288"/>
            <a:ext cx="914" cy="182880"/>
          </a:xfrm>
          <a:prstGeom prst="line">
            <a:avLst/>
          </a:prstGeom>
          <a:noFill/>
          <a:ln w="22225">
            <a:solidFill>
              <a:srgbClr val="4A5670"/>
            </a:solidFill>
            <a:prstDash val="solid"/>
            <a:tailEnd type="triangle"/>
          </a:ln>
        </p:spPr>
        <p:txBody>
          <a:bodyPr/>
          <a:lstStyle/>
          <a:p>
            <a:endParaRPr lang="en-IL"/>
          </a:p>
        </p:txBody>
      </p:sp>
      <p:sp>
        <p:nvSpPr>
          <p:cNvPr id="47" name="Shape 45">
            <a:extLst>
              <a:ext uri="{FF2B5EF4-FFF2-40B4-BE49-F238E27FC236}">
                <a16:creationId xmlns:a16="http://schemas.microsoft.com/office/drawing/2014/main" id="{4A79F8A0-947E-1DBE-8181-6E9854CDEFD2}"/>
              </a:ext>
            </a:extLst>
          </p:cNvPr>
          <p:cNvSpPr/>
          <p:nvPr/>
        </p:nvSpPr>
        <p:spPr>
          <a:xfrm>
            <a:off x="4358488" y="5916168"/>
            <a:ext cx="3474720" cy="411480"/>
          </a:xfrm>
          <a:prstGeom prst="roundRect">
            <a:avLst>
              <a:gd name="adj" fmla="val 13333"/>
            </a:avLst>
          </a:prstGeom>
          <a:solidFill>
            <a:srgbClr val="14213D"/>
          </a:solidFill>
          <a:ln w="12700">
            <a:solidFill>
              <a:srgbClr val="14213D"/>
            </a:solidFill>
            <a:prstDash val="solid"/>
          </a:ln>
        </p:spPr>
        <p:txBody>
          <a:bodyPr/>
          <a:lstStyle/>
          <a:p>
            <a:endParaRPr lang="en-IL"/>
          </a:p>
        </p:txBody>
      </p:sp>
      <p:sp>
        <p:nvSpPr>
          <p:cNvPr id="48" name="Text 46">
            <a:extLst>
              <a:ext uri="{FF2B5EF4-FFF2-40B4-BE49-F238E27FC236}">
                <a16:creationId xmlns:a16="http://schemas.microsoft.com/office/drawing/2014/main" id="{50B0953A-AACE-8C67-E053-7084F3DC9CDD}"/>
              </a:ext>
            </a:extLst>
          </p:cNvPr>
          <p:cNvSpPr txBox="1"/>
          <p:nvPr/>
        </p:nvSpPr>
        <p:spPr>
          <a:xfrm>
            <a:off x="4358488" y="5916168"/>
            <a:ext cx="3474720" cy="411480"/>
          </a:xfrm>
          <a:prstGeom prst="rect">
            <a:avLst/>
          </a:prstGeom>
          <a:noFill/>
          <a:ln/>
        </p:spPr>
        <p:txBody>
          <a:bodyPr wrap="square" lIns="0" tIns="0" rIns="0" bIns="0" rtlCol="0" anchor="ctr"/>
          <a:lstStyle/>
          <a:p>
            <a:pPr marL="0" indent="0" algn="ctr">
              <a:lnSpc>
                <a:spcPct val="110000"/>
              </a:lnSpc>
              <a:buNone/>
            </a:pPr>
            <a:r>
              <a:rPr lang="en-US" sz="1400" dirty="0">
                <a:solidFill>
                  <a:srgbClr val="FFFFFF"/>
                </a:solidFill>
                <a:latin typeface="Calibri" pitchFamily="34" charset="0"/>
                <a:ea typeface="Calibri" pitchFamily="34" charset="-122"/>
                <a:cs typeface="Calibri" pitchFamily="34" charset="-120"/>
              </a:rPr>
              <a:t>Softmax over all t ∈ [0, T−1]</a:t>
            </a:r>
            <a:endParaRPr lang="en-US" sz="1400" dirty="0"/>
          </a:p>
        </p:txBody>
      </p:sp>
    </p:spTree>
    <p:extLst>
      <p:ext uri="{BB962C8B-B14F-4D97-AF65-F5344CB8AC3E}">
        <p14:creationId xmlns:p14="http://schemas.microsoft.com/office/powerpoint/2010/main" val="676447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50AFB-AE05-F3E4-A033-5BB011986AC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A468D09-71BE-15D0-32D8-3C04A10B3694}"/>
              </a:ext>
            </a:extLst>
          </p:cNvPr>
          <p:cNvSpPr txBox="1"/>
          <p:nvPr/>
        </p:nvSpPr>
        <p:spPr>
          <a:xfrm>
            <a:off x="548640" y="411480"/>
            <a:ext cx="11094415" cy="274320"/>
          </a:xfrm>
          <a:prstGeom prst="rect">
            <a:avLst/>
          </a:prstGeom>
          <a:noFill/>
          <a:ln/>
        </p:spPr>
        <p:txBody>
          <a:bodyPr wrap="square" lIns="0" tIns="0" rIns="0" bIns="0" rtlCol="0" anchor="t"/>
          <a:lstStyle/>
          <a:p>
            <a:pPr marL="0" indent="0" algn="l">
              <a:lnSpc>
                <a:spcPct val="110000"/>
              </a:lnSpc>
              <a:buNone/>
            </a:pPr>
            <a:r>
              <a:rPr lang="en-US" sz="1200" dirty="0">
                <a:solidFill>
                  <a:srgbClr val="4A5670"/>
                </a:solidFill>
                <a:latin typeface="Courier New" pitchFamily="34" charset="0"/>
                <a:ea typeface="Courier New" pitchFamily="34" charset="-122"/>
                <a:cs typeface="Courier New" pitchFamily="34" charset="-120"/>
              </a:rPr>
              <a:t>Phase 2 of 3 · attention scoring</a:t>
            </a:r>
            <a:endParaRPr lang="en-US" sz="1200" dirty="0"/>
          </a:p>
        </p:txBody>
      </p:sp>
      <p:sp>
        <p:nvSpPr>
          <p:cNvPr id="3" name="Text 1">
            <a:extLst>
              <a:ext uri="{FF2B5EF4-FFF2-40B4-BE49-F238E27FC236}">
                <a16:creationId xmlns:a16="http://schemas.microsoft.com/office/drawing/2014/main" id="{DD3B5BA7-99EF-D7D2-F86C-3E8B756562AB}"/>
              </a:ext>
            </a:extLst>
          </p:cNvPr>
          <p:cNvSpPr txBox="1"/>
          <p:nvPr/>
        </p:nvSpPr>
        <p:spPr>
          <a:xfrm>
            <a:off x="548640" y="685800"/>
            <a:ext cx="11094415" cy="685800"/>
          </a:xfrm>
          <a:prstGeom prst="rect">
            <a:avLst/>
          </a:prstGeom>
          <a:noFill/>
          <a:ln/>
        </p:spPr>
        <p:txBody>
          <a:bodyPr wrap="square" lIns="0" tIns="0" rIns="0" bIns="0" rtlCol="0" anchor="t"/>
          <a:lstStyle/>
          <a:p>
            <a:pPr marL="0" indent="0" algn="l">
              <a:lnSpc>
                <a:spcPct val="110000"/>
              </a:lnSpc>
              <a:buNone/>
            </a:pPr>
            <a:r>
              <a:rPr lang="en-US" sz="3400" b="1" dirty="0">
                <a:solidFill>
                  <a:srgbClr val="14213D"/>
                </a:solidFill>
                <a:latin typeface="Cambria" pitchFamily="34" charset="0"/>
                <a:ea typeface="Cambria" pitchFamily="34" charset="-122"/>
                <a:cs typeface="Cambria" pitchFamily="34" charset="-120"/>
              </a:rPr>
              <a:t>How each stream runs in hardware</a:t>
            </a:r>
            <a:endParaRPr lang="en-US" sz="3400" dirty="0"/>
          </a:p>
        </p:txBody>
      </p:sp>
      <p:sp>
        <p:nvSpPr>
          <p:cNvPr id="4" name="Text 2">
            <a:extLst>
              <a:ext uri="{FF2B5EF4-FFF2-40B4-BE49-F238E27FC236}">
                <a16:creationId xmlns:a16="http://schemas.microsoft.com/office/drawing/2014/main" id="{B8F45C40-13E2-097C-92E9-F737C7EA7A1C}"/>
              </a:ext>
            </a:extLst>
          </p:cNvPr>
          <p:cNvSpPr txBox="1"/>
          <p:nvPr/>
        </p:nvSpPr>
        <p:spPr>
          <a:xfrm>
            <a:off x="548640" y="1371600"/>
            <a:ext cx="9601200" cy="685800"/>
          </a:xfrm>
          <a:prstGeom prst="rect">
            <a:avLst/>
          </a:prstGeom>
          <a:noFill/>
          <a:ln/>
        </p:spPr>
        <p:txBody>
          <a:bodyPr wrap="square" lIns="0" tIns="0" rIns="0" bIns="0" rtlCol="0" anchor="t"/>
          <a:lstStyle/>
          <a:p>
            <a:pPr marL="0" indent="0" algn="l">
              <a:lnSpc>
                <a:spcPct val="120000"/>
              </a:lnSpc>
              <a:buNone/>
            </a:pPr>
            <a:r>
              <a:rPr lang="en-US" sz="1500" dirty="0">
                <a:solidFill>
                  <a:srgbClr val="4A5670"/>
                </a:solidFill>
                <a:latin typeface="Calibri" pitchFamily="34" charset="0"/>
                <a:ea typeface="Calibri" pitchFamily="34" charset="-122"/>
                <a:cs typeface="Calibri" pitchFamily="34" charset="-120"/>
              </a:rPr>
              <a:t>The query is rotated once per head, then scored against every past token t ∈ [0, T−1].</a:t>
            </a:r>
            <a:endParaRPr lang="en-US" sz="1500" dirty="0"/>
          </a:p>
        </p:txBody>
      </p:sp>
      <p:sp>
        <p:nvSpPr>
          <p:cNvPr id="5" name="Shape 3">
            <a:extLst>
              <a:ext uri="{FF2B5EF4-FFF2-40B4-BE49-F238E27FC236}">
                <a16:creationId xmlns:a16="http://schemas.microsoft.com/office/drawing/2014/main" id="{4016C374-C7E0-2C5C-29C6-03C7D20A5AFB}"/>
              </a:ext>
            </a:extLst>
          </p:cNvPr>
          <p:cNvSpPr/>
          <p:nvPr/>
        </p:nvSpPr>
        <p:spPr>
          <a:xfrm>
            <a:off x="548640" y="2194560"/>
            <a:ext cx="3520440" cy="4114800"/>
          </a:xfrm>
          <a:prstGeom prst="roundRect">
            <a:avLst>
              <a:gd name="adj" fmla="val 1558"/>
            </a:avLst>
          </a:prstGeom>
          <a:solidFill>
            <a:srgbClr val="F6E8DA"/>
          </a:solidFill>
          <a:ln w="12700">
            <a:solidFill>
              <a:srgbClr val="F6E8DA"/>
            </a:solidFill>
            <a:prstDash val="solid"/>
          </a:ln>
        </p:spPr>
        <p:txBody>
          <a:bodyPr/>
          <a:lstStyle/>
          <a:p>
            <a:endParaRPr lang="en-IL"/>
          </a:p>
        </p:txBody>
      </p:sp>
      <p:sp>
        <p:nvSpPr>
          <p:cNvPr id="6" name="Text 4">
            <a:extLst>
              <a:ext uri="{FF2B5EF4-FFF2-40B4-BE49-F238E27FC236}">
                <a16:creationId xmlns:a16="http://schemas.microsoft.com/office/drawing/2014/main" id="{A0AF73EA-A331-DCB2-E75E-9800E623D387}"/>
              </a:ext>
            </a:extLst>
          </p:cNvPr>
          <p:cNvSpPr txBox="1"/>
          <p:nvPr/>
        </p:nvSpPr>
        <p:spPr>
          <a:xfrm>
            <a:off x="822960" y="2468880"/>
            <a:ext cx="2971800" cy="365760"/>
          </a:xfrm>
          <a:prstGeom prst="rect">
            <a:avLst/>
          </a:prstGeom>
          <a:noFill/>
          <a:ln/>
        </p:spPr>
        <p:txBody>
          <a:bodyPr wrap="square" lIns="0" tIns="0" rIns="0" bIns="0" rtlCol="0" anchor="t"/>
          <a:lstStyle/>
          <a:p>
            <a:pPr marL="0" indent="0" algn="l">
              <a:lnSpc>
                <a:spcPct val="110000"/>
              </a:lnSpc>
              <a:buNone/>
            </a:pPr>
            <a:r>
              <a:rPr lang="en-US" sz="1900" b="1" dirty="0">
                <a:solidFill>
                  <a:srgbClr val="B0661F"/>
                </a:solidFill>
                <a:latin typeface="Cambria" pitchFamily="34" charset="0"/>
                <a:ea typeface="Cambria" pitchFamily="34" charset="-122"/>
                <a:cs typeface="Cambria" pitchFamily="34" charset="-120"/>
              </a:rPr>
              <a:t>Stream A · centroids</a:t>
            </a:r>
            <a:endParaRPr lang="en-US" sz="1900" dirty="0"/>
          </a:p>
        </p:txBody>
      </p:sp>
      <p:sp>
        <p:nvSpPr>
          <p:cNvPr id="7" name="Text 5">
            <a:extLst>
              <a:ext uri="{FF2B5EF4-FFF2-40B4-BE49-F238E27FC236}">
                <a16:creationId xmlns:a16="http://schemas.microsoft.com/office/drawing/2014/main" id="{9CF9AD4A-A1E8-9A6B-2393-C340351986C0}"/>
              </a:ext>
            </a:extLst>
          </p:cNvPr>
          <p:cNvSpPr txBox="1"/>
          <p:nvPr/>
        </p:nvSpPr>
        <p:spPr>
          <a:xfrm>
            <a:off x="822960" y="3063240"/>
            <a:ext cx="2971800" cy="256032"/>
          </a:xfrm>
          <a:prstGeom prst="rect">
            <a:avLst/>
          </a:prstGeom>
          <a:noFill/>
          <a:ln/>
        </p:spPr>
        <p:txBody>
          <a:bodyPr wrap="square" lIns="0" tIns="0" rIns="0" bIns="0" rtlCol="0" anchor="t"/>
          <a:lstStyle/>
          <a:p>
            <a:pPr marL="0" indent="0" algn="l">
              <a:lnSpc>
                <a:spcPct val="110000"/>
              </a:lnSpc>
              <a:buNone/>
            </a:pPr>
            <a:r>
              <a:rPr lang="en-US" sz="1250" b="1" dirty="0">
                <a:solidFill>
                  <a:srgbClr val="14213D"/>
                </a:solidFill>
                <a:latin typeface="Courier New" pitchFamily="34" charset="0"/>
                <a:ea typeface="Courier New" pitchFamily="34" charset="-122"/>
                <a:cs typeface="Courier New" pitchFamily="34" charset="-120"/>
              </a:rPr>
              <a:t>TQ_ACC_CLR</a:t>
            </a:r>
            <a:endParaRPr lang="en-US" sz="1250" dirty="0"/>
          </a:p>
        </p:txBody>
      </p:sp>
      <p:sp>
        <p:nvSpPr>
          <p:cNvPr id="8" name="Text 6">
            <a:extLst>
              <a:ext uri="{FF2B5EF4-FFF2-40B4-BE49-F238E27FC236}">
                <a16:creationId xmlns:a16="http://schemas.microsoft.com/office/drawing/2014/main" id="{C599B559-795A-4E69-5385-5978B7A426C6}"/>
              </a:ext>
            </a:extLst>
          </p:cNvPr>
          <p:cNvSpPr txBox="1"/>
          <p:nvPr/>
        </p:nvSpPr>
        <p:spPr>
          <a:xfrm>
            <a:off x="822960" y="3319272"/>
            <a:ext cx="2971800" cy="502920"/>
          </a:xfrm>
          <a:prstGeom prst="rect">
            <a:avLst/>
          </a:prstGeom>
          <a:noFill/>
          <a:ln/>
        </p:spPr>
        <p:txBody>
          <a:bodyPr wrap="square" lIns="0" tIns="0" rIns="0" bIns="0" rtlCol="0" anchor="t"/>
          <a:lstStyle/>
          <a:p>
            <a:pPr marL="0" indent="0" algn="l">
              <a:lnSpc>
                <a:spcPct val="110000"/>
              </a:lnSpc>
              <a:buNone/>
            </a:pPr>
            <a:r>
              <a:rPr lang="en-US" sz="1250" dirty="0">
                <a:solidFill>
                  <a:srgbClr val="4A5670"/>
                </a:solidFill>
                <a:latin typeface="Calibri" pitchFamily="34" charset="0"/>
                <a:ea typeface="Calibri" pitchFamily="34" charset="-122"/>
                <a:cs typeface="Calibri" pitchFamily="34" charset="-120"/>
              </a:rPr>
              <a:t>Zeroes the 40-bit hardware accumulator.</a:t>
            </a:r>
            <a:endParaRPr lang="en-US" sz="1250" dirty="0"/>
          </a:p>
        </p:txBody>
      </p:sp>
      <p:sp>
        <p:nvSpPr>
          <p:cNvPr id="9" name="Text 7">
            <a:extLst>
              <a:ext uri="{FF2B5EF4-FFF2-40B4-BE49-F238E27FC236}">
                <a16:creationId xmlns:a16="http://schemas.microsoft.com/office/drawing/2014/main" id="{8DB0CA65-6953-14B0-45C0-CC8FC028C219}"/>
              </a:ext>
            </a:extLst>
          </p:cNvPr>
          <p:cNvSpPr txBox="1"/>
          <p:nvPr/>
        </p:nvSpPr>
        <p:spPr>
          <a:xfrm>
            <a:off x="822960" y="3840480"/>
            <a:ext cx="2971800" cy="256032"/>
          </a:xfrm>
          <a:prstGeom prst="rect">
            <a:avLst/>
          </a:prstGeom>
          <a:noFill/>
          <a:ln/>
        </p:spPr>
        <p:txBody>
          <a:bodyPr wrap="square" lIns="0" tIns="0" rIns="0" bIns="0" rtlCol="0" anchor="t"/>
          <a:lstStyle/>
          <a:p>
            <a:pPr marL="0" indent="0" algn="l">
              <a:lnSpc>
                <a:spcPct val="110000"/>
              </a:lnSpc>
              <a:buNone/>
            </a:pPr>
            <a:r>
              <a:rPr lang="en-US" sz="1250" b="1" dirty="0">
                <a:solidFill>
                  <a:srgbClr val="14213D"/>
                </a:solidFill>
                <a:latin typeface="Courier New" pitchFamily="34" charset="0"/>
                <a:ea typeface="Courier New" pitchFamily="34" charset="-122"/>
                <a:cs typeface="Courier New" pitchFamily="34" charset="-120"/>
              </a:rPr>
              <a:t>TQ_IDX_LOAD</a:t>
            </a:r>
            <a:endParaRPr lang="en-US" sz="1250" dirty="0"/>
          </a:p>
        </p:txBody>
      </p:sp>
      <p:sp>
        <p:nvSpPr>
          <p:cNvPr id="10" name="Text 8">
            <a:extLst>
              <a:ext uri="{FF2B5EF4-FFF2-40B4-BE49-F238E27FC236}">
                <a16:creationId xmlns:a16="http://schemas.microsoft.com/office/drawing/2014/main" id="{ACD2026F-A1E7-1B7E-0649-8663FEC07861}"/>
              </a:ext>
            </a:extLst>
          </p:cNvPr>
          <p:cNvSpPr txBox="1"/>
          <p:nvPr/>
        </p:nvSpPr>
        <p:spPr>
          <a:xfrm>
            <a:off x="822960" y="4096512"/>
            <a:ext cx="2971800" cy="502920"/>
          </a:xfrm>
          <a:prstGeom prst="rect">
            <a:avLst/>
          </a:prstGeom>
          <a:noFill/>
          <a:ln/>
        </p:spPr>
        <p:txBody>
          <a:bodyPr wrap="square" lIns="0" tIns="0" rIns="0" bIns="0" rtlCol="0" anchor="t"/>
          <a:lstStyle/>
          <a:p>
            <a:pPr marL="0" indent="0" algn="l">
              <a:lnSpc>
                <a:spcPct val="110000"/>
              </a:lnSpc>
              <a:buNone/>
            </a:pPr>
            <a:r>
              <a:rPr lang="en-US" sz="1250" dirty="0">
                <a:solidFill>
                  <a:srgbClr val="4A5670"/>
                </a:solidFill>
                <a:latin typeface="Calibri" pitchFamily="34" charset="0"/>
                <a:ea typeface="Calibri" pitchFamily="34" charset="-122"/>
                <a:cs typeface="Calibri" pitchFamily="34" charset="-120"/>
              </a:rPr>
              <a:t>Streams 24-bit words (eight 3-bit indices) into shift registers.</a:t>
            </a:r>
            <a:endParaRPr lang="en-US" sz="1250" dirty="0"/>
          </a:p>
        </p:txBody>
      </p:sp>
      <p:sp>
        <p:nvSpPr>
          <p:cNvPr id="11" name="Text 9">
            <a:extLst>
              <a:ext uri="{FF2B5EF4-FFF2-40B4-BE49-F238E27FC236}">
                <a16:creationId xmlns:a16="http://schemas.microsoft.com/office/drawing/2014/main" id="{145E0F8A-76B8-46D4-9678-ACDAFF05BB2F}"/>
              </a:ext>
            </a:extLst>
          </p:cNvPr>
          <p:cNvSpPr txBox="1"/>
          <p:nvPr/>
        </p:nvSpPr>
        <p:spPr>
          <a:xfrm>
            <a:off x="822960" y="4617720"/>
            <a:ext cx="2971800" cy="256032"/>
          </a:xfrm>
          <a:prstGeom prst="rect">
            <a:avLst/>
          </a:prstGeom>
          <a:noFill/>
          <a:ln/>
        </p:spPr>
        <p:txBody>
          <a:bodyPr wrap="square" lIns="0" tIns="0" rIns="0" bIns="0" rtlCol="0" anchor="t"/>
          <a:lstStyle/>
          <a:p>
            <a:pPr marL="0" indent="0" algn="l">
              <a:lnSpc>
                <a:spcPct val="110000"/>
              </a:lnSpc>
              <a:buNone/>
            </a:pPr>
            <a:r>
              <a:rPr lang="en-US" sz="1250" b="1" dirty="0">
                <a:solidFill>
                  <a:srgbClr val="14213D"/>
                </a:solidFill>
                <a:latin typeface="Courier New" pitchFamily="34" charset="0"/>
                <a:ea typeface="Courier New" pitchFamily="34" charset="-122"/>
                <a:cs typeface="Courier New" pitchFamily="34" charset="-120"/>
              </a:rPr>
              <a:t>TQ_DECMAC2</a:t>
            </a:r>
            <a:endParaRPr lang="en-US" sz="1250" dirty="0"/>
          </a:p>
        </p:txBody>
      </p:sp>
      <p:sp>
        <p:nvSpPr>
          <p:cNvPr id="12" name="Text 10">
            <a:extLst>
              <a:ext uri="{FF2B5EF4-FFF2-40B4-BE49-F238E27FC236}">
                <a16:creationId xmlns:a16="http://schemas.microsoft.com/office/drawing/2014/main" id="{4F7FB90E-C3B0-6A8B-CEDF-2AF901BE3091}"/>
              </a:ext>
            </a:extLst>
          </p:cNvPr>
          <p:cNvSpPr txBox="1"/>
          <p:nvPr/>
        </p:nvSpPr>
        <p:spPr>
          <a:xfrm>
            <a:off x="822960" y="4873752"/>
            <a:ext cx="2971800" cy="502920"/>
          </a:xfrm>
          <a:prstGeom prst="rect">
            <a:avLst/>
          </a:prstGeom>
          <a:noFill/>
          <a:ln/>
        </p:spPr>
        <p:txBody>
          <a:bodyPr wrap="square" lIns="0" tIns="0" rIns="0" bIns="0" rtlCol="0" anchor="t"/>
          <a:lstStyle/>
          <a:p>
            <a:pPr marL="0" indent="0" algn="l">
              <a:lnSpc>
                <a:spcPct val="110000"/>
              </a:lnSpc>
              <a:buNone/>
            </a:pPr>
            <a:r>
              <a:rPr lang="en-US" sz="1250" dirty="0">
                <a:solidFill>
                  <a:srgbClr val="4A5670"/>
                </a:solidFill>
                <a:latin typeface="Calibri" pitchFamily="34" charset="0"/>
                <a:ea typeface="Calibri" pitchFamily="34" charset="-122"/>
                <a:cs typeface="Calibri" pitchFamily="34" charset="-120"/>
              </a:rPr>
              <a:t>One cycle: decodes two indices via ROM, multiplies by Q_rot[i], Q_rot[i+1].</a:t>
            </a:r>
            <a:endParaRPr lang="en-US" sz="1250" dirty="0"/>
          </a:p>
        </p:txBody>
      </p:sp>
      <p:sp>
        <p:nvSpPr>
          <p:cNvPr id="13" name="Text 11">
            <a:extLst>
              <a:ext uri="{FF2B5EF4-FFF2-40B4-BE49-F238E27FC236}">
                <a16:creationId xmlns:a16="http://schemas.microsoft.com/office/drawing/2014/main" id="{B8BF70EC-EB2E-A594-37CA-F7CAABAD633A}"/>
              </a:ext>
            </a:extLst>
          </p:cNvPr>
          <p:cNvSpPr txBox="1"/>
          <p:nvPr/>
        </p:nvSpPr>
        <p:spPr>
          <a:xfrm>
            <a:off x="822960" y="5394960"/>
            <a:ext cx="2971800" cy="256032"/>
          </a:xfrm>
          <a:prstGeom prst="rect">
            <a:avLst/>
          </a:prstGeom>
          <a:noFill/>
          <a:ln/>
        </p:spPr>
        <p:txBody>
          <a:bodyPr wrap="square" lIns="0" tIns="0" rIns="0" bIns="0" rtlCol="0" anchor="t"/>
          <a:lstStyle/>
          <a:p>
            <a:pPr marL="0" indent="0" algn="l">
              <a:lnSpc>
                <a:spcPct val="110000"/>
              </a:lnSpc>
              <a:buNone/>
            </a:pPr>
            <a:r>
              <a:rPr lang="en-US" sz="1250" b="1" dirty="0">
                <a:solidFill>
                  <a:srgbClr val="14213D"/>
                </a:solidFill>
                <a:latin typeface="Courier New" pitchFamily="34" charset="0"/>
                <a:ea typeface="Courier New" pitchFamily="34" charset="-122"/>
                <a:cs typeface="Courier New" pitchFamily="34" charset="-120"/>
              </a:rPr>
              <a:t>TQ_ACC_RD</a:t>
            </a:r>
            <a:endParaRPr lang="en-US" sz="1250" dirty="0"/>
          </a:p>
        </p:txBody>
      </p:sp>
      <p:sp>
        <p:nvSpPr>
          <p:cNvPr id="14" name="Text 12">
            <a:extLst>
              <a:ext uri="{FF2B5EF4-FFF2-40B4-BE49-F238E27FC236}">
                <a16:creationId xmlns:a16="http://schemas.microsoft.com/office/drawing/2014/main" id="{497AA2B7-70AE-B6CB-4CEA-FC0EDB9C2107}"/>
              </a:ext>
            </a:extLst>
          </p:cNvPr>
          <p:cNvSpPr txBox="1"/>
          <p:nvPr/>
        </p:nvSpPr>
        <p:spPr>
          <a:xfrm>
            <a:off x="822960" y="5650992"/>
            <a:ext cx="2971800" cy="502920"/>
          </a:xfrm>
          <a:prstGeom prst="rect">
            <a:avLst/>
          </a:prstGeom>
          <a:noFill/>
          <a:ln/>
        </p:spPr>
        <p:txBody>
          <a:bodyPr wrap="square" lIns="0" tIns="0" rIns="0" bIns="0" rtlCol="0" anchor="t"/>
          <a:lstStyle/>
          <a:p>
            <a:pPr marL="0" indent="0" algn="l">
              <a:lnSpc>
                <a:spcPct val="110000"/>
              </a:lnSpc>
              <a:buNone/>
            </a:pPr>
            <a:r>
              <a:rPr lang="en-US" sz="1250" dirty="0">
                <a:solidFill>
                  <a:srgbClr val="4A5670"/>
                </a:solidFill>
                <a:latin typeface="Calibri" pitchFamily="34" charset="0"/>
                <a:ea typeface="Calibri" pitchFamily="34" charset="-122"/>
                <a:cs typeface="Calibri" pitchFamily="34" charset="-120"/>
              </a:rPr>
              <a:t>Rescales the Q15 product (&gt;&gt;&gt; 15).</a:t>
            </a:r>
            <a:endParaRPr lang="en-US" sz="1250" dirty="0"/>
          </a:p>
        </p:txBody>
      </p:sp>
      <p:sp>
        <p:nvSpPr>
          <p:cNvPr id="15" name="Shape 13">
            <a:extLst>
              <a:ext uri="{FF2B5EF4-FFF2-40B4-BE49-F238E27FC236}">
                <a16:creationId xmlns:a16="http://schemas.microsoft.com/office/drawing/2014/main" id="{E3E6A685-48B0-7087-3301-2913EA2FD658}"/>
              </a:ext>
            </a:extLst>
          </p:cNvPr>
          <p:cNvSpPr/>
          <p:nvPr/>
        </p:nvSpPr>
        <p:spPr>
          <a:xfrm>
            <a:off x="4343400" y="2194560"/>
            <a:ext cx="3520440" cy="4114800"/>
          </a:xfrm>
          <a:prstGeom prst="roundRect">
            <a:avLst>
              <a:gd name="adj" fmla="val 1558"/>
            </a:avLst>
          </a:prstGeom>
          <a:solidFill>
            <a:srgbClr val="DDEFED"/>
          </a:solidFill>
          <a:ln w="12700">
            <a:solidFill>
              <a:srgbClr val="DDEFED"/>
            </a:solidFill>
            <a:prstDash val="solid"/>
          </a:ln>
        </p:spPr>
        <p:txBody>
          <a:bodyPr/>
          <a:lstStyle/>
          <a:p>
            <a:endParaRPr lang="en-IL"/>
          </a:p>
        </p:txBody>
      </p:sp>
      <p:sp>
        <p:nvSpPr>
          <p:cNvPr id="16" name="Text 14">
            <a:extLst>
              <a:ext uri="{FF2B5EF4-FFF2-40B4-BE49-F238E27FC236}">
                <a16:creationId xmlns:a16="http://schemas.microsoft.com/office/drawing/2014/main" id="{9E35AA06-74A2-30D7-5CC4-5B0E6AD4407D}"/>
              </a:ext>
            </a:extLst>
          </p:cNvPr>
          <p:cNvSpPr txBox="1"/>
          <p:nvPr/>
        </p:nvSpPr>
        <p:spPr>
          <a:xfrm>
            <a:off x="4617720" y="2468880"/>
            <a:ext cx="2971800" cy="365760"/>
          </a:xfrm>
          <a:prstGeom prst="rect">
            <a:avLst/>
          </a:prstGeom>
          <a:noFill/>
          <a:ln/>
        </p:spPr>
        <p:txBody>
          <a:bodyPr wrap="square" lIns="0" tIns="0" rIns="0" bIns="0" rtlCol="0" anchor="t"/>
          <a:lstStyle/>
          <a:p>
            <a:pPr marL="0" indent="0" algn="l">
              <a:lnSpc>
                <a:spcPct val="110000"/>
              </a:lnSpc>
              <a:buNone/>
            </a:pPr>
            <a:r>
              <a:rPr lang="en-US" sz="1900" b="1" dirty="0">
                <a:solidFill>
                  <a:srgbClr val="1C7373"/>
                </a:solidFill>
                <a:latin typeface="Cambria" pitchFamily="34" charset="0"/>
                <a:ea typeface="Cambria" pitchFamily="34" charset="-122"/>
                <a:cs typeface="Cambria" pitchFamily="34" charset="-120"/>
              </a:rPr>
              <a:t>Stream B · residual signs</a:t>
            </a:r>
            <a:endParaRPr lang="en-US" sz="1900" dirty="0"/>
          </a:p>
        </p:txBody>
      </p:sp>
      <p:sp>
        <p:nvSpPr>
          <p:cNvPr id="17" name="Text 15">
            <a:extLst>
              <a:ext uri="{FF2B5EF4-FFF2-40B4-BE49-F238E27FC236}">
                <a16:creationId xmlns:a16="http://schemas.microsoft.com/office/drawing/2014/main" id="{D93476D1-9B32-D085-86E5-54166B885917}"/>
              </a:ext>
            </a:extLst>
          </p:cNvPr>
          <p:cNvSpPr txBox="1"/>
          <p:nvPr/>
        </p:nvSpPr>
        <p:spPr>
          <a:xfrm>
            <a:off x="4617720" y="3063240"/>
            <a:ext cx="2971800" cy="256032"/>
          </a:xfrm>
          <a:prstGeom prst="rect">
            <a:avLst/>
          </a:prstGeom>
          <a:noFill/>
          <a:ln/>
        </p:spPr>
        <p:txBody>
          <a:bodyPr wrap="square" lIns="0" tIns="0" rIns="0" bIns="0" rtlCol="0" anchor="t"/>
          <a:lstStyle/>
          <a:p>
            <a:pPr marL="0" indent="0" algn="l">
              <a:lnSpc>
                <a:spcPct val="110000"/>
              </a:lnSpc>
              <a:buNone/>
            </a:pPr>
            <a:r>
              <a:rPr lang="en-US" sz="1250" b="1" dirty="0">
                <a:solidFill>
                  <a:srgbClr val="14213D"/>
                </a:solidFill>
                <a:latin typeface="Courier New" pitchFamily="34" charset="0"/>
                <a:ea typeface="Courier New" pitchFamily="34" charset="-122"/>
                <a:cs typeface="Courier New" pitchFamily="34" charset="-120"/>
              </a:rPr>
              <a:t>TQ_SACC_CLR</a:t>
            </a:r>
            <a:endParaRPr lang="en-US" sz="1250" dirty="0"/>
          </a:p>
        </p:txBody>
      </p:sp>
      <p:sp>
        <p:nvSpPr>
          <p:cNvPr id="18" name="Text 16">
            <a:extLst>
              <a:ext uri="{FF2B5EF4-FFF2-40B4-BE49-F238E27FC236}">
                <a16:creationId xmlns:a16="http://schemas.microsoft.com/office/drawing/2014/main" id="{FCA08986-9DAD-3994-85DC-6AFA0C6560D2}"/>
              </a:ext>
            </a:extLst>
          </p:cNvPr>
          <p:cNvSpPr txBox="1"/>
          <p:nvPr/>
        </p:nvSpPr>
        <p:spPr>
          <a:xfrm>
            <a:off x="4617720" y="3319272"/>
            <a:ext cx="2971800" cy="502920"/>
          </a:xfrm>
          <a:prstGeom prst="rect">
            <a:avLst/>
          </a:prstGeom>
          <a:noFill/>
          <a:ln/>
        </p:spPr>
        <p:txBody>
          <a:bodyPr wrap="square" lIns="0" tIns="0" rIns="0" bIns="0" rtlCol="0" anchor="t"/>
          <a:lstStyle/>
          <a:p>
            <a:pPr marL="0" indent="0" algn="l">
              <a:lnSpc>
                <a:spcPct val="110000"/>
              </a:lnSpc>
              <a:buNone/>
            </a:pPr>
            <a:r>
              <a:rPr lang="en-US" sz="1250" dirty="0">
                <a:solidFill>
                  <a:srgbClr val="4A5670"/>
                </a:solidFill>
                <a:latin typeface="Calibri" pitchFamily="34" charset="0"/>
                <a:ea typeface="Calibri" pitchFamily="34" charset="-122"/>
                <a:cs typeface="Calibri" pitchFamily="34" charset="-120"/>
              </a:rPr>
              <a:t>Zeroes the 32-bit sign accumulator.</a:t>
            </a:r>
            <a:endParaRPr lang="en-US" sz="1250" dirty="0"/>
          </a:p>
        </p:txBody>
      </p:sp>
      <p:sp>
        <p:nvSpPr>
          <p:cNvPr id="19" name="Text 17">
            <a:extLst>
              <a:ext uri="{FF2B5EF4-FFF2-40B4-BE49-F238E27FC236}">
                <a16:creationId xmlns:a16="http://schemas.microsoft.com/office/drawing/2014/main" id="{580E67DE-1F0F-15D0-5C12-AD9CE50D72F2}"/>
              </a:ext>
            </a:extLst>
          </p:cNvPr>
          <p:cNvSpPr txBox="1"/>
          <p:nvPr/>
        </p:nvSpPr>
        <p:spPr>
          <a:xfrm>
            <a:off x="4617720" y="3840480"/>
            <a:ext cx="2971800" cy="256032"/>
          </a:xfrm>
          <a:prstGeom prst="rect">
            <a:avLst/>
          </a:prstGeom>
          <a:noFill/>
          <a:ln/>
        </p:spPr>
        <p:txBody>
          <a:bodyPr wrap="square" lIns="0" tIns="0" rIns="0" bIns="0" rtlCol="0" anchor="t"/>
          <a:lstStyle/>
          <a:p>
            <a:pPr marL="0" indent="0" algn="l">
              <a:lnSpc>
                <a:spcPct val="110000"/>
              </a:lnSpc>
              <a:buNone/>
            </a:pPr>
            <a:r>
              <a:rPr lang="en-US" sz="1250" b="1" dirty="0">
                <a:solidFill>
                  <a:srgbClr val="14213D"/>
                </a:solidFill>
                <a:latin typeface="Courier New" pitchFamily="34" charset="0"/>
                <a:ea typeface="Courier New" pitchFamily="34" charset="-122"/>
                <a:cs typeface="Courier New" pitchFamily="34" charset="-120"/>
              </a:rPr>
              <a:t>TQ_SGN_LOAD</a:t>
            </a:r>
            <a:endParaRPr lang="en-US" sz="1250" dirty="0"/>
          </a:p>
        </p:txBody>
      </p:sp>
      <p:sp>
        <p:nvSpPr>
          <p:cNvPr id="20" name="Text 18">
            <a:extLst>
              <a:ext uri="{FF2B5EF4-FFF2-40B4-BE49-F238E27FC236}">
                <a16:creationId xmlns:a16="http://schemas.microsoft.com/office/drawing/2014/main" id="{80E8EEF3-5CE9-DD9B-740E-AB1E799A42B8}"/>
              </a:ext>
            </a:extLst>
          </p:cNvPr>
          <p:cNvSpPr txBox="1"/>
          <p:nvPr/>
        </p:nvSpPr>
        <p:spPr>
          <a:xfrm>
            <a:off x="4617720" y="4096512"/>
            <a:ext cx="2971800" cy="502920"/>
          </a:xfrm>
          <a:prstGeom prst="rect">
            <a:avLst/>
          </a:prstGeom>
          <a:noFill/>
          <a:ln/>
        </p:spPr>
        <p:txBody>
          <a:bodyPr wrap="square" lIns="0" tIns="0" rIns="0" bIns="0" rtlCol="0" anchor="t"/>
          <a:lstStyle/>
          <a:p>
            <a:pPr marL="0" indent="0" algn="l">
              <a:lnSpc>
                <a:spcPct val="110000"/>
              </a:lnSpc>
              <a:buNone/>
            </a:pPr>
            <a:r>
              <a:rPr lang="en-US" sz="1250" dirty="0">
                <a:solidFill>
                  <a:srgbClr val="4A5670"/>
                </a:solidFill>
                <a:latin typeface="Calibri" pitchFamily="34" charset="0"/>
                <a:ea typeface="Calibri" pitchFamily="34" charset="-122"/>
                <a:cs typeface="Calibri" pitchFamily="34" charset="-120"/>
              </a:rPr>
              <a:t>Latches 32 packed sign bits into hardware state.</a:t>
            </a:r>
            <a:endParaRPr lang="en-US" sz="1250" dirty="0"/>
          </a:p>
        </p:txBody>
      </p:sp>
      <p:sp>
        <p:nvSpPr>
          <p:cNvPr id="21" name="Text 19">
            <a:extLst>
              <a:ext uri="{FF2B5EF4-FFF2-40B4-BE49-F238E27FC236}">
                <a16:creationId xmlns:a16="http://schemas.microsoft.com/office/drawing/2014/main" id="{59B4C155-E175-5D6F-D5D5-C7638B2EDFDF}"/>
              </a:ext>
            </a:extLst>
          </p:cNvPr>
          <p:cNvSpPr txBox="1"/>
          <p:nvPr/>
        </p:nvSpPr>
        <p:spPr>
          <a:xfrm>
            <a:off x="4617720" y="4617720"/>
            <a:ext cx="2971800" cy="256032"/>
          </a:xfrm>
          <a:prstGeom prst="rect">
            <a:avLst/>
          </a:prstGeom>
          <a:noFill/>
          <a:ln/>
        </p:spPr>
        <p:txBody>
          <a:bodyPr wrap="square" lIns="0" tIns="0" rIns="0" bIns="0" rtlCol="0" anchor="t"/>
          <a:lstStyle/>
          <a:p>
            <a:pPr marL="0" indent="0" algn="l">
              <a:lnSpc>
                <a:spcPct val="110000"/>
              </a:lnSpc>
              <a:buNone/>
            </a:pPr>
            <a:r>
              <a:rPr lang="en-US" sz="1250" b="1" dirty="0">
                <a:solidFill>
                  <a:srgbClr val="14213D"/>
                </a:solidFill>
                <a:latin typeface="Courier New" pitchFamily="34" charset="0"/>
                <a:ea typeface="Courier New" pitchFamily="34" charset="-122"/>
                <a:cs typeface="Courier New" pitchFamily="34" charset="-120"/>
              </a:rPr>
              <a:t>TQ_SGNACC2</a:t>
            </a:r>
            <a:endParaRPr lang="en-US" sz="1250" dirty="0"/>
          </a:p>
        </p:txBody>
      </p:sp>
      <p:sp>
        <p:nvSpPr>
          <p:cNvPr id="22" name="Text 20">
            <a:extLst>
              <a:ext uri="{FF2B5EF4-FFF2-40B4-BE49-F238E27FC236}">
                <a16:creationId xmlns:a16="http://schemas.microsoft.com/office/drawing/2014/main" id="{9A2E1BDD-BFAE-827B-4AAC-76B8C31999FA}"/>
              </a:ext>
            </a:extLst>
          </p:cNvPr>
          <p:cNvSpPr txBox="1"/>
          <p:nvPr/>
        </p:nvSpPr>
        <p:spPr>
          <a:xfrm>
            <a:off x="4617720" y="4873752"/>
            <a:ext cx="2971800" cy="502920"/>
          </a:xfrm>
          <a:prstGeom prst="rect">
            <a:avLst/>
          </a:prstGeom>
          <a:noFill/>
          <a:ln/>
        </p:spPr>
        <p:txBody>
          <a:bodyPr wrap="square" lIns="0" tIns="0" rIns="0" bIns="0" rtlCol="0" anchor="t"/>
          <a:lstStyle/>
          <a:p>
            <a:pPr marL="0" indent="0" algn="l">
              <a:lnSpc>
                <a:spcPct val="110000"/>
              </a:lnSpc>
              <a:buNone/>
            </a:pPr>
            <a:r>
              <a:rPr lang="en-US" sz="1250" dirty="0">
                <a:solidFill>
                  <a:srgbClr val="4A5670"/>
                </a:solidFill>
                <a:latin typeface="Calibri" pitchFamily="34" charset="0"/>
                <a:ea typeface="Calibri" pitchFamily="34" charset="-122"/>
                <a:cs typeface="Calibri" pitchFamily="34" charset="-120"/>
              </a:rPr>
              <a:t>Unpacks two signs; adds or subtracts Q_qjl[i], Q_qjl[i+1] with no branch.</a:t>
            </a:r>
            <a:endParaRPr lang="en-US" sz="1250" dirty="0"/>
          </a:p>
        </p:txBody>
      </p:sp>
      <p:sp>
        <p:nvSpPr>
          <p:cNvPr id="23" name="Text 21">
            <a:extLst>
              <a:ext uri="{FF2B5EF4-FFF2-40B4-BE49-F238E27FC236}">
                <a16:creationId xmlns:a16="http://schemas.microsoft.com/office/drawing/2014/main" id="{EC6572E0-C7B1-BD10-BC94-CF82989C5341}"/>
              </a:ext>
            </a:extLst>
          </p:cNvPr>
          <p:cNvSpPr txBox="1"/>
          <p:nvPr/>
        </p:nvSpPr>
        <p:spPr>
          <a:xfrm>
            <a:off x="4617720" y="5394960"/>
            <a:ext cx="2971800" cy="256032"/>
          </a:xfrm>
          <a:prstGeom prst="rect">
            <a:avLst/>
          </a:prstGeom>
          <a:noFill/>
          <a:ln/>
        </p:spPr>
        <p:txBody>
          <a:bodyPr wrap="square" lIns="0" tIns="0" rIns="0" bIns="0" rtlCol="0" anchor="t"/>
          <a:lstStyle/>
          <a:p>
            <a:pPr marL="0" indent="0" algn="l">
              <a:lnSpc>
                <a:spcPct val="110000"/>
              </a:lnSpc>
              <a:buNone/>
            </a:pPr>
            <a:r>
              <a:rPr lang="en-US" sz="1250" b="1" dirty="0">
                <a:solidFill>
                  <a:srgbClr val="14213D"/>
                </a:solidFill>
                <a:latin typeface="Courier New" pitchFamily="34" charset="0"/>
                <a:ea typeface="Courier New" pitchFamily="34" charset="-122"/>
                <a:cs typeface="Courier New" pitchFamily="34" charset="-120"/>
              </a:rPr>
              <a:t>TQ_SACC_RD</a:t>
            </a:r>
            <a:endParaRPr lang="en-US" sz="1250" dirty="0"/>
          </a:p>
        </p:txBody>
      </p:sp>
      <p:sp>
        <p:nvSpPr>
          <p:cNvPr id="24" name="Text 22">
            <a:extLst>
              <a:ext uri="{FF2B5EF4-FFF2-40B4-BE49-F238E27FC236}">
                <a16:creationId xmlns:a16="http://schemas.microsoft.com/office/drawing/2014/main" id="{2EE11E29-C8A0-3E9E-648C-404E38660616}"/>
              </a:ext>
            </a:extLst>
          </p:cNvPr>
          <p:cNvSpPr txBox="1"/>
          <p:nvPr/>
        </p:nvSpPr>
        <p:spPr>
          <a:xfrm>
            <a:off x="4617720" y="5650992"/>
            <a:ext cx="2971800" cy="502920"/>
          </a:xfrm>
          <a:prstGeom prst="rect">
            <a:avLst/>
          </a:prstGeom>
          <a:noFill/>
          <a:ln/>
        </p:spPr>
        <p:txBody>
          <a:bodyPr wrap="square" lIns="0" tIns="0" rIns="0" bIns="0" rtlCol="0" anchor="t"/>
          <a:lstStyle/>
          <a:p>
            <a:pPr marL="0" indent="0" algn="l">
              <a:lnSpc>
                <a:spcPct val="110000"/>
              </a:lnSpc>
              <a:buNone/>
            </a:pPr>
            <a:r>
              <a:rPr lang="en-US" sz="1250" dirty="0">
                <a:solidFill>
                  <a:srgbClr val="4A5670"/>
                </a:solidFill>
                <a:latin typeface="Calibri" pitchFamily="34" charset="0"/>
                <a:ea typeface="Calibri" pitchFamily="34" charset="-122"/>
                <a:cs typeface="Calibri" pitchFamily="34" charset="-120"/>
              </a:rPr>
              <a:t>Reads the 32-bit residual dot product.</a:t>
            </a:r>
            <a:endParaRPr lang="en-US" sz="1250" dirty="0"/>
          </a:p>
        </p:txBody>
      </p:sp>
      <p:sp>
        <p:nvSpPr>
          <p:cNvPr id="25" name="Shape 23">
            <a:extLst>
              <a:ext uri="{FF2B5EF4-FFF2-40B4-BE49-F238E27FC236}">
                <a16:creationId xmlns:a16="http://schemas.microsoft.com/office/drawing/2014/main" id="{DE1F7DB3-D4BE-6CCD-2662-8647A21CCB9D}"/>
              </a:ext>
            </a:extLst>
          </p:cNvPr>
          <p:cNvSpPr/>
          <p:nvPr/>
        </p:nvSpPr>
        <p:spPr>
          <a:xfrm>
            <a:off x="8138160" y="2194560"/>
            <a:ext cx="3520440" cy="4114800"/>
          </a:xfrm>
          <a:prstGeom prst="roundRect">
            <a:avLst>
              <a:gd name="adj" fmla="val 1558"/>
            </a:avLst>
          </a:prstGeom>
          <a:solidFill>
            <a:srgbClr val="FFFFFF"/>
          </a:solidFill>
          <a:ln w="12700">
            <a:solidFill>
              <a:srgbClr val="C9D1DC"/>
            </a:solidFill>
            <a:prstDash val="solid"/>
          </a:ln>
        </p:spPr>
        <p:txBody>
          <a:bodyPr/>
          <a:lstStyle/>
          <a:p>
            <a:endParaRPr lang="en-IL"/>
          </a:p>
        </p:txBody>
      </p:sp>
      <p:sp>
        <p:nvSpPr>
          <p:cNvPr id="26" name="Text 24">
            <a:extLst>
              <a:ext uri="{FF2B5EF4-FFF2-40B4-BE49-F238E27FC236}">
                <a16:creationId xmlns:a16="http://schemas.microsoft.com/office/drawing/2014/main" id="{CE1E2521-D632-F948-878D-4DFC3215F2D5}"/>
              </a:ext>
            </a:extLst>
          </p:cNvPr>
          <p:cNvSpPr txBox="1"/>
          <p:nvPr/>
        </p:nvSpPr>
        <p:spPr>
          <a:xfrm>
            <a:off x="8412480" y="2468880"/>
            <a:ext cx="2971800" cy="365760"/>
          </a:xfrm>
          <a:prstGeom prst="rect">
            <a:avLst/>
          </a:prstGeom>
          <a:noFill/>
          <a:ln/>
        </p:spPr>
        <p:txBody>
          <a:bodyPr wrap="square" lIns="0" tIns="0" rIns="0" bIns="0" rtlCol="0" anchor="t"/>
          <a:lstStyle/>
          <a:p>
            <a:pPr marL="0" indent="0" algn="l">
              <a:lnSpc>
                <a:spcPct val="110000"/>
              </a:lnSpc>
              <a:buNone/>
            </a:pPr>
            <a:r>
              <a:rPr lang="en-US" sz="1900" b="1" dirty="0">
                <a:solidFill>
                  <a:srgbClr val="14213D"/>
                </a:solidFill>
                <a:latin typeface="Cambria" pitchFamily="34" charset="0"/>
                <a:ea typeface="Cambria" pitchFamily="34" charset="-122"/>
                <a:cs typeface="Cambria" pitchFamily="34" charset="-120"/>
              </a:rPr>
              <a:t>Fusion &amp; softmax</a:t>
            </a:r>
            <a:endParaRPr lang="en-US" sz="1900" dirty="0"/>
          </a:p>
        </p:txBody>
      </p:sp>
      <p:sp>
        <p:nvSpPr>
          <p:cNvPr id="27" name="Text 25">
            <a:extLst>
              <a:ext uri="{FF2B5EF4-FFF2-40B4-BE49-F238E27FC236}">
                <a16:creationId xmlns:a16="http://schemas.microsoft.com/office/drawing/2014/main" id="{4D35BD14-DDED-1CE9-8F98-378F3D258EBE}"/>
              </a:ext>
            </a:extLst>
          </p:cNvPr>
          <p:cNvSpPr txBox="1"/>
          <p:nvPr/>
        </p:nvSpPr>
        <p:spPr>
          <a:xfrm>
            <a:off x="8412480" y="3017520"/>
            <a:ext cx="2971800" cy="822960"/>
          </a:xfrm>
          <a:prstGeom prst="rect">
            <a:avLst/>
          </a:prstGeom>
          <a:noFill/>
          <a:ln/>
        </p:spPr>
        <p:txBody>
          <a:bodyPr wrap="square" lIns="0" tIns="0" rIns="0" bIns="0" rtlCol="0" anchor="t"/>
          <a:lstStyle/>
          <a:p>
            <a:pPr marL="0" indent="0" algn="l">
              <a:lnSpc>
                <a:spcPct val="120000"/>
              </a:lnSpc>
              <a:buNone/>
            </a:pPr>
            <a:r>
              <a:rPr lang="en-US" sz="1350" dirty="0">
                <a:solidFill>
                  <a:srgbClr val="4A5670"/>
                </a:solidFill>
                <a:latin typeface="Calibri" pitchFamily="34" charset="0"/>
                <a:ea typeface="Calibri" pitchFamily="34" charset="-122"/>
                <a:cs typeface="Calibri" pitchFamily="34" charset="-120"/>
              </a:rPr>
              <a:t>Scale both partial scores by the theoretical constants γ and λ, then multiply by the cached key norm.</a:t>
            </a:r>
            <a:endParaRPr lang="en-US" sz="1350" dirty="0"/>
          </a:p>
        </p:txBody>
      </p:sp>
      <p:sp>
        <p:nvSpPr>
          <p:cNvPr id="28" name="Text 26">
            <a:extLst>
              <a:ext uri="{FF2B5EF4-FFF2-40B4-BE49-F238E27FC236}">
                <a16:creationId xmlns:a16="http://schemas.microsoft.com/office/drawing/2014/main" id="{2BFA3349-9DDE-1AAA-A884-C3AC788459E6}"/>
              </a:ext>
            </a:extLst>
          </p:cNvPr>
          <p:cNvSpPr txBox="1"/>
          <p:nvPr/>
        </p:nvSpPr>
        <p:spPr>
          <a:xfrm>
            <a:off x="8412480" y="3931920"/>
            <a:ext cx="2971800" cy="411480"/>
          </a:xfrm>
          <a:prstGeom prst="rect">
            <a:avLst/>
          </a:prstGeom>
          <a:noFill/>
          <a:ln/>
        </p:spPr>
        <p:txBody>
          <a:bodyPr wrap="square" lIns="0" tIns="0" rIns="0" bIns="0" rtlCol="0" anchor="t"/>
          <a:lstStyle/>
          <a:p>
            <a:pPr marL="0" indent="0" algn="l">
              <a:lnSpc>
                <a:spcPct val="110000"/>
              </a:lnSpc>
              <a:buNone/>
            </a:pPr>
            <a:r>
              <a:rPr lang="en-US" sz="1700" i="1" dirty="0">
                <a:solidFill>
                  <a:srgbClr val="14213D"/>
                </a:solidFill>
                <a:latin typeface="Cambria Math" pitchFamily="34" charset="0"/>
                <a:ea typeface="Cambria Math" pitchFamily="34" charset="-122"/>
                <a:cs typeface="Cambria Math" pitchFamily="34" charset="-120"/>
              </a:rPr>
              <a:t>S</a:t>
            </a:r>
            <a:r>
              <a:rPr lang="en-US" sz="1700" i="1" baseline="-40000" dirty="0">
                <a:solidFill>
                  <a:srgbClr val="14213D"/>
                </a:solidFill>
                <a:latin typeface="Cambria Math" pitchFamily="34" charset="0"/>
                <a:ea typeface="Cambria Math" pitchFamily="34" charset="-122"/>
                <a:cs typeface="Cambria Math" pitchFamily="34" charset="-120"/>
              </a:rPr>
              <a:t>t</a:t>
            </a:r>
            <a:r>
              <a:rPr lang="en-US" sz="1700" i="1" dirty="0">
                <a:solidFill>
                  <a:srgbClr val="14213D"/>
                </a:solidFill>
                <a:latin typeface="Cambria Math" pitchFamily="34" charset="0"/>
                <a:ea typeface="Cambria Math" pitchFamily="34" charset="-122"/>
                <a:cs typeface="Cambria Math" pitchFamily="34" charset="-120"/>
              </a:rPr>
              <a:t> = g</a:t>
            </a:r>
            <a:r>
              <a:rPr lang="en-US" sz="1700" i="1" baseline="-40000" dirty="0">
                <a:solidFill>
                  <a:srgbClr val="14213D"/>
                </a:solidFill>
                <a:latin typeface="Cambria Math" pitchFamily="34" charset="0"/>
                <a:ea typeface="Cambria Math" pitchFamily="34" charset="-122"/>
                <a:cs typeface="Cambria Math" pitchFamily="34" charset="-120"/>
              </a:rPr>
              <a:t>k</a:t>
            </a:r>
            <a:r>
              <a:rPr lang="en-US" sz="1700" i="1" dirty="0">
                <a:solidFill>
                  <a:srgbClr val="14213D"/>
                </a:solidFill>
                <a:latin typeface="Cambria Math" pitchFamily="34" charset="0"/>
                <a:ea typeface="Cambria Math" pitchFamily="34" charset="-122"/>
                <a:cs typeface="Cambria Math" pitchFamily="34" charset="-120"/>
              </a:rPr>
              <a:t>(t)·[PQ·γ + QJL·λ]</a:t>
            </a:r>
            <a:endParaRPr lang="en-US" sz="1700" dirty="0"/>
          </a:p>
        </p:txBody>
      </p:sp>
      <p:sp>
        <p:nvSpPr>
          <p:cNvPr id="29" name="Text 27">
            <a:extLst>
              <a:ext uri="{FF2B5EF4-FFF2-40B4-BE49-F238E27FC236}">
                <a16:creationId xmlns:a16="http://schemas.microsoft.com/office/drawing/2014/main" id="{860ED0FD-C3FE-7AE8-5F1E-CA46BCE2ABEC}"/>
              </a:ext>
            </a:extLst>
          </p:cNvPr>
          <p:cNvSpPr txBox="1"/>
          <p:nvPr/>
        </p:nvSpPr>
        <p:spPr>
          <a:xfrm>
            <a:off x="8412480" y="4572000"/>
            <a:ext cx="2971800" cy="320040"/>
          </a:xfrm>
          <a:prstGeom prst="rect">
            <a:avLst/>
          </a:prstGeom>
          <a:noFill/>
          <a:ln/>
        </p:spPr>
        <p:txBody>
          <a:bodyPr wrap="square" lIns="0" tIns="0" rIns="0" bIns="0" rtlCol="0" anchor="t"/>
          <a:lstStyle/>
          <a:p>
            <a:pPr marL="0" indent="0" algn="l">
              <a:lnSpc>
                <a:spcPct val="110000"/>
              </a:lnSpc>
              <a:buNone/>
            </a:pPr>
            <a:r>
              <a:rPr lang="en-US" sz="1350" dirty="0">
                <a:solidFill>
                  <a:srgbClr val="4A5670"/>
                </a:solidFill>
                <a:latin typeface="Calibri" pitchFamily="34" charset="0"/>
                <a:ea typeface="Calibri" pitchFamily="34" charset="-122"/>
                <a:cs typeface="Calibri" pitchFamily="34" charset="-120"/>
              </a:rPr>
              <a:t>Divide by √d and normalize:</a:t>
            </a:r>
            <a:endParaRPr lang="en-US" sz="1350" dirty="0"/>
          </a:p>
        </p:txBody>
      </p:sp>
      <p:sp>
        <p:nvSpPr>
          <p:cNvPr id="30" name="Text 28">
            <a:extLst>
              <a:ext uri="{FF2B5EF4-FFF2-40B4-BE49-F238E27FC236}">
                <a16:creationId xmlns:a16="http://schemas.microsoft.com/office/drawing/2014/main" id="{E85D0366-11EB-E0A9-15C9-EB38ED1B9245}"/>
              </a:ext>
            </a:extLst>
          </p:cNvPr>
          <p:cNvSpPr txBox="1"/>
          <p:nvPr/>
        </p:nvSpPr>
        <p:spPr>
          <a:xfrm>
            <a:off x="8412480" y="4983480"/>
            <a:ext cx="2971800" cy="411480"/>
          </a:xfrm>
          <a:prstGeom prst="rect">
            <a:avLst/>
          </a:prstGeom>
          <a:noFill/>
          <a:ln/>
        </p:spPr>
        <p:txBody>
          <a:bodyPr wrap="square" lIns="0" tIns="0" rIns="0" bIns="0" rtlCol="0" anchor="t"/>
          <a:lstStyle/>
          <a:p>
            <a:pPr marL="0" indent="0" algn="l">
              <a:lnSpc>
                <a:spcPct val="110000"/>
              </a:lnSpc>
              <a:buNone/>
            </a:pPr>
            <a:r>
              <a:rPr lang="en-US" sz="1600" i="1" dirty="0">
                <a:solidFill>
                  <a:srgbClr val="14213D"/>
                </a:solidFill>
                <a:latin typeface="Cambria Math" pitchFamily="34" charset="0"/>
                <a:ea typeface="Cambria Math" pitchFamily="34" charset="-122"/>
                <a:cs typeface="Cambria Math" pitchFamily="34" charset="-120"/>
              </a:rPr>
              <a:t>α</a:t>
            </a:r>
            <a:r>
              <a:rPr lang="en-US" sz="1600" i="1" baseline="-40000" dirty="0">
                <a:solidFill>
                  <a:srgbClr val="14213D"/>
                </a:solidFill>
                <a:latin typeface="Cambria Math" pitchFamily="34" charset="0"/>
                <a:ea typeface="Cambria Math" pitchFamily="34" charset="-122"/>
                <a:cs typeface="Cambria Math" pitchFamily="34" charset="-120"/>
              </a:rPr>
              <a:t>t</a:t>
            </a:r>
            <a:r>
              <a:rPr lang="en-US" sz="1600" i="1" dirty="0">
                <a:solidFill>
                  <a:srgbClr val="14213D"/>
                </a:solidFill>
                <a:latin typeface="Cambria Math" pitchFamily="34" charset="0"/>
                <a:ea typeface="Cambria Math" pitchFamily="34" charset="-122"/>
                <a:cs typeface="Cambria Math" pitchFamily="34" charset="-120"/>
              </a:rPr>
              <a:t> = exp(S</a:t>
            </a:r>
            <a:r>
              <a:rPr lang="en-US" sz="1600" i="1" baseline="-40000" dirty="0">
                <a:solidFill>
                  <a:srgbClr val="14213D"/>
                </a:solidFill>
                <a:latin typeface="Cambria Math" pitchFamily="34" charset="0"/>
                <a:ea typeface="Cambria Math" pitchFamily="34" charset="-122"/>
                <a:cs typeface="Cambria Math" pitchFamily="34" charset="-120"/>
              </a:rPr>
              <a:t>t</a:t>
            </a:r>
            <a:r>
              <a:rPr lang="en-US" sz="1600" i="1" dirty="0">
                <a:solidFill>
                  <a:srgbClr val="14213D"/>
                </a:solidFill>
                <a:latin typeface="Cambria Math" pitchFamily="34" charset="0"/>
                <a:ea typeface="Cambria Math" pitchFamily="34" charset="-122"/>
                <a:cs typeface="Cambria Math" pitchFamily="34" charset="-120"/>
              </a:rPr>
              <a:t>/√d) / Σ</a:t>
            </a:r>
            <a:r>
              <a:rPr lang="en-US" sz="1600" i="1" baseline="-40000" dirty="0">
                <a:solidFill>
                  <a:srgbClr val="14213D"/>
                </a:solidFill>
                <a:latin typeface="Cambria Math" pitchFamily="34" charset="0"/>
                <a:ea typeface="Cambria Math" pitchFamily="34" charset="-122"/>
                <a:cs typeface="Cambria Math" pitchFamily="34" charset="-120"/>
              </a:rPr>
              <a:t>j</a:t>
            </a:r>
            <a:r>
              <a:rPr lang="en-US" sz="1600" i="1" dirty="0">
                <a:solidFill>
                  <a:srgbClr val="14213D"/>
                </a:solidFill>
                <a:latin typeface="Cambria Math" pitchFamily="34" charset="0"/>
                <a:ea typeface="Cambria Math" pitchFamily="34" charset="-122"/>
                <a:cs typeface="Cambria Math" pitchFamily="34" charset="-120"/>
              </a:rPr>
              <a:t> exp(S</a:t>
            </a:r>
            <a:r>
              <a:rPr lang="en-US" sz="1600" i="1" baseline="-40000" dirty="0">
                <a:solidFill>
                  <a:srgbClr val="14213D"/>
                </a:solidFill>
                <a:latin typeface="Cambria Math" pitchFamily="34" charset="0"/>
                <a:ea typeface="Cambria Math" pitchFamily="34" charset="-122"/>
                <a:cs typeface="Cambria Math" pitchFamily="34" charset="-120"/>
              </a:rPr>
              <a:t>j</a:t>
            </a:r>
            <a:r>
              <a:rPr lang="en-US" sz="1600" i="1" dirty="0">
                <a:solidFill>
                  <a:srgbClr val="14213D"/>
                </a:solidFill>
                <a:latin typeface="Cambria Math" pitchFamily="34" charset="0"/>
                <a:ea typeface="Cambria Math" pitchFamily="34" charset="-122"/>
                <a:cs typeface="Cambria Math" pitchFamily="34" charset="-120"/>
              </a:rPr>
              <a:t>/√d)</a:t>
            </a:r>
            <a:endParaRPr lang="en-US" sz="1600" dirty="0"/>
          </a:p>
        </p:txBody>
      </p:sp>
    </p:spTree>
    <p:extLst>
      <p:ext uri="{BB962C8B-B14F-4D97-AF65-F5344CB8AC3E}">
        <p14:creationId xmlns:p14="http://schemas.microsoft.com/office/powerpoint/2010/main" val="2469918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B7504-59E8-4475-3C3E-E3DEB8AD8EB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B40F79E-4F43-CD52-3D16-D137C4ECAB51}"/>
              </a:ext>
            </a:extLst>
          </p:cNvPr>
          <p:cNvSpPr txBox="1"/>
          <p:nvPr/>
        </p:nvSpPr>
        <p:spPr>
          <a:xfrm>
            <a:off x="548640" y="411480"/>
            <a:ext cx="11094415" cy="274320"/>
          </a:xfrm>
          <a:prstGeom prst="rect">
            <a:avLst/>
          </a:prstGeom>
          <a:noFill/>
          <a:ln/>
        </p:spPr>
        <p:txBody>
          <a:bodyPr wrap="square" lIns="0" tIns="0" rIns="0" bIns="0" rtlCol="0" anchor="t"/>
          <a:lstStyle/>
          <a:p>
            <a:pPr marL="0" indent="0" algn="l">
              <a:lnSpc>
                <a:spcPct val="110000"/>
              </a:lnSpc>
              <a:buNone/>
            </a:pPr>
            <a:r>
              <a:rPr lang="en-US" sz="1200" dirty="0">
                <a:solidFill>
                  <a:srgbClr val="4A5670"/>
                </a:solidFill>
                <a:latin typeface="Courier New" pitchFamily="34" charset="0"/>
                <a:ea typeface="Courier New" pitchFamily="34" charset="-122"/>
                <a:cs typeface="Courier New" pitchFamily="34" charset="-120"/>
              </a:rPr>
              <a:t>Phase 3 of 3 · value reconstruction</a:t>
            </a:r>
            <a:endParaRPr lang="en-US" sz="1200" dirty="0"/>
          </a:p>
        </p:txBody>
      </p:sp>
      <p:sp>
        <p:nvSpPr>
          <p:cNvPr id="3" name="Text 1">
            <a:extLst>
              <a:ext uri="{FF2B5EF4-FFF2-40B4-BE49-F238E27FC236}">
                <a16:creationId xmlns:a16="http://schemas.microsoft.com/office/drawing/2014/main" id="{B78795CA-9FCC-05B9-AB25-36AE818212BB}"/>
              </a:ext>
            </a:extLst>
          </p:cNvPr>
          <p:cNvSpPr txBox="1"/>
          <p:nvPr/>
        </p:nvSpPr>
        <p:spPr>
          <a:xfrm>
            <a:off x="548640" y="685800"/>
            <a:ext cx="11094415" cy="685800"/>
          </a:xfrm>
          <a:prstGeom prst="rect">
            <a:avLst/>
          </a:prstGeom>
          <a:noFill/>
          <a:ln/>
        </p:spPr>
        <p:txBody>
          <a:bodyPr wrap="square" lIns="0" tIns="0" rIns="0" bIns="0" rtlCol="0" anchor="t"/>
          <a:lstStyle/>
          <a:p>
            <a:pPr marL="0" indent="0" algn="l">
              <a:lnSpc>
                <a:spcPct val="110000"/>
              </a:lnSpc>
              <a:buNone/>
            </a:pPr>
            <a:r>
              <a:rPr lang="en-US" sz="3400" b="1" dirty="0">
                <a:solidFill>
                  <a:srgbClr val="14213D"/>
                </a:solidFill>
                <a:latin typeface="Cambria" pitchFamily="34" charset="0"/>
                <a:ea typeface="Cambria" pitchFamily="34" charset="-122"/>
                <a:cs typeface="Cambria" pitchFamily="34" charset="-120"/>
              </a:rPr>
              <a:t>Building the context vector</a:t>
            </a:r>
            <a:endParaRPr lang="en-US" sz="3400" dirty="0"/>
          </a:p>
        </p:txBody>
      </p:sp>
      <p:sp>
        <p:nvSpPr>
          <p:cNvPr id="4" name="Text 2">
            <a:extLst>
              <a:ext uri="{FF2B5EF4-FFF2-40B4-BE49-F238E27FC236}">
                <a16:creationId xmlns:a16="http://schemas.microsoft.com/office/drawing/2014/main" id="{C3328F8C-2B14-7BC2-A34A-E8EB743255C7}"/>
              </a:ext>
            </a:extLst>
          </p:cNvPr>
          <p:cNvSpPr txBox="1"/>
          <p:nvPr/>
        </p:nvSpPr>
        <p:spPr>
          <a:xfrm>
            <a:off x="548640" y="1371600"/>
            <a:ext cx="9601200" cy="685800"/>
          </a:xfrm>
          <a:prstGeom prst="rect">
            <a:avLst/>
          </a:prstGeom>
          <a:noFill/>
          <a:ln/>
        </p:spPr>
        <p:txBody>
          <a:bodyPr wrap="square" lIns="0" tIns="0" rIns="0" bIns="0" rtlCol="0" anchor="t"/>
          <a:lstStyle/>
          <a:p>
            <a:pPr marL="0" indent="0" algn="l">
              <a:lnSpc>
                <a:spcPct val="120000"/>
              </a:lnSpc>
              <a:buNone/>
            </a:pPr>
            <a:r>
              <a:rPr lang="en-US" sz="1500" dirty="0">
                <a:solidFill>
                  <a:srgbClr val="4A5670"/>
                </a:solidFill>
                <a:latin typeface="Calibri" pitchFamily="34" charset="0"/>
                <a:ea typeface="Calibri" pitchFamily="34" charset="-122"/>
                <a:cs typeface="Calibri" pitchFamily="34" charset="-120"/>
              </a:rPr>
              <a:t>Per head: Context</a:t>
            </a:r>
            <a:r>
              <a:rPr lang="en-US" sz="1500" baseline="-40000" dirty="0">
                <a:solidFill>
                  <a:srgbClr val="4A5670"/>
                </a:solidFill>
                <a:latin typeface="Calibri" pitchFamily="34" charset="0"/>
                <a:ea typeface="Calibri" pitchFamily="34" charset="-122"/>
                <a:cs typeface="Calibri" pitchFamily="34" charset="-120"/>
              </a:rPr>
              <a:t>h</a:t>
            </a:r>
            <a:r>
              <a:rPr lang="en-US" sz="1500" dirty="0">
                <a:solidFill>
                  <a:srgbClr val="4A5670"/>
                </a:solidFill>
                <a:latin typeface="Calibri" pitchFamily="34" charset="0"/>
                <a:ea typeface="Calibri" pitchFamily="34" charset="-122"/>
                <a:cs typeface="Calibri" pitchFamily="34" charset="-120"/>
              </a:rPr>
              <a:t> = Σ</a:t>
            </a:r>
            <a:r>
              <a:rPr lang="en-US" sz="1500" baseline="-40000" dirty="0">
                <a:solidFill>
                  <a:srgbClr val="4A5670"/>
                </a:solidFill>
                <a:latin typeface="Calibri" pitchFamily="34" charset="0"/>
                <a:ea typeface="Calibri" pitchFamily="34" charset="-122"/>
                <a:cs typeface="Calibri" pitchFamily="34" charset="-120"/>
              </a:rPr>
              <a:t>t</a:t>
            </a:r>
            <a:r>
              <a:rPr lang="en-US" sz="1500" dirty="0">
                <a:solidFill>
                  <a:srgbClr val="4A5670"/>
                </a:solidFill>
                <a:latin typeface="Calibri" pitchFamily="34" charset="0"/>
                <a:ea typeface="Calibri" pitchFamily="34" charset="-122"/>
                <a:cs typeface="Calibri" pitchFamily="34" charset="-120"/>
              </a:rPr>
              <a:t> α</a:t>
            </a:r>
            <a:r>
              <a:rPr lang="en-US" sz="1500" baseline="-40000" dirty="0">
                <a:solidFill>
                  <a:srgbClr val="4A5670"/>
                </a:solidFill>
                <a:latin typeface="Calibri" pitchFamily="34" charset="0"/>
                <a:ea typeface="Calibri" pitchFamily="34" charset="-122"/>
                <a:cs typeface="Calibri" pitchFamily="34" charset="-120"/>
              </a:rPr>
              <a:t>t</a:t>
            </a:r>
            <a:r>
              <a:rPr lang="en-US" sz="1500" dirty="0">
                <a:solidFill>
                  <a:srgbClr val="4A5670"/>
                </a:solidFill>
                <a:latin typeface="Calibri" pitchFamily="34" charset="0"/>
                <a:ea typeface="Calibri" pitchFamily="34" charset="-122"/>
                <a:cs typeface="Calibri" pitchFamily="34" charset="-120"/>
              </a:rPr>
              <a:t> · V</a:t>
            </a:r>
            <a:r>
              <a:rPr lang="en-US" sz="1500" baseline="-40000" dirty="0">
                <a:solidFill>
                  <a:srgbClr val="4A5670"/>
                </a:solidFill>
                <a:latin typeface="Calibri" pitchFamily="34" charset="0"/>
                <a:ea typeface="Calibri" pitchFamily="34" charset="-122"/>
                <a:cs typeface="Calibri" pitchFamily="34" charset="-120"/>
              </a:rPr>
              <a:t>t</a:t>
            </a:r>
            <a:r>
              <a:rPr lang="en-US" sz="1500" dirty="0">
                <a:solidFill>
                  <a:srgbClr val="4A5670"/>
                </a:solidFill>
                <a:latin typeface="Calibri" pitchFamily="34" charset="0"/>
                <a:ea typeface="Calibri" pitchFamily="34" charset="-122"/>
                <a:cs typeface="Calibri" pitchFamily="34" charset="-120"/>
              </a:rPr>
              <a:t>, accumulated straight from 3-bit value indices.</a:t>
            </a:r>
            <a:endParaRPr lang="en-US" sz="1500" dirty="0"/>
          </a:p>
        </p:txBody>
      </p:sp>
      <p:sp>
        <p:nvSpPr>
          <p:cNvPr id="5" name="Shape 3">
            <a:extLst>
              <a:ext uri="{FF2B5EF4-FFF2-40B4-BE49-F238E27FC236}">
                <a16:creationId xmlns:a16="http://schemas.microsoft.com/office/drawing/2014/main" id="{B89F3AB5-B1BB-11D4-DDCD-3AE72D1E345E}"/>
              </a:ext>
            </a:extLst>
          </p:cNvPr>
          <p:cNvSpPr/>
          <p:nvPr/>
        </p:nvSpPr>
        <p:spPr>
          <a:xfrm>
            <a:off x="548640" y="2194560"/>
            <a:ext cx="2578608" cy="3017520"/>
          </a:xfrm>
          <a:prstGeom prst="roundRect">
            <a:avLst>
              <a:gd name="adj" fmla="val 2128"/>
            </a:avLst>
          </a:prstGeom>
          <a:solidFill>
            <a:srgbClr val="E8E5F6"/>
          </a:solidFill>
          <a:ln w="12700">
            <a:solidFill>
              <a:srgbClr val="E8E5F6"/>
            </a:solidFill>
            <a:prstDash val="solid"/>
          </a:ln>
        </p:spPr>
        <p:txBody>
          <a:bodyPr/>
          <a:lstStyle/>
          <a:p>
            <a:endParaRPr lang="en-IL"/>
          </a:p>
        </p:txBody>
      </p:sp>
      <p:sp>
        <p:nvSpPr>
          <p:cNvPr id="6" name="Text 4">
            <a:extLst>
              <a:ext uri="{FF2B5EF4-FFF2-40B4-BE49-F238E27FC236}">
                <a16:creationId xmlns:a16="http://schemas.microsoft.com/office/drawing/2014/main" id="{304A8F61-F1B6-ADC1-30FD-ED2FD23C8DB5}"/>
              </a:ext>
            </a:extLst>
          </p:cNvPr>
          <p:cNvSpPr txBox="1"/>
          <p:nvPr/>
        </p:nvSpPr>
        <p:spPr>
          <a:xfrm>
            <a:off x="777240" y="2423160"/>
            <a:ext cx="2121408" cy="256032"/>
          </a:xfrm>
          <a:prstGeom prst="rect">
            <a:avLst/>
          </a:prstGeom>
          <a:noFill/>
          <a:ln/>
        </p:spPr>
        <p:txBody>
          <a:bodyPr wrap="square" lIns="0" tIns="0" rIns="0" bIns="0" rtlCol="0" anchor="t"/>
          <a:lstStyle/>
          <a:p>
            <a:pPr marL="0" indent="0" algn="l">
              <a:lnSpc>
                <a:spcPct val="110000"/>
              </a:lnSpc>
              <a:buNone/>
            </a:pPr>
            <a:r>
              <a:rPr lang="en-US" sz="1200" b="1" dirty="0">
                <a:solidFill>
                  <a:srgbClr val="5B4BA8"/>
                </a:solidFill>
                <a:latin typeface="Courier New" pitchFamily="34" charset="0"/>
                <a:ea typeface="Courier New" pitchFamily="34" charset="-122"/>
                <a:cs typeface="Courier New" pitchFamily="34" charset="-120"/>
              </a:rPr>
              <a:t>1 · init</a:t>
            </a:r>
            <a:endParaRPr lang="en-US" sz="1200" dirty="0"/>
          </a:p>
        </p:txBody>
      </p:sp>
      <p:sp>
        <p:nvSpPr>
          <p:cNvPr id="7" name="Text 5">
            <a:extLst>
              <a:ext uri="{FF2B5EF4-FFF2-40B4-BE49-F238E27FC236}">
                <a16:creationId xmlns:a16="http://schemas.microsoft.com/office/drawing/2014/main" id="{F890CC50-484C-C7C8-311E-7EFA6DBFECC7}"/>
              </a:ext>
            </a:extLst>
          </p:cNvPr>
          <p:cNvSpPr txBox="1"/>
          <p:nvPr/>
        </p:nvSpPr>
        <p:spPr>
          <a:xfrm>
            <a:off x="777240" y="2724912"/>
            <a:ext cx="2121408" cy="365760"/>
          </a:xfrm>
          <a:prstGeom prst="rect">
            <a:avLst/>
          </a:prstGeom>
          <a:noFill/>
          <a:ln/>
        </p:spPr>
        <p:txBody>
          <a:bodyPr wrap="square" lIns="0" tIns="0" rIns="0" bIns="0" rtlCol="0" anchor="t"/>
          <a:lstStyle/>
          <a:p>
            <a:pPr marL="0" indent="0" algn="l">
              <a:lnSpc>
                <a:spcPct val="110000"/>
              </a:lnSpc>
              <a:buNone/>
            </a:pPr>
            <a:r>
              <a:rPr lang="en-US" sz="1800" b="1" dirty="0">
                <a:solidFill>
                  <a:srgbClr val="14213D"/>
                </a:solidFill>
                <a:latin typeface="Cambria" pitchFamily="34" charset="0"/>
                <a:ea typeface="Cambria" pitchFamily="34" charset="-122"/>
                <a:cs typeface="Cambria" pitchFamily="34" charset="-120"/>
              </a:rPr>
              <a:t>Clear accumulator</a:t>
            </a:r>
            <a:endParaRPr lang="en-US" sz="1800" dirty="0"/>
          </a:p>
        </p:txBody>
      </p:sp>
      <p:sp>
        <p:nvSpPr>
          <p:cNvPr id="8" name="Text 6">
            <a:extLst>
              <a:ext uri="{FF2B5EF4-FFF2-40B4-BE49-F238E27FC236}">
                <a16:creationId xmlns:a16="http://schemas.microsoft.com/office/drawing/2014/main" id="{13F2B6CE-A712-9600-AF11-67F15D1809F7}"/>
              </a:ext>
            </a:extLst>
          </p:cNvPr>
          <p:cNvSpPr txBox="1"/>
          <p:nvPr/>
        </p:nvSpPr>
        <p:spPr>
          <a:xfrm>
            <a:off x="777240" y="3154680"/>
            <a:ext cx="2121408" cy="1920240"/>
          </a:xfrm>
          <a:prstGeom prst="rect">
            <a:avLst/>
          </a:prstGeom>
          <a:noFill/>
          <a:ln/>
        </p:spPr>
        <p:txBody>
          <a:bodyPr wrap="square" lIns="0" tIns="0" rIns="0" bIns="0" rtlCol="0" anchor="t"/>
          <a:lstStyle/>
          <a:p>
            <a:pPr marL="0" indent="0" algn="l">
              <a:lnSpc>
                <a:spcPct val="120000"/>
              </a:lnSpc>
              <a:buNone/>
            </a:pPr>
            <a:r>
              <a:rPr lang="en-US" sz="1300" dirty="0">
                <a:solidFill>
                  <a:srgbClr val="4A5670"/>
                </a:solidFill>
                <a:latin typeface="Calibri" pitchFamily="34" charset="0"/>
                <a:ea typeface="Calibri" pitchFamily="34" charset="-122"/>
                <a:cs typeface="Calibri" pitchFamily="34" charset="-120"/>
              </a:rPr>
              <a:t>TQ_VACC_CLR sets the 64-bit simd64 register in the custom register file to zero.</a:t>
            </a:r>
            <a:endParaRPr lang="en-US" sz="1300" dirty="0"/>
          </a:p>
        </p:txBody>
      </p:sp>
      <p:sp>
        <p:nvSpPr>
          <p:cNvPr id="9" name="Shape 7">
            <a:extLst>
              <a:ext uri="{FF2B5EF4-FFF2-40B4-BE49-F238E27FC236}">
                <a16:creationId xmlns:a16="http://schemas.microsoft.com/office/drawing/2014/main" id="{FA01449A-1EA1-96EF-4554-50008534C6E6}"/>
              </a:ext>
            </a:extLst>
          </p:cNvPr>
          <p:cNvSpPr/>
          <p:nvPr/>
        </p:nvSpPr>
        <p:spPr>
          <a:xfrm>
            <a:off x="3346704" y="2194560"/>
            <a:ext cx="2578608" cy="3017520"/>
          </a:xfrm>
          <a:prstGeom prst="roundRect">
            <a:avLst>
              <a:gd name="adj" fmla="val 2128"/>
            </a:avLst>
          </a:prstGeom>
          <a:solidFill>
            <a:srgbClr val="E8E5F6"/>
          </a:solidFill>
          <a:ln w="12700">
            <a:solidFill>
              <a:srgbClr val="E8E5F6"/>
            </a:solidFill>
            <a:prstDash val="solid"/>
          </a:ln>
        </p:spPr>
        <p:txBody>
          <a:bodyPr/>
          <a:lstStyle/>
          <a:p>
            <a:endParaRPr lang="en-IL"/>
          </a:p>
        </p:txBody>
      </p:sp>
      <p:sp>
        <p:nvSpPr>
          <p:cNvPr id="10" name="Text 8">
            <a:extLst>
              <a:ext uri="{FF2B5EF4-FFF2-40B4-BE49-F238E27FC236}">
                <a16:creationId xmlns:a16="http://schemas.microsoft.com/office/drawing/2014/main" id="{B09A66F9-6E3B-5987-3F8A-BC1BBF9E7DA8}"/>
              </a:ext>
            </a:extLst>
          </p:cNvPr>
          <p:cNvSpPr txBox="1"/>
          <p:nvPr/>
        </p:nvSpPr>
        <p:spPr>
          <a:xfrm>
            <a:off x="3575304" y="2423160"/>
            <a:ext cx="2121408" cy="256032"/>
          </a:xfrm>
          <a:prstGeom prst="rect">
            <a:avLst/>
          </a:prstGeom>
          <a:noFill/>
          <a:ln/>
        </p:spPr>
        <p:txBody>
          <a:bodyPr wrap="square" lIns="0" tIns="0" rIns="0" bIns="0" rtlCol="0" anchor="t"/>
          <a:lstStyle/>
          <a:p>
            <a:pPr marL="0" indent="0" algn="l">
              <a:lnSpc>
                <a:spcPct val="110000"/>
              </a:lnSpc>
              <a:buNone/>
            </a:pPr>
            <a:r>
              <a:rPr lang="en-US" sz="1200" b="1" dirty="0">
                <a:solidFill>
                  <a:srgbClr val="5B4BA8"/>
                </a:solidFill>
                <a:latin typeface="Courier New" pitchFamily="34" charset="0"/>
                <a:ea typeface="Courier New" pitchFamily="34" charset="-122"/>
                <a:cs typeface="Courier New" pitchFamily="34" charset="-120"/>
              </a:rPr>
              <a:t>2 · loop over t</a:t>
            </a:r>
            <a:endParaRPr lang="en-US" sz="1200" dirty="0"/>
          </a:p>
        </p:txBody>
      </p:sp>
      <p:sp>
        <p:nvSpPr>
          <p:cNvPr id="11" name="Text 9">
            <a:extLst>
              <a:ext uri="{FF2B5EF4-FFF2-40B4-BE49-F238E27FC236}">
                <a16:creationId xmlns:a16="http://schemas.microsoft.com/office/drawing/2014/main" id="{C02C2FCF-749A-417D-2C93-8F6BF46A7DD8}"/>
              </a:ext>
            </a:extLst>
          </p:cNvPr>
          <p:cNvSpPr txBox="1"/>
          <p:nvPr/>
        </p:nvSpPr>
        <p:spPr>
          <a:xfrm>
            <a:off x="3575304" y="2724912"/>
            <a:ext cx="2121408" cy="365760"/>
          </a:xfrm>
          <a:prstGeom prst="rect">
            <a:avLst/>
          </a:prstGeom>
          <a:noFill/>
          <a:ln/>
        </p:spPr>
        <p:txBody>
          <a:bodyPr wrap="square" lIns="0" tIns="0" rIns="0" bIns="0" rtlCol="0" anchor="t"/>
          <a:lstStyle/>
          <a:p>
            <a:pPr marL="0" indent="0" algn="l">
              <a:lnSpc>
                <a:spcPct val="110000"/>
              </a:lnSpc>
              <a:buNone/>
            </a:pPr>
            <a:r>
              <a:rPr lang="en-US" sz="1800" b="1" dirty="0">
                <a:solidFill>
                  <a:srgbClr val="14213D"/>
                </a:solidFill>
                <a:latin typeface="Cambria" pitchFamily="34" charset="0"/>
                <a:ea typeface="Cambria" pitchFamily="34" charset="-122"/>
                <a:cs typeface="Cambria" pitchFamily="34" charset="-120"/>
              </a:rPr>
              <a:t>Accumulate</a:t>
            </a:r>
            <a:endParaRPr lang="en-US" sz="1800" dirty="0"/>
          </a:p>
        </p:txBody>
      </p:sp>
      <p:sp>
        <p:nvSpPr>
          <p:cNvPr id="12" name="Text 10">
            <a:extLst>
              <a:ext uri="{FF2B5EF4-FFF2-40B4-BE49-F238E27FC236}">
                <a16:creationId xmlns:a16="http://schemas.microsoft.com/office/drawing/2014/main" id="{E34494BC-C524-7A65-906F-B8331F67A9FE}"/>
              </a:ext>
            </a:extLst>
          </p:cNvPr>
          <p:cNvSpPr txBox="1"/>
          <p:nvPr/>
        </p:nvSpPr>
        <p:spPr>
          <a:xfrm>
            <a:off x="3575304" y="3154680"/>
            <a:ext cx="2121408" cy="1920240"/>
          </a:xfrm>
          <a:prstGeom prst="rect">
            <a:avLst/>
          </a:prstGeom>
          <a:noFill/>
          <a:ln/>
        </p:spPr>
        <p:txBody>
          <a:bodyPr wrap="square" lIns="0" tIns="0" rIns="0" bIns="0" rtlCol="0" anchor="t"/>
          <a:lstStyle/>
          <a:p>
            <a:pPr marL="0" indent="0" algn="l">
              <a:lnSpc>
                <a:spcPct val="120000"/>
              </a:lnSpc>
              <a:buNone/>
            </a:pPr>
            <a:r>
              <a:rPr lang="en-US" sz="1300" dirty="0">
                <a:solidFill>
                  <a:srgbClr val="4A5670"/>
                </a:solidFill>
                <a:latin typeface="Calibri" pitchFamily="34" charset="0"/>
                <a:ea typeface="Calibri" pitchFamily="34" charset="-122"/>
                <a:cs typeface="Calibri" pitchFamily="34" charset="-120"/>
              </a:rPr>
              <a:t>Load α</a:t>
            </a:r>
            <a:r>
              <a:rPr lang="en-US" sz="1300" baseline="-40000" dirty="0">
                <a:solidFill>
                  <a:srgbClr val="4A5670"/>
                </a:solidFill>
                <a:latin typeface="Calibri" pitchFamily="34" charset="0"/>
                <a:ea typeface="Calibri" pitchFamily="34" charset="-122"/>
                <a:cs typeface="Calibri" pitchFamily="34" charset="-120"/>
              </a:rPr>
              <a:t>t</a:t>
            </a:r>
            <a:r>
              <a:rPr lang="en-US" sz="1300" dirty="0">
                <a:solidFill>
                  <a:srgbClr val="4A5670"/>
                </a:solidFill>
                <a:latin typeface="Calibri" pitchFamily="34" charset="0"/>
                <a:ea typeface="Calibri" pitchFamily="34" charset="-122"/>
                <a:cs typeface="Calibri" pitchFamily="34" charset="-120"/>
              </a:rPr>
              <a:t> in Q15. TQ_SCALEACC2 takes two 3-bit value indices, recovers 16-bit centroids from ROM, multiplies each by α</a:t>
            </a:r>
            <a:r>
              <a:rPr lang="en-US" sz="1300" baseline="-40000" dirty="0">
                <a:solidFill>
                  <a:srgbClr val="4A5670"/>
                </a:solidFill>
                <a:latin typeface="Calibri" pitchFamily="34" charset="0"/>
                <a:ea typeface="Calibri" pitchFamily="34" charset="-122"/>
                <a:cs typeface="Calibri" pitchFamily="34" charset="-120"/>
              </a:rPr>
              <a:t>t</a:t>
            </a:r>
            <a:r>
              <a:rPr lang="en-US" sz="1300" dirty="0">
                <a:solidFill>
                  <a:srgbClr val="4A5670"/>
                </a:solidFill>
                <a:latin typeface="Calibri" pitchFamily="34" charset="0"/>
                <a:ea typeface="Calibri" pitchFamily="34" charset="-122"/>
                <a:cs typeface="Calibri" pitchFamily="34" charset="-120"/>
              </a:rPr>
              <a:t> with rounding, and adds into two 32-bit lanes.</a:t>
            </a:r>
            <a:endParaRPr lang="en-US" sz="1300" dirty="0"/>
          </a:p>
        </p:txBody>
      </p:sp>
      <p:sp>
        <p:nvSpPr>
          <p:cNvPr id="13" name="Shape 11">
            <a:extLst>
              <a:ext uri="{FF2B5EF4-FFF2-40B4-BE49-F238E27FC236}">
                <a16:creationId xmlns:a16="http://schemas.microsoft.com/office/drawing/2014/main" id="{405FBCCA-467E-AF75-603D-4B77317C4896}"/>
              </a:ext>
            </a:extLst>
          </p:cNvPr>
          <p:cNvSpPr/>
          <p:nvPr/>
        </p:nvSpPr>
        <p:spPr>
          <a:xfrm>
            <a:off x="6144768" y="2194560"/>
            <a:ext cx="2578608" cy="3017520"/>
          </a:xfrm>
          <a:prstGeom prst="roundRect">
            <a:avLst>
              <a:gd name="adj" fmla="val 2128"/>
            </a:avLst>
          </a:prstGeom>
          <a:solidFill>
            <a:srgbClr val="E8E5F6"/>
          </a:solidFill>
          <a:ln w="12700">
            <a:solidFill>
              <a:srgbClr val="E8E5F6"/>
            </a:solidFill>
            <a:prstDash val="solid"/>
          </a:ln>
        </p:spPr>
        <p:txBody>
          <a:bodyPr/>
          <a:lstStyle/>
          <a:p>
            <a:endParaRPr lang="en-IL"/>
          </a:p>
        </p:txBody>
      </p:sp>
      <p:sp>
        <p:nvSpPr>
          <p:cNvPr id="14" name="Text 12">
            <a:extLst>
              <a:ext uri="{FF2B5EF4-FFF2-40B4-BE49-F238E27FC236}">
                <a16:creationId xmlns:a16="http://schemas.microsoft.com/office/drawing/2014/main" id="{48E9AC02-E034-F577-E6DD-CBDAF68F2657}"/>
              </a:ext>
            </a:extLst>
          </p:cNvPr>
          <p:cNvSpPr txBox="1"/>
          <p:nvPr/>
        </p:nvSpPr>
        <p:spPr>
          <a:xfrm>
            <a:off x="6373368" y="2423160"/>
            <a:ext cx="2121408" cy="256032"/>
          </a:xfrm>
          <a:prstGeom prst="rect">
            <a:avLst/>
          </a:prstGeom>
          <a:noFill/>
          <a:ln/>
        </p:spPr>
        <p:txBody>
          <a:bodyPr wrap="square" lIns="0" tIns="0" rIns="0" bIns="0" rtlCol="0" anchor="t"/>
          <a:lstStyle/>
          <a:p>
            <a:pPr marL="0" indent="0" algn="l">
              <a:lnSpc>
                <a:spcPct val="110000"/>
              </a:lnSpc>
              <a:buNone/>
            </a:pPr>
            <a:r>
              <a:rPr lang="en-US" sz="1200" b="1" dirty="0">
                <a:solidFill>
                  <a:srgbClr val="5B4BA8"/>
                </a:solidFill>
                <a:latin typeface="Courier New" pitchFamily="34" charset="0"/>
                <a:ea typeface="Courier New" pitchFamily="34" charset="-122"/>
                <a:cs typeface="Courier New" pitchFamily="34" charset="-120"/>
              </a:rPr>
              <a:t>3 · extract</a:t>
            </a:r>
            <a:endParaRPr lang="en-US" sz="1200" dirty="0"/>
          </a:p>
        </p:txBody>
      </p:sp>
      <p:sp>
        <p:nvSpPr>
          <p:cNvPr id="15" name="Text 13">
            <a:extLst>
              <a:ext uri="{FF2B5EF4-FFF2-40B4-BE49-F238E27FC236}">
                <a16:creationId xmlns:a16="http://schemas.microsoft.com/office/drawing/2014/main" id="{963718CC-253E-93F1-2BE3-3D9603953490}"/>
              </a:ext>
            </a:extLst>
          </p:cNvPr>
          <p:cNvSpPr txBox="1"/>
          <p:nvPr/>
        </p:nvSpPr>
        <p:spPr>
          <a:xfrm>
            <a:off x="6373368" y="2724912"/>
            <a:ext cx="2121408" cy="365760"/>
          </a:xfrm>
          <a:prstGeom prst="rect">
            <a:avLst/>
          </a:prstGeom>
          <a:noFill/>
          <a:ln/>
        </p:spPr>
        <p:txBody>
          <a:bodyPr wrap="square" lIns="0" tIns="0" rIns="0" bIns="0" rtlCol="0" anchor="t"/>
          <a:lstStyle/>
          <a:p>
            <a:pPr marL="0" indent="0" algn="l">
              <a:lnSpc>
                <a:spcPct val="110000"/>
              </a:lnSpc>
              <a:buNone/>
            </a:pPr>
            <a:r>
              <a:rPr lang="en-US" sz="1800" b="1" dirty="0">
                <a:solidFill>
                  <a:srgbClr val="14213D"/>
                </a:solidFill>
                <a:latin typeface="Cambria" pitchFamily="34" charset="0"/>
                <a:ea typeface="Cambria" pitchFamily="34" charset="-122"/>
                <a:cs typeface="Cambria" pitchFamily="34" charset="-120"/>
              </a:rPr>
              <a:t>Read lanes</a:t>
            </a:r>
            <a:endParaRPr lang="en-US" sz="1800" dirty="0"/>
          </a:p>
        </p:txBody>
      </p:sp>
      <p:sp>
        <p:nvSpPr>
          <p:cNvPr id="16" name="Text 14">
            <a:extLst>
              <a:ext uri="{FF2B5EF4-FFF2-40B4-BE49-F238E27FC236}">
                <a16:creationId xmlns:a16="http://schemas.microsoft.com/office/drawing/2014/main" id="{0DFBEC81-7DAE-3D49-7BAF-4AA18E6B2969}"/>
              </a:ext>
            </a:extLst>
          </p:cNvPr>
          <p:cNvSpPr txBox="1"/>
          <p:nvPr/>
        </p:nvSpPr>
        <p:spPr>
          <a:xfrm>
            <a:off x="6373368" y="3154680"/>
            <a:ext cx="2121408" cy="1920240"/>
          </a:xfrm>
          <a:prstGeom prst="rect">
            <a:avLst/>
          </a:prstGeom>
          <a:noFill/>
          <a:ln/>
        </p:spPr>
        <p:txBody>
          <a:bodyPr wrap="square" lIns="0" tIns="0" rIns="0" bIns="0" rtlCol="0" anchor="t"/>
          <a:lstStyle/>
          <a:p>
            <a:pPr marL="0" indent="0" algn="l">
              <a:lnSpc>
                <a:spcPct val="120000"/>
              </a:lnSpc>
              <a:buNone/>
            </a:pPr>
            <a:r>
              <a:rPr lang="en-US" sz="1300" dirty="0">
                <a:solidFill>
                  <a:srgbClr val="4A5670"/>
                </a:solidFill>
                <a:latin typeface="Calibri" pitchFamily="34" charset="0"/>
                <a:ea typeface="Calibri" pitchFamily="34" charset="-122"/>
                <a:cs typeface="Calibri" pitchFamily="34" charset="-120"/>
              </a:rPr>
              <a:t>TQ_VACC_RD0 reads lane 0 and TQ_VACC_RD1 reads lane 1 into general-purpose registers. Multiply by g</a:t>
            </a:r>
            <a:r>
              <a:rPr lang="en-US" sz="1300" baseline="-40000" dirty="0">
                <a:solidFill>
                  <a:srgbClr val="4A5670"/>
                </a:solidFill>
                <a:latin typeface="Calibri" pitchFamily="34" charset="0"/>
                <a:ea typeface="Calibri" pitchFamily="34" charset="-122"/>
                <a:cs typeface="Calibri" pitchFamily="34" charset="-120"/>
              </a:rPr>
              <a:t>v</a:t>
            </a:r>
            <a:r>
              <a:rPr lang="en-US" sz="1300" dirty="0">
                <a:solidFill>
                  <a:srgbClr val="4A5670"/>
                </a:solidFill>
                <a:latin typeface="Calibri" pitchFamily="34" charset="0"/>
                <a:ea typeface="Calibri" pitchFamily="34" charset="-122"/>
                <a:cs typeface="Calibri" pitchFamily="34" charset="-120"/>
              </a:rPr>
              <a:t>(t) and write to the context buffer.</a:t>
            </a:r>
            <a:endParaRPr lang="en-US" sz="1300" dirty="0"/>
          </a:p>
        </p:txBody>
      </p:sp>
      <p:sp>
        <p:nvSpPr>
          <p:cNvPr id="17" name="Shape 15">
            <a:extLst>
              <a:ext uri="{FF2B5EF4-FFF2-40B4-BE49-F238E27FC236}">
                <a16:creationId xmlns:a16="http://schemas.microsoft.com/office/drawing/2014/main" id="{F6B06257-D0F4-3102-112F-79C739EFD30A}"/>
              </a:ext>
            </a:extLst>
          </p:cNvPr>
          <p:cNvSpPr/>
          <p:nvPr/>
        </p:nvSpPr>
        <p:spPr>
          <a:xfrm>
            <a:off x="8942832" y="2194560"/>
            <a:ext cx="2578608" cy="3017520"/>
          </a:xfrm>
          <a:prstGeom prst="roundRect">
            <a:avLst>
              <a:gd name="adj" fmla="val 2128"/>
            </a:avLst>
          </a:prstGeom>
          <a:solidFill>
            <a:srgbClr val="FFFFFF"/>
          </a:solidFill>
          <a:ln w="12700">
            <a:solidFill>
              <a:srgbClr val="C9D1DC"/>
            </a:solidFill>
            <a:prstDash val="solid"/>
          </a:ln>
        </p:spPr>
        <p:txBody>
          <a:bodyPr/>
          <a:lstStyle/>
          <a:p>
            <a:endParaRPr lang="en-IL"/>
          </a:p>
        </p:txBody>
      </p:sp>
      <p:sp>
        <p:nvSpPr>
          <p:cNvPr id="18" name="Text 16">
            <a:extLst>
              <a:ext uri="{FF2B5EF4-FFF2-40B4-BE49-F238E27FC236}">
                <a16:creationId xmlns:a16="http://schemas.microsoft.com/office/drawing/2014/main" id="{0837B8D9-9638-6059-62CA-56FD728AF11A}"/>
              </a:ext>
            </a:extLst>
          </p:cNvPr>
          <p:cNvSpPr txBox="1"/>
          <p:nvPr/>
        </p:nvSpPr>
        <p:spPr>
          <a:xfrm>
            <a:off x="9171432" y="2423160"/>
            <a:ext cx="2121408" cy="256032"/>
          </a:xfrm>
          <a:prstGeom prst="rect">
            <a:avLst/>
          </a:prstGeom>
          <a:noFill/>
          <a:ln/>
        </p:spPr>
        <p:txBody>
          <a:bodyPr wrap="square" lIns="0" tIns="0" rIns="0" bIns="0" rtlCol="0" anchor="t"/>
          <a:lstStyle/>
          <a:p>
            <a:pPr marL="0" indent="0" algn="l">
              <a:lnSpc>
                <a:spcPct val="110000"/>
              </a:lnSpc>
              <a:buNone/>
            </a:pPr>
            <a:r>
              <a:rPr lang="en-US" sz="1200" b="1" dirty="0">
                <a:solidFill>
                  <a:srgbClr val="14213D"/>
                </a:solidFill>
                <a:latin typeface="Courier New" pitchFamily="34" charset="0"/>
                <a:ea typeface="Courier New" pitchFamily="34" charset="-122"/>
                <a:cs typeface="Courier New" pitchFamily="34" charset="-120"/>
              </a:rPr>
              <a:t>4 · output</a:t>
            </a:r>
            <a:endParaRPr lang="en-US" sz="1200" dirty="0"/>
          </a:p>
        </p:txBody>
      </p:sp>
      <p:sp>
        <p:nvSpPr>
          <p:cNvPr id="19" name="Text 17">
            <a:extLst>
              <a:ext uri="{FF2B5EF4-FFF2-40B4-BE49-F238E27FC236}">
                <a16:creationId xmlns:a16="http://schemas.microsoft.com/office/drawing/2014/main" id="{B2E9CF7B-4D58-792D-A1CD-77E6B0D79960}"/>
              </a:ext>
            </a:extLst>
          </p:cNvPr>
          <p:cNvSpPr txBox="1"/>
          <p:nvPr/>
        </p:nvSpPr>
        <p:spPr>
          <a:xfrm>
            <a:off x="9171432" y="2724912"/>
            <a:ext cx="2121408" cy="365760"/>
          </a:xfrm>
          <a:prstGeom prst="rect">
            <a:avLst/>
          </a:prstGeom>
          <a:noFill/>
          <a:ln/>
        </p:spPr>
        <p:txBody>
          <a:bodyPr wrap="square" lIns="0" tIns="0" rIns="0" bIns="0" rtlCol="0" anchor="t"/>
          <a:lstStyle/>
          <a:p>
            <a:pPr marL="0" indent="0" algn="l">
              <a:lnSpc>
                <a:spcPct val="110000"/>
              </a:lnSpc>
              <a:buNone/>
            </a:pPr>
            <a:r>
              <a:rPr lang="en-US" sz="1800" b="1" dirty="0">
                <a:solidFill>
                  <a:srgbClr val="14213D"/>
                </a:solidFill>
                <a:latin typeface="Cambria" pitchFamily="34" charset="0"/>
                <a:ea typeface="Cambria" pitchFamily="34" charset="-122"/>
                <a:cs typeface="Cambria" pitchFamily="34" charset="-120"/>
              </a:rPr>
              <a:t>Merge heads</a:t>
            </a:r>
            <a:endParaRPr lang="en-US" sz="1800" dirty="0"/>
          </a:p>
        </p:txBody>
      </p:sp>
      <p:sp>
        <p:nvSpPr>
          <p:cNvPr id="20" name="Text 18">
            <a:extLst>
              <a:ext uri="{FF2B5EF4-FFF2-40B4-BE49-F238E27FC236}">
                <a16:creationId xmlns:a16="http://schemas.microsoft.com/office/drawing/2014/main" id="{A0613C56-2495-BD53-B184-FDA4426725DD}"/>
              </a:ext>
            </a:extLst>
          </p:cNvPr>
          <p:cNvSpPr txBox="1"/>
          <p:nvPr/>
        </p:nvSpPr>
        <p:spPr>
          <a:xfrm>
            <a:off x="9171432" y="3154680"/>
            <a:ext cx="2121408" cy="1920240"/>
          </a:xfrm>
          <a:prstGeom prst="rect">
            <a:avLst/>
          </a:prstGeom>
          <a:noFill/>
          <a:ln/>
        </p:spPr>
        <p:txBody>
          <a:bodyPr wrap="square" lIns="0" tIns="0" rIns="0" bIns="0" rtlCol="0" anchor="t"/>
          <a:lstStyle/>
          <a:p>
            <a:pPr marL="0" indent="0" algn="l">
              <a:lnSpc>
                <a:spcPct val="120000"/>
              </a:lnSpc>
              <a:buNone/>
            </a:pPr>
            <a:r>
              <a:rPr lang="en-US" sz="1300" dirty="0">
                <a:solidFill>
                  <a:srgbClr val="4A5670"/>
                </a:solidFill>
                <a:latin typeface="Calibri" pitchFamily="34" charset="0"/>
                <a:ea typeface="Calibri" pitchFamily="34" charset="-122"/>
                <a:cs typeface="Calibri" pitchFamily="34" charset="-120"/>
              </a:rPr>
              <a:t>Concatenate all 6 heads into Attn</a:t>
            </a:r>
            <a:r>
              <a:rPr lang="en-US" sz="1300" baseline="-40000" dirty="0">
                <a:solidFill>
                  <a:srgbClr val="4A5670"/>
                </a:solidFill>
                <a:latin typeface="Calibri" pitchFamily="34" charset="0"/>
                <a:ea typeface="Calibri" pitchFamily="34" charset="-122"/>
                <a:cs typeface="Calibri" pitchFamily="34" charset="-120"/>
              </a:rPr>
              <a:t>out</a:t>
            </a:r>
            <a:r>
              <a:rPr lang="en-US" sz="1300" dirty="0">
                <a:solidFill>
                  <a:srgbClr val="4A5670"/>
                </a:solidFill>
                <a:latin typeface="Calibri" pitchFamily="34" charset="0"/>
                <a:ea typeface="Calibri" pitchFamily="34" charset="-122"/>
                <a:cs typeface="Calibri" pitchFamily="34" charset="-120"/>
              </a:rPr>
              <a:t> ∈ ℝ</a:t>
            </a:r>
            <a:r>
              <a:rPr lang="en-US" sz="1300" baseline="30000" dirty="0">
                <a:solidFill>
                  <a:srgbClr val="4A5670"/>
                </a:solidFill>
                <a:latin typeface="Calibri" pitchFamily="34" charset="0"/>
                <a:ea typeface="Calibri" pitchFamily="34" charset="-122"/>
                <a:cs typeface="Calibri" pitchFamily="34" charset="-120"/>
              </a:rPr>
              <a:t>288</a:t>
            </a:r>
            <a:r>
              <a:rPr lang="en-US" sz="1300" dirty="0">
                <a:solidFill>
                  <a:srgbClr val="4A5670"/>
                </a:solidFill>
                <a:latin typeface="Calibri" pitchFamily="34" charset="0"/>
                <a:ea typeface="Calibri" pitchFamily="34" charset="-122"/>
                <a:cs typeface="Calibri" pitchFamily="34" charset="-120"/>
              </a:rPr>
              <a:t>, project with SDOT4, and add to the residual stream: x ← x + W</a:t>
            </a:r>
            <a:r>
              <a:rPr lang="en-US" sz="1300" baseline="-40000" dirty="0">
                <a:solidFill>
                  <a:srgbClr val="4A5670"/>
                </a:solidFill>
                <a:latin typeface="Calibri" pitchFamily="34" charset="0"/>
                <a:ea typeface="Calibri" pitchFamily="34" charset="-122"/>
                <a:cs typeface="Calibri" pitchFamily="34" charset="-120"/>
              </a:rPr>
              <a:t>o</a:t>
            </a:r>
            <a:r>
              <a:rPr lang="en-US" sz="1300" dirty="0">
                <a:solidFill>
                  <a:srgbClr val="4A5670"/>
                </a:solidFill>
                <a:latin typeface="Calibri" pitchFamily="34" charset="0"/>
                <a:ea typeface="Calibri" pitchFamily="34" charset="-122"/>
                <a:cs typeface="Calibri" pitchFamily="34" charset="-120"/>
              </a:rPr>
              <a:t>·Attn</a:t>
            </a:r>
            <a:r>
              <a:rPr lang="en-US" sz="1300" baseline="-40000" dirty="0">
                <a:solidFill>
                  <a:srgbClr val="4A5670"/>
                </a:solidFill>
                <a:latin typeface="Calibri" pitchFamily="34" charset="0"/>
                <a:ea typeface="Calibri" pitchFamily="34" charset="-122"/>
                <a:cs typeface="Calibri" pitchFamily="34" charset="-120"/>
              </a:rPr>
              <a:t>out</a:t>
            </a:r>
            <a:endParaRPr lang="en-US" sz="1300" dirty="0"/>
          </a:p>
        </p:txBody>
      </p:sp>
      <p:sp>
        <p:nvSpPr>
          <p:cNvPr id="21" name="Shape 19">
            <a:extLst>
              <a:ext uri="{FF2B5EF4-FFF2-40B4-BE49-F238E27FC236}">
                <a16:creationId xmlns:a16="http://schemas.microsoft.com/office/drawing/2014/main" id="{18C0129B-4108-A75C-5817-11BB400E4B72}"/>
              </a:ext>
            </a:extLst>
          </p:cNvPr>
          <p:cNvSpPr/>
          <p:nvPr/>
        </p:nvSpPr>
        <p:spPr>
          <a:xfrm>
            <a:off x="548640" y="5532120"/>
            <a:ext cx="5510632" cy="548640"/>
          </a:xfrm>
          <a:prstGeom prst="roundRect">
            <a:avLst>
              <a:gd name="adj" fmla="val 10000"/>
            </a:avLst>
          </a:prstGeom>
          <a:solidFill>
            <a:srgbClr val="E8E5F6"/>
          </a:solidFill>
          <a:ln w="12700">
            <a:solidFill>
              <a:srgbClr val="5B4BA8"/>
            </a:solidFill>
            <a:prstDash val="solid"/>
          </a:ln>
        </p:spPr>
        <p:txBody>
          <a:bodyPr/>
          <a:lstStyle/>
          <a:p>
            <a:endParaRPr lang="en-IL"/>
          </a:p>
        </p:txBody>
      </p:sp>
      <p:sp>
        <p:nvSpPr>
          <p:cNvPr id="22" name="Shape 20">
            <a:extLst>
              <a:ext uri="{FF2B5EF4-FFF2-40B4-BE49-F238E27FC236}">
                <a16:creationId xmlns:a16="http://schemas.microsoft.com/office/drawing/2014/main" id="{BB837643-6DCD-8460-D2B1-E0362E7EA576}"/>
              </a:ext>
            </a:extLst>
          </p:cNvPr>
          <p:cNvSpPr/>
          <p:nvPr/>
        </p:nvSpPr>
        <p:spPr>
          <a:xfrm>
            <a:off x="6132424" y="5532120"/>
            <a:ext cx="5510632" cy="548640"/>
          </a:xfrm>
          <a:prstGeom prst="roundRect">
            <a:avLst>
              <a:gd name="adj" fmla="val 10000"/>
            </a:avLst>
          </a:prstGeom>
          <a:solidFill>
            <a:srgbClr val="E8E5F6"/>
          </a:solidFill>
          <a:ln w="12700">
            <a:solidFill>
              <a:srgbClr val="5B4BA8"/>
            </a:solidFill>
            <a:prstDash val="solid"/>
          </a:ln>
        </p:spPr>
        <p:txBody>
          <a:bodyPr/>
          <a:lstStyle/>
          <a:p>
            <a:endParaRPr lang="en-IL"/>
          </a:p>
        </p:txBody>
      </p:sp>
      <p:sp>
        <p:nvSpPr>
          <p:cNvPr id="23" name="Text 21">
            <a:extLst>
              <a:ext uri="{FF2B5EF4-FFF2-40B4-BE49-F238E27FC236}">
                <a16:creationId xmlns:a16="http://schemas.microsoft.com/office/drawing/2014/main" id="{5F4CA1C1-C37D-89F3-3311-6A4DE5AA2A26}"/>
              </a:ext>
            </a:extLst>
          </p:cNvPr>
          <p:cNvSpPr txBox="1"/>
          <p:nvPr/>
        </p:nvSpPr>
        <p:spPr>
          <a:xfrm>
            <a:off x="548640" y="5532120"/>
            <a:ext cx="5510632" cy="548640"/>
          </a:xfrm>
          <a:prstGeom prst="rect">
            <a:avLst/>
          </a:prstGeom>
          <a:noFill/>
          <a:ln/>
        </p:spPr>
        <p:txBody>
          <a:bodyPr wrap="square" lIns="0" tIns="0" rIns="0" bIns="0" rtlCol="0" anchor="ctr"/>
          <a:lstStyle/>
          <a:p>
            <a:pPr marL="0" indent="0" algn="ctr">
              <a:lnSpc>
                <a:spcPct val="110000"/>
              </a:lnSpc>
              <a:buNone/>
            </a:pPr>
            <a:r>
              <a:rPr lang="en-US" sz="1250" dirty="0">
                <a:solidFill>
                  <a:srgbClr val="14213D"/>
                </a:solidFill>
                <a:latin typeface="Courier New" pitchFamily="34" charset="0"/>
                <a:ea typeface="Courier New" pitchFamily="34" charset="-122"/>
                <a:cs typeface="Courier New" pitchFamily="34" charset="-120"/>
              </a:rPr>
              <a:t>Lane 1 · bits 63–32 · Σ α·C[idx(i+1)]</a:t>
            </a:r>
            <a:endParaRPr lang="en-US" sz="1250" dirty="0"/>
          </a:p>
        </p:txBody>
      </p:sp>
      <p:sp>
        <p:nvSpPr>
          <p:cNvPr id="24" name="Text 22">
            <a:extLst>
              <a:ext uri="{FF2B5EF4-FFF2-40B4-BE49-F238E27FC236}">
                <a16:creationId xmlns:a16="http://schemas.microsoft.com/office/drawing/2014/main" id="{B6BD0BA9-3937-0C05-B066-ACF73D5D7409}"/>
              </a:ext>
            </a:extLst>
          </p:cNvPr>
          <p:cNvSpPr txBox="1"/>
          <p:nvPr/>
        </p:nvSpPr>
        <p:spPr>
          <a:xfrm>
            <a:off x="6132424" y="5532120"/>
            <a:ext cx="5510632" cy="548640"/>
          </a:xfrm>
          <a:prstGeom prst="rect">
            <a:avLst/>
          </a:prstGeom>
          <a:noFill/>
          <a:ln/>
        </p:spPr>
        <p:txBody>
          <a:bodyPr wrap="square" lIns="0" tIns="0" rIns="0" bIns="0" rtlCol="0" anchor="ctr"/>
          <a:lstStyle/>
          <a:p>
            <a:pPr marL="0" indent="0" algn="ctr">
              <a:lnSpc>
                <a:spcPct val="110000"/>
              </a:lnSpc>
              <a:buNone/>
            </a:pPr>
            <a:r>
              <a:rPr lang="en-US" sz="1250" dirty="0">
                <a:solidFill>
                  <a:srgbClr val="14213D"/>
                </a:solidFill>
                <a:latin typeface="Courier New" pitchFamily="34" charset="0"/>
                <a:ea typeface="Courier New" pitchFamily="34" charset="-122"/>
                <a:cs typeface="Courier New" pitchFamily="34" charset="-120"/>
              </a:rPr>
              <a:t>Lane 0 · bits 31–0 · Σ α·C[idx(i)]</a:t>
            </a:r>
            <a:endParaRPr lang="en-US" sz="1250" dirty="0"/>
          </a:p>
        </p:txBody>
      </p:sp>
      <p:sp>
        <p:nvSpPr>
          <p:cNvPr id="25" name="Text 23">
            <a:extLst>
              <a:ext uri="{FF2B5EF4-FFF2-40B4-BE49-F238E27FC236}">
                <a16:creationId xmlns:a16="http://schemas.microsoft.com/office/drawing/2014/main" id="{F9E13554-4F5A-2B8F-D159-990DF3D153F0}"/>
              </a:ext>
            </a:extLst>
          </p:cNvPr>
          <p:cNvSpPr txBox="1"/>
          <p:nvPr/>
        </p:nvSpPr>
        <p:spPr>
          <a:xfrm>
            <a:off x="548640" y="6153912"/>
            <a:ext cx="4572000" cy="274320"/>
          </a:xfrm>
          <a:prstGeom prst="rect">
            <a:avLst/>
          </a:prstGeom>
          <a:noFill/>
          <a:ln/>
        </p:spPr>
        <p:txBody>
          <a:bodyPr wrap="square" lIns="0" tIns="0" rIns="0" bIns="0" rtlCol="0" anchor="t"/>
          <a:lstStyle/>
          <a:p>
            <a:pPr marL="0" indent="0" algn="l">
              <a:lnSpc>
                <a:spcPct val="110000"/>
              </a:lnSpc>
              <a:buNone/>
            </a:pPr>
            <a:r>
              <a:rPr lang="en-US" sz="1150" dirty="0">
                <a:solidFill>
                  <a:srgbClr val="4A5670"/>
                </a:solidFill>
                <a:latin typeface="Calibri" pitchFamily="34" charset="0"/>
                <a:ea typeface="Calibri" pitchFamily="34" charset="-122"/>
                <a:cs typeface="Calibri" pitchFamily="34" charset="-120"/>
              </a:rPr>
              <a:t>64-bit simd64 accumulator</a:t>
            </a:r>
            <a:endParaRPr lang="en-US" sz="1150" dirty="0"/>
          </a:p>
        </p:txBody>
      </p:sp>
    </p:spTree>
    <p:extLst>
      <p:ext uri="{BB962C8B-B14F-4D97-AF65-F5344CB8AC3E}">
        <p14:creationId xmlns:p14="http://schemas.microsoft.com/office/powerpoint/2010/main" val="3638372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418320" cy="822960"/>
          </a:xfrm>
          <a:prstGeom prst="rect">
            <a:avLst/>
          </a:prstGeom>
          <a:noFill/>
        </p:spPr>
        <p:txBody>
          <a:bodyPr wrap="square" lIns="0" tIns="0" rIns="0" bIns="0">
            <a:spAutoFit/>
          </a:bodyPr>
          <a:lstStyle/>
          <a:p>
            <a:pPr>
              <a:spcAft>
                <a:spcPts val="200"/>
              </a:spcAft>
              <a:defRPr sz="1000" b="1">
                <a:solidFill>
                  <a:srgbClr val="2563EB"/>
                </a:solidFill>
                <a:latin typeface="Calibri"/>
              </a:defRPr>
            </a:pPr>
            <a:r>
              <a:t>3. ALGORITHMIC SOLUTION</a:t>
            </a:r>
          </a:p>
          <a:p>
            <a:pPr>
              <a:defRPr sz="2200" b="1">
                <a:solidFill>
                  <a:srgbClr val="0F172A"/>
                </a:solidFill>
                <a:latin typeface="Georgia"/>
              </a:defRPr>
            </a:pPr>
            <a:r>
              <a:t>Google's TurboQuant: 3-Stage Vector Quantization Pipeline</a:t>
            </a:r>
          </a:p>
        </p:txBody>
      </p:sp>
      <p:sp>
        <p:nvSpPr>
          <p:cNvPr id="3" name="Rounded Rectangle 2"/>
          <p:cNvSpPr/>
          <p:nvPr/>
        </p:nvSpPr>
        <p:spPr>
          <a:xfrm>
            <a:off x="10180015" y="365760"/>
            <a:ext cx="146304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t>PROJECT 304</a:t>
            </a:r>
          </a:p>
        </p:txBody>
      </p:sp>
      <p:sp>
        <p:nvSpPr>
          <p:cNvPr id="4" name="Rectangle 3"/>
          <p:cNvSpPr/>
          <p:nvPr/>
        </p:nvSpPr>
        <p:spPr>
          <a:xfrm>
            <a:off x="548640" y="1234440"/>
            <a:ext cx="1109441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5" name="Rounded Rectangle 4"/>
              <p:cNvSpPr/>
              <p:nvPr/>
            </p:nvSpPr>
            <p:spPr>
              <a:xfrm>
                <a:off x="548640" y="1463040"/>
                <a:ext cx="3383280"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000"/>
                  </a:spcAft>
                  <a:defRPr sz="1600" b="1">
                    <a:solidFill>
                      <a:srgbClr val="2563EB"/>
                    </a:solidFill>
                    <a:latin typeface="Georgia"/>
                  </a:defRPr>
                </a:pPr>
                <a:r>
                  <a:rPr lang="en-US" dirty="0"/>
                  <a:t>Stage 1: Haar Rotation (</a:t>
                </a:r>
                <a:r>
                  <a:rPr lang="el-GR" dirty="0"/>
                  <a:t>Π)</a:t>
                </a:r>
              </a:p>
              <a:p>
                <a:pPr>
                  <a:spcBef>
                    <a:spcPts val="600"/>
                  </a:spcBef>
                  <a:defRPr sz="1200">
                    <a:solidFill>
                      <a:srgbClr val="111827"/>
                    </a:solidFill>
                  </a:defRPr>
                </a:pPr>
                <a:r>
                  <a:rPr lang="el-GR" dirty="0"/>
                  <a:t>•  </a:t>
                </a:r>
                <a:r>
                  <a:rPr lang="en-US" dirty="0"/>
                  <a:t>Applies random orthogonal Haar matrix </a:t>
                </a:r>
                <a:r>
                  <a:rPr lang="el-GR" dirty="0"/>
                  <a:t>Π ∈ </a:t>
                </a:r>
                <a14:m>
                  <m:oMath xmlns:m="http://schemas.openxmlformats.org/officeDocument/2006/math">
                    <m:sSup>
                      <m:sSupPr>
                        <m:ctrlPr>
                          <a:rPr lang="el-GR" i="1" dirty="0" smtClean="0">
                            <a:latin typeface="Cambria Math" panose="02040503050406030204" pitchFamily="18" charset="0"/>
                          </a:rPr>
                        </m:ctrlPr>
                      </m:sSupPr>
                      <m:e>
                        <m:r>
                          <a:rPr lang="el-GR" i="1" dirty="0" smtClean="0">
                            <a:latin typeface="Cambria Math" panose="02040503050406030204" pitchFamily="18" charset="0"/>
                          </a:rPr>
                          <m:t>𝑅</m:t>
                        </m:r>
                      </m:e>
                      <m:sup>
                        <m:r>
                          <a:rPr lang="en-US" b="0" i="1" dirty="0" smtClean="0">
                            <a:latin typeface="Cambria Math" panose="02040503050406030204" pitchFamily="18" charset="0"/>
                          </a:rPr>
                          <m:t>𝑑𝑥𝑑</m:t>
                        </m:r>
                      </m:sup>
                    </m:sSup>
                    <m:r>
                      <a:rPr lang="ar-AE" i="1" dirty="0" smtClean="0">
                        <a:latin typeface="Cambria Math" panose="02040503050406030204" pitchFamily="18" charset="0"/>
                      </a:rPr>
                      <m:t> </m:t>
                    </m:r>
                  </m:oMath>
                </a14:m>
                <a:r>
                  <a:rPr lang="en-US" dirty="0"/>
                  <a:t>to normalized input vector r = </a:t>
                </a:r>
                <a14:m>
                  <m:oMath xmlns:m="http://schemas.openxmlformats.org/officeDocument/2006/math">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𝑥</m:t>
                        </m:r>
                      </m:num>
                      <m:den>
                        <m:d>
                          <m:dPr>
                            <m:begChr m:val="|"/>
                            <m:endChr m:val="|"/>
                            <m:ctrlPr>
                              <a:rPr lang="en-US" i="1" dirty="0">
                                <a:latin typeface="Cambria Math" panose="02040503050406030204" pitchFamily="18" charset="0"/>
                              </a:rPr>
                            </m:ctrlPr>
                          </m:dPr>
                          <m:e>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𝑥</m:t>
                                </m:r>
                              </m:e>
                            </m:d>
                          </m:e>
                        </m:d>
                      </m:den>
                    </m:f>
                    <m:r>
                      <a:rPr lang="en-US" i="1" dirty="0" smtClean="0">
                        <a:latin typeface="Cambria Math" panose="02040503050406030204" pitchFamily="18" charset="0"/>
                      </a:rPr>
                      <m:t>.</m:t>
                    </m:r>
                  </m:oMath>
                </a14:m>
                <a:endParaRPr lang="en-US" dirty="0"/>
              </a:p>
              <a:p>
                <a:pPr>
                  <a:spcBef>
                    <a:spcPts val="600"/>
                  </a:spcBef>
                  <a:defRPr sz="1200">
                    <a:solidFill>
                      <a:srgbClr val="111827"/>
                    </a:solidFill>
                  </a:defRPr>
                </a:pPr>
                <a:r>
                  <a:rPr lang="en-US" dirty="0"/>
                  <a:t>•  Disperses high-magnitude activation outliers evenly across all coordinates.</a:t>
                </a:r>
              </a:p>
              <a:p>
                <a:pPr>
                  <a:spcBef>
                    <a:spcPts val="600"/>
                  </a:spcBef>
                  <a:defRPr sz="1200">
                    <a:solidFill>
                      <a:srgbClr val="111827"/>
                    </a:solidFill>
                  </a:defRPr>
                </a:pPr>
                <a:r>
                  <a:rPr lang="en-US" dirty="0"/>
                  <a:t>•  Converts coordinate distribution to a static, predictable Beta distribution f(</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𝑦</m:t>
                        </m:r>
                      </m:e>
                      <m:sub>
                        <m:r>
                          <a:rPr lang="en-US" i="1" dirty="0" smtClean="0">
                            <a:latin typeface="Cambria Math" panose="02040503050406030204" pitchFamily="18" charset="0"/>
                          </a:rPr>
                          <m:t>𝑗</m:t>
                        </m:r>
                      </m:sub>
                    </m:sSub>
                  </m:oMath>
                </a14:m>
                <a:r>
                  <a:rPr lang="en-US" dirty="0"/>
                  <a:t>).</a:t>
                </a:r>
                <a:endParaRPr dirty="0"/>
              </a:p>
            </p:txBody>
          </p:sp>
        </mc:Choice>
        <mc:Fallback>
          <p:sp>
            <p:nvSpPr>
              <p:cNvPr id="5" name="Rounded Rectangle 4"/>
              <p:cNvSpPr>
                <a:spLocks noRot="1" noChangeAspect="1" noMove="1" noResize="1" noEditPoints="1" noAdjustHandles="1" noChangeArrowheads="1" noChangeShapeType="1" noTextEdit="1"/>
              </p:cNvSpPr>
              <p:nvPr/>
            </p:nvSpPr>
            <p:spPr>
              <a:xfrm>
                <a:off x="548640" y="1463040"/>
                <a:ext cx="3383280" cy="3840480"/>
              </a:xfrm>
              <a:prstGeom prst="roundRect">
                <a:avLst/>
              </a:prstGeom>
              <a:blipFill>
                <a:blip r:embed="rId3"/>
                <a:stretch>
                  <a:fillRect/>
                </a:stretch>
              </a:blipFill>
              <a:ln>
                <a:solidFill>
                  <a:srgbClr val="E2E8F0"/>
                </a:solidFill>
              </a:ln>
            </p:spPr>
            <p:txBody>
              <a:bodyPr/>
              <a:lstStyle/>
              <a:p>
                <a:r>
                  <a:rPr lang="en-IL">
                    <a:noFill/>
                  </a:rPr>
                  <a:t> </a:t>
                </a:r>
              </a:p>
            </p:txBody>
          </p:sp>
        </mc:Fallback>
      </mc:AlternateContent>
      <p:sp>
        <p:nvSpPr>
          <p:cNvPr id="6" name="Rounded Rectangle 5"/>
          <p:cNvSpPr/>
          <p:nvPr/>
        </p:nvSpPr>
        <p:spPr>
          <a:xfrm>
            <a:off x="4403750" y="1463040"/>
            <a:ext cx="3383280"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000"/>
              </a:spcAft>
              <a:defRPr sz="1600" b="1">
                <a:solidFill>
                  <a:srgbClr val="2563EB"/>
                </a:solidFill>
                <a:latin typeface="Georgia"/>
              </a:defRPr>
            </a:pPr>
            <a:r>
              <a:t>Stage 2: PolarQuant (3-Bit)</a:t>
            </a:r>
          </a:p>
          <a:p>
            <a:pPr>
              <a:spcBef>
                <a:spcPts val="600"/>
              </a:spcBef>
              <a:defRPr sz="1200">
                <a:solidFill>
                  <a:srgbClr val="111827"/>
                </a:solidFill>
              </a:defRPr>
            </a:pPr>
            <a:r>
              <a:t>•  Quantizes rotated coordinates y against 8 optimal Lloyd-Max centroids computed offline.</a:t>
            </a:r>
          </a:p>
          <a:p>
            <a:pPr>
              <a:spcBef>
                <a:spcPts val="600"/>
              </a:spcBef>
              <a:defRPr sz="1200">
                <a:solidFill>
                  <a:srgbClr val="111827"/>
                </a:solidFill>
              </a:defRPr>
            </a:pPr>
            <a:r>
              <a:t>•  Stores 3-bit indices in compressed KV-cache.</a:t>
            </a:r>
          </a:p>
          <a:p>
            <a:pPr>
              <a:spcBef>
                <a:spcPts val="600"/>
              </a:spcBef>
              <a:defRPr sz="1200">
                <a:solidFill>
                  <a:srgbClr val="111827"/>
                </a:solidFill>
              </a:defRPr>
            </a:pPr>
            <a:r>
              <a:t>•  Evaluates inner products directly in compressed space via TIE centroid ROM lookups.</a:t>
            </a:r>
          </a:p>
        </p:txBody>
      </p:sp>
      <mc:AlternateContent xmlns:mc="http://schemas.openxmlformats.org/markup-compatibility/2006">
        <mc:Choice xmlns:a14="http://schemas.microsoft.com/office/drawing/2010/main" Requires="a14">
          <p:sp>
            <p:nvSpPr>
              <p:cNvPr id="7" name="Rounded Rectangle 6"/>
              <p:cNvSpPr/>
              <p:nvPr/>
            </p:nvSpPr>
            <p:spPr>
              <a:xfrm>
                <a:off x="8259775" y="1463040"/>
                <a:ext cx="3383280" cy="384048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000"/>
                  </a:spcAft>
                  <a:defRPr sz="1600" b="1">
                    <a:solidFill>
                      <a:srgbClr val="0F172A"/>
                    </a:solidFill>
                    <a:latin typeface="Georgia"/>
                  </a:defRPr>
                </a:pPr>
                <a:r>
                  <a:rPr lang="en-US" dirty="0"/>
                  <a:t>Stage 3: QJL Residual (1-Bit)</a:t>
                </a:r>
              </a:p>
              <a:p>
                <a:pPr>
                  <a:spcBef>
                    <a:spcPts val="600"/>
                  </a:spcBef>
                  <a:defRPr sz="1200">
                    <a:solidFill>
                      <a:srgbClr val="111827"/>
                    </a:solidFill>
                  </a:defRPr>
                </a:pPr>
                <a:r>
                  <a:rPr lang="en-US" dirty="0"/>
                  <a:t>•  Extracts residual error vector </a:t>
                </a:r>
                <a:br>
                  <a:rPr lang="en-US" dirty="0"/>
                </a:br>
                <a:r>
                  <a:rPr lang="en-US" dirty="0"/>
                  <a:t>r' = y - </a:t>
                </a:r>
                <a14:m>
                  <m:oMath xmlns:m="http://schemas.openxmlformats.org/officeDocument/2006/math">
                    <m:sSub>
                      <m:sSubPr>
                        <m:ctrlPr>
                          <a:rPr lang="ar-AE" i="1" dirty="0" smtClean="0">
                            <a:latin typeface="Cambria Math" panose="02040503050406030204" pitchFamily="18" charset="0"/>
                          </a:rPr>
                        </m:ctrlPr>
                      </m:sSubPr>
                      <m:e>
                        <m:r>
                          <a:rPr lang="ar-AE" i="1" dirty="0" smtClean="0">
                            <a:latin typeface="Cambria Math" panose="02040503050406030204" pitchFamily="18" charset="0"/>
                          </a:rPr>
                          <m:t>𝑦</m:t>
                        </m:r>
                      </m:e>
                      <m:sub>
                        <m:r>
                          <a:rPr lang="ar-AE" i="1" dirty="0" smtClean="0">
                            <a:latin typeface="Cambria Math" panose="02040503050406030204" pitchFamily="18" charset="0"/>
                          </a:rPr>
                          <m:t>𝑞</m:t>
                        </m:r>
                      </m:sub>
                    </m:sSub>
                    <m:r>
                      <a:rPr lang="ar-AE" i="1" dirty="0">
                        <a:latin typeface="Cambria Math" panose="02040503050406030204" pitchFamily="18" charset="0"/>
                      </a:rPr>
                      <m:t> </m:t>
                    </m:r>
                  </m:oMath>
                </a14:m>
                <a:r>
                  <a:rPr lang="en-US" dirty="0"/>
                  <a:t>and its norm </a:t>
                </a:r>
                <a:r>
                  <a:rPr lang="el-GR" dirty="0"/>
                  <a:t>γ = ||</a:t>
                </a:r>
                <a:r>
                  <a:rPr lang="en-US" dirty="0"/>
                  <a:t>r'||.</a:t>
                </a:r>
              </a:p>
              <a:p>
                <a:pPr>
                  <a:spcBef>
                    <a:spcPts val="600"/>
                  </a:spcBef>
                  <a:defRPr sz="1200">
                    <a:solidFill>
                      <a:srgbClr val="111827"/>
                    </a:solidFill>
                  </a:defRPr>
                </a:pPr>
                <a:r>
                  <a:rPr lang="en-US" dirty="0"/>
                  <a:t>•  Projects r' through Gaussian matrix M and records 1-bit coordinate signs </a:t>
                </a:r>
                <a:br>
                  <a:rPr lang="en-US" dirty="0"/>
                </a:br>
                <a:r>
                  <a:rPr lang="en-US" dirty="0" err="1"/>
                  <a:t>qjl</a:t>
                </a:r>
                <a:r>
                  <a:rPr lang="en-US" dirty="0"/>
                  <a:t> = sign(M x r').</a:t>
                </a:r>
              </a:p>
              <a:p>
                <a:pPr>
                  <a:spcBef>
                    <a:spcPts val="600"/>
                  </a:spcBef>
                  <a:defRPr sz="1200">
                    <a:solidFill>
                      <a:srgbClr val="111827"/>
                    </a:solidFill>
                  </a:defRPr>
                </a:pPr>
                <a:r>
                  <a:rPr lang="en-US" dirty="0"/>
                  <a:t>•  Total KV precision: 3-bit centroid + 1-bit sign = 4 bits total (6.00x effective compression).</a:t>
                </a:r>
                <a:endParaRPr dirty="0"/>
              </a:p>
            </p:txBody>
          </p:sp>
        </mc:Choice>
        <mc:Fallback>
          <p:sp>
            <p:nvSpPr>
              <p:cNvPr id="7" name="Rounded Rectangle 6"/>
              <p:cNvSpPr>
                <a:spLocks noRot="1" noChangeAspect="1" noMove="1" noResize="1" noEditPoints="1" noAdjustHandles="1" noChangeArrowheads="1" noChangeShapeType="1" noTextEdit="1"/>
              </p:cNvSpPr>
              <p:nvPr/>
            </p:nvSpPr>
            <p:spPr>
              <a:xfrm>
                <a:off x="8259775" y="1463040"/>
                <a:ext cx="3383280" cy="3840480"/>
              </a:xfrm>
              <a:prstGeom prst="roundRect">
                <a:avLst/>
              </a:prstGeom>
              <a:blipFill>
                <a:blip r:embed="rId4"/>
                <a:stretch>
                  <a:fillRect/>
                </a:stretch>
              </a:blipFill>
              <a:ln>
                <a:solidFill>
                  <a:srgbClr val="2563EB"/>
                </a:solidFill>
              </a:ln>
            </p:spPr>
            <p:txBody>
              <a:bodyPr/>
              <a:lstStyle/>
              <a:p>
                <a:r>
                  <a:rPr lang="en-IL">
                    <a:noFill/>
                  </a:rPr>
                  <a:t> </a:t>
                </a:r>
              </a:p>
            </p:txBody>
          </p:sp>
        </mc:Fallback>
      </mc:AlternateContent>
      <p:sp>
        <p:nvSpPr>
          <p:cNvPr id="8" name="Rounded Rectangle 7"/>
          <p:cNvSpPr/>
          <p:nvPr/>
        </p:nvSpPr>
        <p:spPr>
          <a:xfrm>
            <a:off x="548640" y="5486400"/>
            <a:ext cx="11094415" cy="8229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RESULT: 384 Bytes / token per 6-layer context  |  6.00x Verified KV Capacity Compression  |  0.56 MB for 256 tokens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418320" cy="822960"/>
          </a:xfrm>
          <a:prstGeom prst="rect">
            <a:avLst/>
          </a:prstGeom>
          <a:noFill/>
        </p:spPr>
        <p:txBody>
          <a:bodyPr wrap="square" lIns="0" tIns="0" rIns="0" bIns="0">
            <a:spAutoFit/>
          </a:bodyPr>
          <a:lstStyle/>
          <a:p>
            <a:pPr>
              <a:spcAft>
                <a:spcPts val="200"/>
              </a:spcAft>
              <a:defRPr sz="1000" b="1">
                <a:solidFill>
                  <a:srgbClr val="2563EB"/>
                </a:solidFill>
                <a:latin typeface="Calibri"/>
              </a:defRPr>
            </a:pPr>
            <a:r>
              <a:t>3. ALGORITHMIC SOLUTION</a:t>
            </a:r>
          </a:p>
          <a:p>
            <a:pPr>
              <a:defRPr sz="2200" b="1">
                <a:solidFill>
                  <a:srgbClr val="0F172A"/>
                </a:solidFill>
                <a:latin typeface="Georgia"/>
              </a:defRPr>
            </a:pPr>
            <a:r>
              <a:t>Mathematical Foundations: TurboQuant-PROD for Keys &amp; Values</a:t>
            </a:r>
          </a:p>
        </p:txBody>
      </p:sp>
      <p:sp>
        <p:nvSpPr>
          <p:cNvPr id="3" name="Rounded Rectangle 2"/>
          <p:cNvSpPr/>
          <p:nvPr/>
        </p:nvSpPr>
        <p:spPr>
          <a:xfrm>
            <a:off x="10180015" y="365760"/>
            <a:ext cx="146304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t>PROJECT 304</a:t>
            </a:r>
          </a:p>
        </p:txBody>
      </p:sp>
      <p:sp>
        <p:nvSpPr>
          <p:cNvPr id="4" name="Rectangle 3"/>
          <p:cNvSpPr/>
          <p:nvPr/>
        </p:nvSpPr>
        <p:spPr>
          <a:xfrm>
            <a:off x="548640" y="1234440"/>
            <a:ext cx="1109441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5" name="Rounded Rectangle 4"/>
              <p:cNvSpPr/>
              <p:nvPr/>
            </p:nvSpPr>
            <p:spPr>
              <a:xfrm>
                <a:off x="548640" y="1463040"/>
                <a:ext cx="5303520"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000"/>
                  </a:spcAft>
                  <a:defRPr sz="1700" b="1">
                    <a:solidFill>
                      <a:srgbClr val="0F172A"/>
                    </a:solidFill>
                    <a:latin typeface="Georgia"/>
                  </a:defRPr>
                </a:pPr>
                <a:r>
                  <a:rPr lang="en-US" dirty="0"/>
                  <a:t>TurboQuant-PROD Formulation (Keys &amp; Values)</a:t>
                </a:r>
              </a:p>
              <a:p>
                <a:pPr>
                  <a:spcBef>
                    <a:spcPts val="600"/>
                  </a:spcBef>
                  <a:defRPr sz="1200" b="1">
                    <a:solidFill>
                      <a:srgbClr val="2563EB"/>
                    </a:solidFill>
                  </a:defRPr>
                </a:pPr>
                <a:r>
                  <a:rPr lang="en-US" dirty="0"/>
                  <a:t>•  Unified Hardware Pipeline: </a:t>
                </a:r>
                <a:r>
                  <a:rPr lang="en-US" b="0" dirty="0">
                    <a:solidFill>
                      <a:srgbClr val="111827"/>
                    </a:solidFill>
                  </a:rPr>
                  <a:t>PROD mode (3-bit centroid + 1-bit sign) is applied uniformly to BOTH Key and Value vectors, enabling a single unified TIE hardware pipeline and centroid ROM.</a:t>
                </a:r>
              </a:p>
              <a:p>
                <a:pPr>
                  <a:spcBef>
                    <a:spcPts val="600"/>
                  </a:spcBef>
                  <a:defRPr sz="1200" b="1">
                    <a:solidFill>
                      <a:srgbClr val="2563EB"/>
                    </a:solidFill>
                  </a:defRPr>
                </a:pPr>
                <a:r>
                  <a:rPr lang="en-US" dirty="0"/>
                  <a:t>•  Direct Attention Inner Product: </a:t>
                </a:r>
                <a:r>
                  <a:rPr lang="en-US" b="0" dirty="0">
                    <a:solidFill>
                      <a:srgbClr val="111827"/>
                    </a:solidFill>
                  </a:rPr>
                  <a:t>For Key vectors, inner products &lt;q, k&gt; are estimated directly in compressed space without vector reconstruction:</a:t>
                </a:r>
              </a:p>
              <a:p>
                <a:pPr>
                  <a:spcBef>
                    <a:spcPts val="600"/>
                  </a:spcBef>
                  <a:defRPr sz="1200" b="1">
                    <a:solidFill>
                      <a:srgbClr val="2563EB"/>
                    </a:solidFill>
                  </a:defRPr>
                </a:pPr>
                <a:r>
                  <a:rPr lang="en-US" dirty="0"/>
                  <a:t>•  PROD Estimator Formula: </a:t>
                </a:r>
                <a:br>
                  <a:rPr lang="en-US" dirty="0"/>
                </a:br>
                <a:r>
                  <a:rPr lang="en-US" b="0" dirty="0">
                    <a:solidFill>
                      <a:srgbClr val="111827"/>
                    </a:solidFill>
                  </a:rPr>
                  <a:t>&lt;q, k&gt; ≈ </a:t>
                </a:r>
                <a:br>
                  <a:rPr lang="en-US" b="0" dirty="0">
                    <a:solidFill>
                      <a:srgbClr val="111827"/>
                    </a:solidFill>
                  </a:rPr>
                </a:br>
                <a:r>
                  <a:rPr lang="en-US" b="0" dirty="0">
                    <a:solidFill>
                      <a:srgbClr val="111827"/>
                    </a:solidFill>
                  </a:rPr>
                  <a:t> </a:t>
                </a:r>
                <a14:m>
                  <m:oMath xmlns:m="http://schemas.openxmlformats.org/officeDocument/2006/math">
                    <m:r>
                      <a:rPr lang="en-US" b="0" i="1" dirty="0" smtClean="0">
                        <a:solidFill>
                          <a:srgbClr val="111827"/>
                        </a:solidFill>
                        <a:latin typeface="Cambria Math" panose="02040503050406030204" pitchFamily="18" charset="0"/>
                      </a:rPr>
                      <m:t>||</m:t>
                    </m:r>
                    <m:r>
                      <a:rPr lang="en-US" b="0" i="1" dirty="0" smtClean="0">
                        <a:solidFill>
                          <a:srgbClr val="111827"/>
                        </a:solidFill>
                        <a:latin typeface="Cambria Math" panose="02040503050406030204" pitchFamily="18" charset="0"/>
                      </a:rPr>
                      <m:t>𝑘</m:t>
                    </m:r>
                    <m:r>
                      <a:rPr lang="en-US" b="0" i="1" dirty="0" smtClean="0">
                        <a:solidFill>
                          <a:srgbClr val="111827"/>
                        </a:solidFill>
                        <a:latin typeface="Cambria Math" panose="02040503050406030204" pitchFamily="18" charset="0"/>
                      </a:rPr>
                      <m:t>|| ( &lt;</m:t>
                    </m:r>
                    <m:r>
                      <a:rPr lang="en-US" b="0" i="1" dirty="0" err="1">
                        <a:solidFill>
                          <a:srgbClr val="111827"/>
                        </a:solidFill>
                        <a:latin typeface="Cambria Math" panose="02040503050406030204" pitchFamily="18" charset="0"/>
                      </a:rPr>
                      <m:t>𝑞</m:t>
                    </m:r>
                    <m:r>
                      <a:rPr lang="en-US" b="0" i="1" dirty="0" err="1">
                        <a:solidFill>
                          <a:srgbClr val="111827"/>
                        </a:solidFill>
                        <a:latin typeface="Cambria Math" panose="02040503050406030204" pitchFamily="18" charset="0"/>
                      </a:rPr>
                      <m:t>_</m:t>
                    </m:r>
                    <m:r>
                      <a:rPr lang="en-US" b="0" i="1" dirty="0" err="1">
                        <a:solidFill>
                          <a:srgbClr val="111827"/>
                        </a:solidFill>
                        <a:latin typeface="Cambria Math" panose="02040503050406030204" pitchFamily="18" charset="0"/>
                      </a:rPr>
                      <m:t>𝑟𝑜𝑡</m:t>
                    </m:r>
                    <m:r>
                      <a:rPr lang="en-US" b="0" i="1" dirty="0">
                        <a:solidFill>
                          <a:srgbClr val="111827"/>
                        </a:solidFill>
                        <a:latin typeface="Cambria Math" panose="02040503050406030204" pitchFamily="18" charset="0"/>
                      </a:rPr>
                      <m:t>, </m:t>
                    </m:r>
                    <m:r>
                      <a:rPr lang="en-US" b="0" i="1" dirty="0" err="1">
                        <a:solidFill>
                          <a:srgbClr val="111827"/>
                        </a:solidFill>
                        <a:latin typeface="Cambria Math" panose="02040503050406030204" pitchFamily="18" charset="0"/>
                      </a:rPr>
                      <m:t>𝑦</m:t>
                    </m:r>
                    <m:r>
                      <a:rPr lang="en-US" b="0" i="1" dirty="0" err="1">
                        <a:solidFill>
                          <a:srgbClr val="111827"/>
                        </a:solidFill>
                        <a:latin typeface="Cambria Math" panose="02040503050406030204" pitchFamily="18" charset="0"/>
                      </a:rPr>
                      <m:t>_</m:t>
                    </m:r>
                    <m:r>
                      <a:rPr lang="en-US" b="0" i="1" dirty="0" err="1">
                        <a:solidFill>
                          <a:srgbClr val="111827"/>
                        </a:solidFill>
                        <a:latin typeface="Cambria Math" panose="02040503050406030204" pitchFamily="18" charset="0"/>
                      </a:rPr>
                      <m:t>𝑞</m:t>
                    </m:r>
                    <m:r>
                      <a:rPr lang="en-US" b="0" i="1" dirty="0">
                        <a:solidFill>
                          <a:srgbClr val="111827"/>
                        </a:solidFill>
                        <a:latin typeface="Cambria Math" panose="02040503050406030204" pitchFamily="18" charset="0"/>
                      </a:rPr>
                      <m:t>&gt; + (√(</m:t>
                    </m:r>
                    <m:f>
                      <m:fPr>
                        <m:ctrlPr>
                          <a:rPr lang="en-US" b="0" i="1" dirty="0">
                            <a:solidFill>
                              <a:srgbClr val="111827"/>
                            </a:solidFill>
                            <a:latin typeface="Cambria Math" panose="02040503050406030204" pitchFamily="18" charset="0"/>
                          </a:rPr>
                        </m:ctrlPr>
                      </m:fPr>
                      <m:num>
                        <m:r>
                          <a:rPr lang="en-US" b="0" i="1" dirty="0">
                            <a:solidFill>
                              <a:srgbClr val="111827"/>
                            </a:solidFill>
                            <a:latin typeface="Cambria Math" panose="02040503050406030204" pitchFamily="18" charset="0"/>
                          </a:rPr>
                          <m:t>𝜋</m:t>
                        </m:r>
                      </m:num>
                      <m:den>
                        <m:r>
                          <a:rPr lang="en-US" b="0" i="1" dirty="0">
                            <a:solidFill>
                              <a:srgbClr val="111827"/>
                            </a:solidFill>
                            <a:latin typeface="Cambria Math" panose="02040503050406030204" pitchFamily="18" charset="0"/>
                          </a:rPr>
                          <m:t>2</m:t>
                        </m:r>
                      </m:den>
                    </m:f>
                    <m:r>
                      <a:rPr lang="en-US" b="0" i="1" dirty="0">
                        <a:solidFill>
                          <a:srgbClr val="111827"/>
                        </a:solidFill>
                        <a:latin typeface="Cambria Math" panose="02040503050406030204" pitchFamily="18" charset="0"/>
                      </a:rPr>
                      <m:t>) / </m:t>
                    </m:r>
                    <m:r>
                      <a:rPr lang="en-US" b="0" i="1" dirty="0">
                        <a:solidFill>
                          <a:srgbClr val="111827"/>
                        </a:solidFill>
                        <a:latin typeface="Cambria Math" panose="02040503050406030204" pitchFamily="18" charset="0"/>
                      </a:rPr>
                      <m:t>𝑑</m:t>
                    </m:r>
                    <m:r>
                      <a:rPr lang="en-US" b="0" i="1" dirty="0">
                        <a:solidFill>
                          <a:srgbClr val="111827"/>
                        </a:solidFill>
                        <a:latin typeface="Cambria Math" panose="02040503050406030204" pitchFamily="18" charset="0"/>
                      </a:rPr>
                      <m:t>) · </m:t>
                    </m:r>
                    <m:r>
                      <a:rPr lang="en-US" b="0" i="1" dirty="0">
                        <a:solidFill>
                          <a:srgbClr val="111827"/>
                        </a:solidFill>
                        <a:latin typeface="Cambria Math" panose="02040503050406030204" pitchFamily="18" charset="0"/>
                      </a:rPr>
                      <m:t>𝛾</m:t>
                    </m:r>
                    <m:r>
                      <a:rPr lang="en-US" b="0" i="1" dirty="0">
                        <a:solidFill>
                          <a:srgbClr val="111827"/>
                        </a:solidFill>
                        <a:latin typeface="Cambria Math" panose="02040503050406030204" pitchFamily="18" charset="0"/>
                      </a:rPr>
                      <m:t> · &lt;</m:t>
                    </m:r>
                    <m:r>
                      <a:rPr lang="en-US" b="0" i="1" dirty="0">
                        <a:solidFill>
                          <a:srgbClr val="111827"/>
                        </a:solidFill>
                        <a:latin typeface="Cambria Math" panose="02040503050406030204" pitchFamily="18" charset="0"/>
                      </a:rPr>
                      <m:t>𝑀</m:t>
                    </m:r>
                    <m:r>
                      <a:rPr lang="en-US" b="0" i="1" dirty="0">
                        <a:solidFill>
                          <a:srgbClr val="111827"/>
                        </a:solidFill>
                        <a:latin typeface="Cambria Math" panose="02040503050406030204" pitchFamily="18" charset="0"/>
                      </a:rPr>
                      <m:t> </m:t>
                    </m:r>
                    <m:sSub>
                      <m:sSubPr>
                        <m:ctrlPr>
                          <a:rPr lang="ar-AE" b="0" i="1" dirty="0" err="1">
                            <a:solidFill>
                              <a:srgbClr val="111827"/>
                            </a:solidFill>
                            <a:latin typeface="Cambria Math" panose="02040503050406030204" pitchFamily="18" charset="0"/>
                          </a:rPr>
                        </m:ctrlPr>
                      </m:sSubPr>
                      <m:e>
                        <m:r>
                          <a:rPr lang="ar-AE" b="0" i="1" dirty="0" err="1">
                            <a:solidFill>
                              <a:srgbClr val="111827"/>
                            </a:solidFill>
                            <a:latin typeface="Cambria Math" panose="02040503050406030204" pitchFamily="18" charset="0"/>
                          </a:rPr>
                          <m:t>𝑞</m:t>
                        </m:r>
                      </m:e>
                      <m:sub>
                        <m:r>
                          <a:rPr lang="ar-AE" b="0" i="1" dirty="0" err="1">
                            <a:solidFill>
                              <a:srgbClr val="111827"/>
                            </a:solidFill>
                            <a:latin typeface="Cambria Math" panose="02040503050406030204" pitchFamily="18" charset="0"/>
                          </a:rPr>
                          <m:t>𝑟𝑜𝑡</m:t>
                        </m:r>
                      </m:sub>
                    </m:sSub>
                    <m:r>
                      <a:rPr lang="ar-AE" b="0" i="1" dirty="0">
                        <a:solidFill>
                          <a:srgbClr val="111827"/>
                        </a:solidFill>
                        <a:latin typeface="Cambria Math" panose="02040503050406030204" pitchFamily="18" charset="0"/>
                      </a:rPr>
                      <m:t>, </m:t>
                    </m:r>
                    <m:r>
                      <a:rPr lang="ar-AE" b="0" i="1" dirty="0" err="1">
                        <a:solidFill>
                          <a:srgbClr val="111827"/>
                        </a:solidFill>
                        <a:latin typeface="Cambria Math" panose="02040503050406030204" pitchFamily="18" charset="0"/>
                      </a:rPr>
                      <m:t>𝑞𝑗𝑙</m:t>
                    </m:r>
                    <m:r>
                      <a:rPr lang="ar-AE" b="0" i="1" dirty="0">
                        <a:solidFill>
                          <a:srgbClr val="111827"/>
                        </a:solidFill>
                        <a:latin typeface="Cambria Math" panose="02040503050406030204" pitchFamily="18" charset="0"/>
                      </a:rPr>
                      <m:t>&gt; )</m:t>
                    </m:r>
                  </m:oMath>
                </a14:m>
                <a:endParaRPr lang="ar-AE" b="0" dirty="0">
                  <a:solidFill>
                    <a:srgbClr val="111827"/>
                  </a:solidFill>
                </a:endParaRPr>
              </a:p>
              <a:p>
                <a:pPr>
                  <a:spcBef>
                    <a:spcPts val="600"/>
                  </a:spcBef>
                  <a:defRPr sz="1200" b="1">
                    <a:solidFill>
                      <a:srgbClr val="2563EB"/>
                    </a:solidFill>
                  </a:defRPr>
                </a:pPr>
                <a:r>
                  <a:rPr lang="ar-AE" dirty="0"/>
                  <a:t>•  </a:t>
                </a:r>
                <a:r>
                  <a:rPr lang="en-US" dirty="0"/>
                  <a:t>Zero Dequantization Penalty: </a:t>
                </a:r>
                <a:r>
                  <a:rPr lang="en-US" b="0" dirty="0">
                    <a:solidFill>
                      <a:srgbClr val="111827"/>
                    </a:solidFill>
                  </a:rPr>
                  <a:t>Attention scoring operates via 1-cycle TIE ROM lookups (TQ_DECMAC2) and sign accumulation (TQ_SGNACC2).</a:t>
                </a:r>
                <a:endParaRPr b="0" dirty="0">
                  <a:solidFill>
                    <a:srgbClr val="111827"/>
                  </a:solidFill>
                </a:endParaRPr>
              </a:p>
            </p:txBody>
          </p:sp>
        </mc:Choice>
        <mc:Fallback>
          <p:sp>
            <p:nvSpPr>
              <p:cNvPr id="5" name="Rounded Rectangle 4"/>
              <p:cNvSpPr>
                <a:spLocks noRot="1" noChangeAspect="1" noMove="1" noResize="1" noEditPoints="1" noAdjustHandles="1" noChangeArrowheads="1" noChangeShapeType="1" noTextEdit="1"/>
              </p:cNvSpPr>
              <p:nvPr/>
            </p:nvSpPr>
            <p:spPr>
              <a:xfrm>
                <a:off x="548640" y="1463040"/>
                <a:ext cx="5303520" cy="4846320"/>
              </a:xfrm>
              <a:prstGeom prst="roundRect">
                <a:avLst/>
              </a:prstGeom>
              <a:blipFill>
                <a:blip r:embed="rId2"/>
                <a:stretch>
                  <a:fillRect/>
                </a:stretch>
              </a:blipFill>
              <a:ln>
                <a:solidFill>
                  <a:srgbClr val="E2E8F0"/>
                </a:solidFill>
              </a:ln>
            </p:spPr>
            <p:txBody>
              <a:bodyPr/>
              <a:lstStyle/>
              <a:p>
                <a:r>
                  <a:rPr lang="en-IL">
                    <a:noFill/>
                  </a:rPr>
                  <a:t> </a:t>
                </a:r>
              </a:p>
            </p:txBody>
          </p:sp>
        </mc:Fallback>
      </mc:AlternateContent>
      <mc:AlternateContent xmlns:mc="http://schemas.openxmlformats.org/markup-compatibility/2006">
        <mc:Choice xmlns:a14="http://schemas.microsoft.com/office/drawing/2010/main" Requires="a14">
          <p:sp>
            <p:nvSpPr>
              <p:cNvPr id="6" name="Rounded Rectangle 5"/>
              <p:cNvSpPr/>
              <p:nvPr/>
            </p:nvSpPr>
            <p:spPr>
              <a:xfrm>
                <a:off x="6309360" y="1463040"/>
                <a:ext cx="5303520" cy="484632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000"/>
                  </a:spcAft>
                  <a:defRPr sz="1700" b="1">
                    <a:solidFill>
                      <a:srgbClr val="0F172A"/>
                    </a:solidFill>
                    <a:latin typeface="Georgia"/>
                  </a:defRPr>
                </a:pPr>
                <a:r>
                  <a:rPr lang="en-US" dirty="0"/>
                  <a:t>Value Reconstruction &amp; Correct Error Constant</a:t>
                </a:r>
              </a:p>
              <a:p>
                <a:pPr>
                  <a:spcBef>
                    <a:spcPts val="600"/>
                  </a:spcBef>
                  <a:defRPr sz="1200" b="1">
                    <a:solidFill>
                      <a:srgbClr val="0F172A"/>
                    </a:solidFill>
                  </a:defRPr>
                </a:pPr>
                <a:r>
                  <a:rPr lang="en-US" dirty="0"/>
                  <a:t>•  Physical Value Reconstruction: </a:t>
                </a:r>
                <a:r>
                  <a:rPr lang="en-US" b="0" dirty="0">
                    <a:solidFill>
                      <a:srgbClr val="111827"/>
                    </a:solidFill>
                  </a:rPr>
                  <a:t>Value vectors must be reconstructed in physical feature space for the weighted attention output sum: </a:t>
                </a:r>
                <a:r>
                  <a:rPr lang="en-US" b="0" dirty="0" err="1">
                    <a:solidFill>
                      <a:srgbClr val="111827"/>
                    </a:solidFill>
                  </a:rPr>
                  <a:t>v_tilde</a:t>
                </a:r>
                <a:r>
                  <a:rPr lang="en-US" b="0" dirty="0">
                    <a:solidFill>
                      <a:srgbClr val="111827"/>
                    </a:solidFill>
                  </a:rPr>
                  <a:t> = </a:t>
                </a:r>
                <a14:m>
                  <m:oMath xmlns:m="http://schemas.openxmlformats.org/officeDocument/2006/math">
                    <m:sSup>
                      <m:sSupPr>
                        <m:ctrlPr>
                          <a:rPr lang="el-GR" b="0" i="0" dirty="0" smtClean="0">
                            <a:solidFill>
                              <a:srgbClr val="111827"/>
                            </a:solidFill>
                            <a:latin typeface="Cambria Math" panose="02040503050406030204" pitchFamily="18" charset="0"/>
                          </a:rPr>
                        </m:ctrlPr>
                      </m:sSupPr>
                      <m:e>
                        <m:r>
                          <m:rPr>
                            <m:sty m:val="p"/>
                          </m:rPr>
                          <a:rPr lang="el-GR" b="0" i="0" dirty="0" smtClean="0">
                            <a:solidFill>
                              <a:srgbClr val="111827"/>
                            </a:solidFill>
                            <a:latin typeface="Cambria Math" panose="02040503050406030204" pitchFamily="18" charset="0"/>
                          </a:rPr>
                          <m:t>Π</m:t>
                        </m:r>
                      </m:e>
                      <m:sup>
                        <m:r>
                          <a:rPr lang="ar-AE" b="0" i="1" dirty="0">
                            <a:solidFill>
                              <a:srgbClr val="111827"/>
                            </a:solidFill>
                            <a:latin typeface="Cambria Math" panose="02040503050406030204" pitchFamily="18" charset="0"/>
                          </a:rPr>
                          <m:t>𝑇</m:t>
                        </m:r>
                      </m:sup>
                    </m:sSup>
                  </m:oMath>
                </a14:m>
                <a:r>
                  <a:rPr lang="ar-AE" b="0" dirty="0">
                    <a:solidFill>
                      <a:srgbClr val="111827"/>
                    </a:solidFill>
                  </a:rPr>
                  <a:t> </a:t>
                </a:r>
                <a:r>
                  <a:rPr lang="en-US" b="0" dirty="0">
                    <a:solidFill>
                      <a:srgbClr val="111827"/>
                    </a:solidFill>
                  </a:rPr>
                  <a:t>(</a:t>
                </a:r>
                <a:r>
                  <a:rPr lang="ar-AE" b="0" dirty="0">
                    <a:solidFill>
                      <a:srgbClr val="111827"/>
                    </a:solidFill>
                  </a:rPr>
                  <a:t> </a:t>
                </a:r>
                <a14:m>
                  <m:oMath xmlns:m="http://schemas.openxmlformats.org/officeDocument/2006/math">
                    <m:sSub>
                      <m:sSubPr>
                        <m:ctrlPr>
                          <a:rPr lang="en-US" b="0" i="1" dirty="0" smtClean="0">
                            <a:solidFill>
                              <a:srgbClr val="111827"/>
                            </a:solidFill>
                            <a:latin typeface="Cambria Math" panose="02040503050406030204" pitchFamily="18" charset="0"/>
                          </a:rPr>
                        </m:ctrlPr>
                      </m:sSubPr>
                      <m:e>
                        <m:r>
                          <a:rPr lang="en-US" b="0" i="1" dirty="0" smtClean="0">
                            <a:solidFill>
                              <a:srgbClr val="111827"/>
                            </a:solidFill>
                            <a:latin typeface="Cambria Math" panose="02040503050406030204" pitchFamily="18" charset="0"/>
                          </a:rPr>
                          <m:t>𝑦</m:t>
                        </m:r>
                      </m:e>
                      <m:sub>
                        <m:r>
                          <a:rPr lang="en-US" b="0" i="1" dirty="0" smtClean="0">
                            <a:solidFill>
                              <a:srgbClr val="111827"/>
                            </a:solidFill>
                            <a:latin typeface="Cambria Math" panose="02040503050406030204" pitchFamily="18" charset="0"/>
                          </a:rPr>
                          <m:t>𝑞</m:t>
                        </m:r>
                      </m:sub>
                    </m:sSub>
                    <m:r>
                      <a:rPr lang="en-US" b="0" i="1" dirty="0">
                        <a:solidFill>
                          <a:srgbClr val="111827"/>
                        </a:solidFill>
                        <a:latin typeface="Cambria Math" panose="02040503050406030204" pitchFamily="18" charset="0"/>
                      </a:rPr>
                      <m:t> </m:t>
                    </m:r>
                  </m:oMath>
                </a14:m>
                <a:r>
                  <a:rPr lang="en-US" b="0" dirty="0">
                    <a:solidFill>
                      <a:srgbClr val="111827"/>
                    </a:solidFill>
                  </a:rPr>
                  <a:t>+ </a:t>
                </a:r>
                <a14:m>
                  <m:oMath xmlns:m="http://schemas.openxmlformats.org/officeDocument/2006/math">
                    <m:sSub>
                      <m:sSubPr>
                        <m:ctrlPr>
                          <a:rPr lang="en-US" b="0" i="1" dirty="0" smtClean="0">
                            <a:solidFill>
                              <a:srgbClr val="111827"/>
                            </a:solidFill>
                            <a:latin typeface="Cambria Math" panose="02040503050406030204" pitchFamily="18" charset="0"/>
                          </a:rPr>
                        </m:ctrlPr>
                      </m:sSubPr>
                      <m:e>
                        <m:r>
                          <a:rPr lang="en-US" b="0" i="1" dirty="0" smtClean="0">
                            <a:solidFill>
                              <a:srgbClr val="111827"/>
                            </a:solidFill>
                            <a:latin typeface="Cambria Math" panose="02040503050406030204" pitchFamily="18" charset="0"/>
                          </a:rPr>
                          <m:t>𝑐</m:t>
                        </m:r>
                      </m:e>
                      <m:sub>
                        <m:r>
                          <a:rPr lang="en-US" b="0" i="1" dirty="0" smtClean="0">
                            <a:solidFill>
                              <a:srgbClr val="111827"/>
                            </a:solidFill>
                            <a:latin typeface="Cambria Math" panose="02040503050406030204" pitchFamily="18" charset="0"/>
                          </a:rPr>
                          <m:t>𝑞𝑗𝑙</m:t>
                        </m:r>
                      </m:sub>
                    </m:sSub>
                    <m:r>
                      <a:rPr lang="en-US" b="0" i="1" dirty="0">
                        <a:solidFill>
                          <a:srgbClr val="111827"/>
                        </a:solidFill>
                        <a:latin typeface="Cambria Math" panose="02040503050406030204" pitchFamily="18" charset="0"/>
                      </a:rPr>
                      <m:t> </m:t>
                    </m:r>
                  </m:oMath>
                </a14:m>
                <a:r>
                  <a:rPr lang="en-US" b="0" dirty="0">
                    <a:solidFill>
                      <a:srgbClr val="111827"/>
                    </a:solidFill>
                  </a:rPr>
                  <a:t>· </a:t>
                </a:r>
                <a14:m>
                  <m:oMath xmlns:m="http://schemas.openxmlformats.org/officeDocument/2006/math">
                    <m:sSup>
                      <m:sSupPr>
                        <m:ctrlPr>
                          <a:rPr lang="en-US" b="0" i="1" dirty="0" smtClean="0">
                            <a:solidFill>
                              <a:srgbClr val="111827"/>
                            </a:solidFill>
                            <a:latin typeface="Cambria Math" panose="02040503050406030204" pitchFamily="18" charset="0"/>
                          </a:rPr>
                        </m:ctrlPr>
                      </m:sSupPr>
                      <m:e>
                        <m:r>
                          <a:rPr lang="en-US" b="0" i="1" dirty="0" smtClean="0">
                            <a:solidFill>
                              <a:srgbClr val="111827"/>
                            </a:solidFill>
                            <a:latin typeface="Cambria Math" panose="02040503050406030204" pitchFamily="18" charset="0"/>
                          </a:rPr>
                          <m:t>𝑀</m:t>
                        </m:r>
                      </m:e>
                      <m:sup>
                        <m:r>
                          <a:rPr lang="en-US" b="0" i="1" dirty="0" smtClean="0">
                            <a:solidFill>
                              <a:srgbClr val="111827"/>
                            </a:solidFill>
                            <a:latin typeface="Cambria Math" panose="02040503050406030204" pitchFamily="18" charset="0"/>
                          </a:rPr>
                          <m:t>𝑇</m:t>
                        </m:r>
                      </m:sup>
                    </m:sSup>
                  </m:oMath>
                </a14:m>
                <a:r>
                  <a:rPr lang="en-US" b="0" dirty="0">
                    <a:solidFill>
                      <a:srgbClr val="111827"/>
                    </a:solidFill>
                  </a:rPr>
                  <a:t> </a:t>
                </a:r>
                <a:r>
                  <a:rPr lang="en-US" b="0" dirty="0" err="1">
                    <a:solidFill>
                      <a:srgbClr val="111827"/>
                    </a:solidFill>
                  </a:rPr>
                  <a:t>qjl</a:t>
                </a:r>
                <a:r>
                  <a:rPr lang="en-US" b="0" dirty="0">
                    <a:solidFill>
                      <a:srgbClr val="111827"/>
                    </a:solidFill>
                  </a:rPr>
                  <a:t> )</a:t>
                </a:r>
              </a:p>
              <a:p>
                <a:pPr>
                  <a:spcBef>
                    <a:spcPts val="600"/>
                  </a:spcBef>
                  <a:defRPr sz="1200" b="1">
                    <a:solidFill>
                      <a:srgbClr val="0F172A"/>
                    </a:solidFill>
                  </a:defRPr>
                </a:pPr>
                <a:r>
                  <a:rPr lang="en-US" dirty="0"/>
                  <a:t>•  Correct QJL Scaling Constant: </a:t>
                </a:r>
                <a:r>
                  <a:rPr lang="en-US" b="0" dirty="0">
                    <a:solidFill>
                      <a:srgbClr val="111827"/>
                    </a:solidFill>
                  </a:rPr>
                  <a:t>The mathematical QJL residual reconstruction constant is </a:t>
                </a:r>
                <a14:m>
                  <m:oMath xmlns:m="http://schemas.openxmlformats.org/officeDocument/2006/math">
                    <m:sSub>
                      <m:sSubPr>
                        <m:ctrlPr>
                          <a:rPr lang="en-US" b="0" i="1" dirty="0" smtClean="0">
                            <a:solidFill>
                              <a:srgbClr val="111827"/>
                            </a:solidFill>
                            <a:latin typeface="Cambria Math" panose="02040503050406030204" pitchFamily="18" charset="0"/>
                          </a:rPr>
                        </m:ctrlPr>
                      </m:sSubPr>
                      <m:e>
                        <m:r>
                          <a:rPr lang="en-US" b="0" i="1" dirty="0" smtClean="0">
                            <a:solidFill>
                              <a:srgbClr val="111827"/>
                            </a:solidFill>
                            <a:latin typeface="Cambria Math" panose="02040503050406030204" pitchFamily="18" charset="0"/>
                          </a:rPr>
                          <m:t>𝑐</m:t>
                        </m:r>
                      </m:e>
                      <m:sub>
                        <m:r>
                          <a:rPr lang="en-US" b="0" i="1" dirty="0" smtClean="0">
                            <a:solidFill>
                              <a:srgbClr val="111827"/>
                            </a:solidFill>
                            <a:latin typeface="Cambria Math" panose="02040503050406030204" pitchFamily="18" charset="0"/>
                          </a:rPr>
                          <m:t>𝑞𝑗𝑙</m:t>
                        </m:r>
                      </m:sub>
                    </m:sSub>
                    <m:r>
                      <a:rPr lang="en-US" b="0" i="1" dirty="0">
                        <a:solidFill>
                          <a:srgbClr val="111827"/>
                        </a:solidFill>
                        <a:latin typeface="Cambria Math" panose="02040503050406030204" pitchFamily="18" charset="0"/>
                      </a:rPr>
                      <m:t> = (√(</m:t>
                    </m:r>
                    <m:f>
                      <m:fPr>
                        <m:ctrlPr>
                          <a:rPr lang="el-GR" b="0" i="1" dirty="0">
                            <a:solidFill>
                              <a:srgbClr val="111827"/>
                            </a:solidFill>
                            <a:latin typeface="Cambria Math" panose="02040503050406030204" pitchFamily="18" charset="0"/>
                          </a:rPr>
                        </m:ctrlPr>
                      </m:fPr>
                      <m:num>
                        <m:r>
                          <a:rPr lang="el-GR" b="0" i="1" dirty="0">
                            <a:solidFill>
                              <a:srgbClr val="111827"/>
                            </a:solidFill>
                            <a:latin typeface="Cambria Math" panose="02040503050406030204" pitchFamily="18" charset="0"/>
                          </a:rPr>
                          <m:t>𝜋</m:t>
                        </m:r>
                      </m:num>
                      <m:den>
                        <m:r>
                          <a:rPr lang="el-GR" b="0" i="1" dirty="0">
                            <a:solidFill>
                              <a:srgbClr val="111827"/>
                            </a:solidFill>
                            <a:latin typeface="Cambria Math" panose="02040503050406030204" pitchFamily="18" charset="0"/>
                          </a:rPr>
                          <m:t>2</m:t>
                        </m:r>
                      </m:den>
                    </m:f>
                    <m:r>
                      <a:rPr lang="el-GR" b="0" i="1" dirty="0">
                        <a:solidFill>
                          <a:srgbClr val="111827"/>
                        </a:solidFill>
                        <a:latin typeface="Cambria Math" panose="02040503050406030204" pitchFamily="18" charset="0"/>
                      </a:rPr>
                      <m:t>) / </m:t>
                    </m:r>
                    <m:r>
                      <a:rPr lang="en-US" b="0" i="1" dirty="0">
                        <a:solidFill>
                          <a:srgbClr val="111827"/>
                        </a:solidFill>
                        <a:latin typeface="Cambria Math" panose="02040503050406030204" pitchFamily="18" charset="0"/>
                      </a:rPr>
                      <m:t>𝑑</m:t>
                    </m:r>
                    <m:r>
                      <a:rPr lang="en-US" b="0" i="1" dirty="0">
                        <a:solidFill>
                          <a:srgbClr val="111827"/>
                        </a:solidFill>
                        <a:latin typeface="Cambria Math" panose="02040503050406030204" pitchFamily="18" charset="0"/>
                      </a:rPr>
                      <m:t>) · </m:t>
                    </m:r>
                    <m:r>
                      <a:rPr lang="el-GR" b="0" i="1" dirty="0">
                        <a:solidFill>
                          <a:srgbClr val="111827"/>
                        </a:solidFill>
                        <a:latin typeface="Cambria Math" panose="02040503050406030204" pitchFamily="18" charset="0"/>
                      </a:rPr>
                      <m:t>𝛾</m:t>
                    </m:r>
                  </m:oMath>
                </a14:m>
                <a:r>
                  <a:rPr lang="el-GR" b="0" dirty="0">
                    <a:solidFill>
                      <a:srgbClr val="111827"/>
                    </a:solidFill>
                  </a:rPr>
                  <a:t>, </a:t>
                </a:r>
                <a:r>
                  <a:rPr lang="en-US" b="0" dirty="0">
                    <a:solidFill>
                      <a:srgbClr val="111827"/>
                    </a:solidFill>
                  </a:rPr>
                  <a:t>restoring exact mathematical unbiasedness.</a:t>
                </a:r>
              </a:p>
              <a:p>
                <a:pPr>
                  <a:spcBef>
                    <a:spcPts val="600"/>
                  </a:spcBef>
                  <a:defRPr sz="1200" b="1">
                    <a:solidFill>
                      <a:srgbClr val="0F172A"/>
                    </a:solidFill>
                  </a:defRPr>
                </a:pPr>
                <a:r>
                  <a:rPr lang="en-US" dirty="0"/>
                  <a:t>•  Memory Footprint Calibration: </a:t>
                </a:r>
                <a:r>
                  <a:rPr lang="en-US" b="0" dirty="0">
                    <a:solidFill>
                      <a:srgbClr val="111827"/>
                    </a:solidFill>
                  </a:rPr>
                  <a:t>3-bit centroid + 1-bit residual sign + 2 float metadata scaling factors (||x|| and </a:t>
                </a:r>
                <a:r>
                  <a:rPr lang="el-GR" b="0" dirty="0">
                    <a:solidFill>
                      <a:srgbClr val="111827"/>
                    </a:solidFill>
                  </a:rPr>
                  <a:t>γ) = </a:t>
                </a:r>
                <a:r>
                  <a:rPr lang="en-US" b="0" dirty="0">
                    <a:solidFill>
                      <a:srgbClr val="111827"/>
                    </a:solidFill>
                  </a:rPr>
                  <a:t>exactly 384 Bytes / token across all 6 layers.</a:t>
                </a:r>
              </a:p>
              <a:p>
                <a:pPr>
                  <a:spcBef>
                    <a:spcPts val="600"/>
                  </a:spcBef>
                  <a:defRPr sz="1200" b="1">
                    <a:solidFill>
                      <a:srgbClr val="0F172A"/>
                    </a:solidFill>
                  </a:defRPr>
                </a:pPr>
                <a:r>
                  <a:rPr lang="en-US" dirty="0"/>
                  <a:t>•  Compression Efficiency: </a:t>
                </a:r>
                <a:r>
                  <a:rPr lang="en-US" b="0" dirty="0">
                    <a:solidFill>
                      <a:srgbClr val="111827"/>
                    </a:solidFill>
                  </a:rPr>
                  <a:t>Achieves an exact 6.00x memory capacity savings vs uncompressed FP32 (2,304 Bytes / token).</a:t>
                </a:r>
                <a:endParaRPr b="0" dirty="0">
                  <a:solidFill>
                    <a:srgbClr val="111827"/>
                  </a:solidFill>
                </a:endParaRPr>
              </a:p>
            </p:txBody>
          </p:sp>
        </mc:Choice>
        <mc:Fallback>
          <p:sp>
            <p:nvSpPr>
              <p:cNvPr id="6" name="Rounded Rectangle 5"/>
              <p:cNvSpPr>
                <a:spLocks noRot="1" noChangeAspect="1" noMove="1" noResize="1" noEditPoints="1" noAdjustHandles="1" noChangeArrowheads="1" noChangeShapeType="1" noTextEdit="1"/>
              </p:cNvSpPr>
              <p:nvPr/>
            </p:nvSpPr>
            <p:spPr>
              <a:xfrm>
                <a:off x="6309360" y="1463040"/>
                <a:ext cx="5303520" cy="4846320"/>
              </a:xfrm>
              <a:prstGeom prst="roundRect">
                <a:avLst/>
              </a:prstGeom>
              <a:blipFill>
                <a:blip r:embed="rId3"/>
                <a:stretch>
                  <a:fillRect/>
                </a:stretch>
              </a:blipFill>
              <a:ln>
                <a:solidFill>
                  <a:srgbClr val="2563EB"/>
                </a:solidFill>
              </a:ln>
            </p:spPr>
            <p:txBody>
              <a:bodyPr/>
              <a:lstStyle/>
              <a:p>
                <a:r>
                  <a:rPr lang="en-IL">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418320" cy="822960"/>
          </a:xfrm>
          <a:prstGeom prst="rect">
            <a:avLst/>
          </a:prstGeom>
          <a:noFill/>
        </p:spPr>
        <p:txBody>
          <a:bodyPr wrap="square" lIns="0" tIns="0" rIns="0" bIns="0">
            <a:spAutoFit/>
          </a:bodyPr>
          <a:lstStyle/>
          <a:p>
            <a:pPr>
              <a:spcAft>
                <a:spcPts val="200"/>
              </a:spcAft>
              <a:defRPr sz="1000" b="1">
                <a:solidFill>
                  <a:srgbClr val="2563EB"/>
                </a:solidFill>
                <a:latin typeface="Calibri"/>
              </a:defRPr>
            </a:pPr>
            <a:r>
              <a:t>4. INFERENCE ENGINE</a:t>
            </a:r>
          </a:p>
          <a:p>
            <a:pPr>
              <a:defRPr sz="2200" b="1">
                <a:solidFill>
                  <a:srgbClr val="0F172A"/>
                </a:solidFill>
                <a:latin typeface="Georgia"/>
              </a:defRPr>
            </a:pPr>
            <a:r>
              <a:t>Software Architecture: Transition from quant.h to llama2.c</a:t>
            </a:r>
          </a:p>
        </p:txBody>
      </p:sp>
      <p:sp>
        <p:nvSpPr>
          <p:cNvPr id="3" name="Rounded Rectangle 2"/>
          <p:cNvSpPr/>
          <p:nvPr/>
        </p:nvSpPr>
        <p:spPr>
          <a:xfrm>
            <a:off x="10180015" y="365760"/>
            <a:ext cx="146304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t>PROJECT 304</a:t>
            </a:r>
          </a:p>
        </p:txBody>
      </p:sp>
      <p:sp>
        <p:nvSpPr>
          <p:cNvPr id="4" name="Rectangle 3"/>
          <p:cNvSpPr/>
          <p:nvPr/>
        </p:nvSpPr>
        <p:spPr>
          <a:xfrm>
            <a:off x="548640" y="1234440"/>
            <a:ext cx="1109441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463040"/>
            <a:ext cx="5303520"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000"/>
              </a:spcAft>
              <a:defRPr sz="1700" b="1">
                <a:solidFill>
                  <a:srgbClr val="DC2626"/>
                </a:solidFill>
                <a:latin typeface="Georgia"/>
              </a:defRPr>
            </a:pPr>
            <a:r>
              <a:t>Midterm Baseline: quant.h (Rejected)</a:t>
            </a:r>
          </a:p>
          <a:p>
            <a:pPr>
              <a:spcBef>
                <a:spcPts val="600"/>
              </a:spcBef>
              <a:defRPr sz="1200" b="1">
                <a:solidFill>
                  <a:srgbClr val="DC2626"/>
                </a:solidFill>
              </a:defRPr>
            </a:pPr>
            <a:r>
              <a:t>•  Monolithic 17,000-line C++ Header: </a:t>
            </a:r>
            <a:r>
              <a:rPr b="0">
                <a:solidFill>
                  <a:srgbClr val="111827"/>
                </a:solidFill>
              </a:rPr>
              <a:t>Excessively complex codebase designed for POSIX desktop operating systems.</a:t>
            </a:r>
          </a:p>
          <a:p>
            <a:pPr>
              <a:spcBef>
                <a:spcPts val="600"/>
              </a:spcBef>
              <a:defRPr sz="1200" b="1">
                <a:solidFill>
                  <a:srgbClr val="DC2626"/>
                </a:solidFill>
              </a:defRPr>
            </a:pPr>
            <a:r>
              <a:t>•  Heavy OS Dependencies: </a:t>
            </a:r>
            <a:r>
              <a:rPr b="0">
                <a:solidFill>
                  <a:srgbClr val="111827"/>
                </a:solidFill>
              </a:rPr>
              <a:t>Required injecting custom stubs for mmap(), pthreads, opendir(), and virtual memory management.</a:t>
            </a:r>
          </a:p>
          <a:p>
            <a:pPr>
              <a:spcBef>
                <a:spcPts val="600"/>
              </a:spcBef>
              <a:defRPr sz="1200" b="1">
                <a:solidFill>
                  <a:srgbClr val="DC2626"/>
                </a:solidFill>
              </a:defRPr>
            </a:pPr>
            <a:r>
              <a:t>•  Incomplete Quantization Stubs: </a:t>
            </a:r>
            <a:r>
              <a:rPr b="0">
                <a:solidFill>
                  <a:srgbClr val="111827"/>
                </a:solidFill>
              </a:rPr>
              <a:t>Deep auditing revealed quant.h contained incomplete TurboQuant stubs that still called full-precision float routines.</a:t>
            </a:r>
          </a:p>
          <a:p>
            <a:pPr>
              <a:spcBef>
                <a:spcPts val="600"/>
              </a:spcBef>
              <a:defRPr sz="1200" b="1">
                <a:solidFill>
                  <a:srgbClr val="DC2626"/>
                </a:solidFill>
              </a:defRPr>
            </a:pPr>
            <a:r>
              <a:t>•  Incompatible with Bare-Metal ASIP: </a:t>
            </a:r>
            <a:r>
              <a:rPr b="0">
                <a:solidFill>
                  <a:srgbClr val="111827"/>
                </a:solidFill>
              </a:rPr>
              <a:t>Prevented clean in-pipeline TIE assembly insertion and bare-metal compilation.</a:t>
            </a:r>
          </a:p>
        </p:txBody>
      </p:sp>
      <p:sp>
        <p:nvSpPr>
          <p:cNvPr id="6" name="Rounded Rectangle 5"/>
          <p:cNvSpPr/>
          <p:nvPr/>
        </p:nvSpPr>
        <p:spPr>
          <a:xfrm>
            <a:off x="6309360" y="1463040"/>
            <a:ext cx="5303520" cy="484632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000"/>
              </a:spcAft>
              <a:defRPr sz="1700" b="1">
                <a:solidFill>
                  <a:srgbClr val="0F172A"/>
                </a:solidFill>
                <a:latin typeface="Georgia"/>
              </a:defRPr>
            </a:pPr>
            <a:r>
              <a:rPr dirty="0"/>
              <a:t>Final Bare-Metal Engine: llama2.c (Adopted)</a:t>
            </a:r>
          </a:p>
          <a:p>
            <a:pPr>
              <a:spcBef>
                <a:spcPts val="600"/>
              </a:spcBef>
              <a:defRPr sz="1200" b="1">
                <a:solidFill>
                  <a:srgbClr val="16A34A"/>
                </a:solidFill>
              </a:defRPr>
            </a:pPr>
            <a:r>
              <a:rPr dirty="0"/>
              <a:t>•  Minimalistic Pure-C Engine: </a:t>
            </a:r>
            <a:r>
              <a:rPr b="0" dirty="0">
                <a:solidFill>
                  <a:srgbClr val="111827"/>
                </a:solidFill>
              </a:rPr>
              <a:t>Andrej </a:t>
            </a:r>
            <a:r>
              <a:rPr b="0" dirty="0" err="1">
                <a:solidFill>
                  <a:srgbClr val="111827"/>
                </a:solidFill>
              </a:rPr>
              <a:t>Karpathy's</a:t>
            </a:r>
            <a:r>
              <a:rPr b="0" dirty="0">
                <a:solidFill>
                  <a:srgbClr val="111827"/>
                </a:solidFill>
              </a:rPr>
              <a:t> self-contained llama2.c (~700 lines of pure, transparent C code).</a:t>
            </a:r>
          </a:p>
          <a:p>
            <a:pPr>
              <a:spcBef>
                <a:spcPts val="600"/>
              </a:spcBef>
              <a:defRPr sz="1200" b="1">
                <a:solidFill>
                  <a:srgbClr val="16A34A"/>
                </a:solidFill>
              </a:defRPr>
            </a:pPr>
            <a:r>
              <a:rPr dirty="0"/>
              <a:t>•  Zero OS Dependencies: </a:t>
            </a:r>
            <a:r>
              <a:rPr b="0" dirty="0">
                <a:solidFill>
                  <a:srgbClr val="111827"/>
                </a:solidFill>
              </a:rPr>
              <a:t>Runs entirely bare-metal on Xtensa LX without POSIX or kernel </a:t>
            </a:r>
            <a:r>
              <a:rPr b="0" dirty="0" err="1">
                <a:solidFill>
                  <a:srgbClr val="111827"/>
                </a:solidFill>
              </a:rPr>
              <a:t>syscall</a:t>
            </a:r>
            <a:r>
              <a:rPr b="0" dirty="0">
                <a:solidFill>
                  <a:srgbClr val="111827"/>
                </a:solidFill>
              </a:rPr>
              <a:t> requirements.</a:t>
            </a:r>
          </a:p>
          <a:p>
            <a:pPr>
              <a:spcBef>
                <a:spcPts val="600"/>
              </a:spcBef>
              <a:defRPr sz="1200" b="1">
                <a:solidFill>
                  <a:srgbClr val="16A34A"/>
                </a:solidFill>
              </a:defRPr>
            </a:pPr>
            <a:r>
              <a:rPr dirty="0"/>
              <a:t>•  Grouped Q8_0 Weight Parser: </a:t>
            </a:r>
            <a:r>
              <a:rPr b="0" dirty="0">
                <a:solidFill>
                  <a:srgbClr val="111827"/>
                </a:solidFill>
              </a:rPr>
              <a:t>Rebuilt weight parser to support 8-bit grouped quantization (Q8_0, group size GS=64).</a:t>
            </a:r>
          </a:p>
          <a:p>
            <a:pPr>
              <a:spcBef>
                <a:spcPts val="600"/>
              </a:spcBef>
              <a:defRPr sz="1200" b="1">
                <a:solidFill>
                  <a:srgbClr val="16A34A"/>
                </a:solidFill>
              </a:defRPr>
            </a:pPr>
            <a:r>
              <a:rPr dirty="0"/>
              <a:t>•  Direct TIE Assembly Insertion: </a:t>
            </a:r>
            <a:r>
              <a:rPr b="0" dirty="0">
                <a:solidFill>
                  <a:srgbClr val="111827"/>
                </a:solidFill>
              </a:rPr>
              <a:t>Allowed inline insertion of custom TIE hardware assembly instructions directly into hot compute loops.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418320" cy="822960"/>
          </a:xfrm>
          <a:prstGeom prst="rect">
            <a:avLst/>
          </a:prstGeom>
          <a:noFill/>
        </p:spPr>
        <p:txBody>
          <a:bodyPr wrap="square" lIns="0" tIns="0" rIns="0" bIns="0">
            <a:spAutoFit/>
          </a:bodyPr>
          <a:lstStyle/>
          <a:p>
            <a:pPr>
              <a:spcAft>
                <a:spcPts val="200"/>
              </a:spcAft>
              <a:defRPr sz="1000" b="1">
                <a:solidFill>
                  <a:srgbClr val="2563EB"/>
                </a:solidFill>
                <a:latin typeface="Calibri"/>
              </a:defRPr>
            </a:pPr>
            <a:r>
              <a:t>5. HARDWARE PLATFORM</a:t>
            </a:r>
          </a:p>
          <a:p>
            <a:pPr>
              <a:defRPr sz="2200" b="1">
                <a:solidFill>
                  <a:srgbClr val="0F172A"/>
                </a:solidFill>
                <a:latin typeface="Georgia"/>
              </a:defRPr>
            </a:pPr>
            <a:r>
              <a:t>Target Hardware Constraints: Cadence Xtensa LX (tie_dev2)</a:t>
            </a:r>
          </a:p>
        </p:txBody>
      </p:sp>
      <p:sp>
        <p:nvSpPr>
          <p:cNvPr id="3" name="Rounded Rectangle 2"/>
          <p:cNvSpPr/>
          <p:nvPr/>
        </p:nvSpPr>
        <p:spPr>
          <a:xfrm>
            <a:off x="10180015" y="365760"/>
            <a:ext cx="146304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t>PROJECT 304</a:t>
            </a:r>
          </a:p>
        </p:txBody>
      </p:sp>
      <p:sp>
        <p:nvSpPr>
          <p:cNvPr id="4" name="Rectangle 3"/>
          <p:cNvSpPr/>
          <p:nvPr/>
        </p:nvSpPr>
        <p:spPr>
          <a:xfrm>
            <a:off x="548640" y="1234440"/>
            <a:ext cx="1109441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48640" y="1463040"/>
          <a:ext cx="11094415" cy="475488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5333695">
                  <a:extLst>
                    <a:ext uri="{9D8B030D-6E8A-4147-A177-3AD203B41FA5}">
                      <a16:colId xmlns:a16="http://schemas.microsoft.com/office/drawing/2014/main" val="20002"/>
                    </a:ext>
                  </a:extLst>
                </a:gridCol>
              </a:tblGrid>
              <a:tr h="792480">
                <a:tc>
                  <a:txBody>
                    <a:bodyPr/>
                    <a:lstStyle/>
                    <a:p>
                      <a:pPr>
                        <a:defRPr sz="1300" b="1">
                          <a:solidFill>
                            <a:srgbClr val="FFFFFF"/>
                          </a:solidFill>
                        </a:defRPr>
                      </a:pPr>
                      <a:r>
                        <a:t>Hardware Attribute</a:t>
                      </a:r>
                    </a:p>
                  </a:txBody>
                  <a:tcPr>
                    <a:solidFill>
                      <a:srgbClr val="0F172A"/>
                    </a:solidFill>
                  </a:tcPr>
                </a:tc>
                <a:tc>
                  <a:txBody>
                    <a:bodyPr/>
                    <a:lstStyle/>
                    <a:p>
                      <a:pPr>
                        <a:defRPr sz="1300" b="1">
                          <a:solidFill>
                            <a:srgbClr val="FFFFFF"/>
                          </a:solidFill>
                        </a:defRPr>
                      </a:pPr>
                      <a:r>
                        <a:t>tie_dev2 Configuration</a:t>
                      </a:r>
                    </a:p>
                  </a:txBody>
                  <a:tcPr>
                    <a:solidFill>
                      <a:srgbClr val="0F172A"/>
                    </a:solidFill>
                  </a:tcPr>
                </a:tc>
                <a:tc>
                  <a:txBody>
                    <a:bodyPr/>
                    <a:lstStyle/>
                    <a:p>
                      <a:pPr>
                        <a:defRPr sz="1300" b="1">
                          <a:solidFill>
                            <a:srgbClr val="FFFFFF"/>
                          </a:solidFill>
                        </a:defRPr>
                      </a:pPr>
                      <a:r>
                        <a:t>Architectural Impact on Inference Engine</a:t>
                      </a:r>
                    </a:p>
                  </a:txBody>
                  <a:tcPr>
                    <a:solidFill>
                      <a:srgbClr val="0F172A"/>
                    </a:solidFill>
                  </a:tcPr>
                </a:tc>
                <a:extLst>
                  <a:ext uri="{0D108BD9-81ED-4DB2-BD59-A6C34878D82A}">
                    <a16:rowId xmlns:a16="http://schemas.microsoft.com/office/drawing/2014/main" val="10000"/>
                  </a:ext>
                </a:extLst>
              </a:tr>
              <a:tr h="792480">
                <a:tc>
                  <a:txBody>
                    <a:bodyPr/>
                    <a:lstStyle/>
                    <a:p>
                      <a:pPr>
                        <a:defRPr sz="1200" b="1">
                          <a:solidFill>
                            <a:srgbClr val="0F172A"/>
                          </a:solidFill>
                        </a:defRPr>
                      </a:pPr>
                      <a:r>
                        <a:t>Core Architecture</a:t>
                      </a:r>
                    </a:p>
                  </a:txBody>
                  <a:tcPr>
                    <a:solidFill>
                      <a:srgbClr val="FFFFFF"/>
                    </a:solidFill>
                  </a:tcPr>
                </a:tc>
                <a:tc>
                  <a:txBody>
                    <a:bodyPr/>
                    <a:lstStyle/>
                    <a:p>
                      <a:pPr>
                        <a:defRPr sz="1200">
                          <a:solidFill>
                            <a:srgbClr val="111827"/>
                          </a:solidFill>
                        </a:defRPr>
                      </a:pPr>
                      <a:r>
                        <a:t>Cadence Xtensa LX8.0.5 (32-bit RISC)</a:t>
                      </a:r>
                    </a:p>
                  </a:txBody>
                  <a:tcPr>
                    <a:solidFill>
                      <a:srgbClr val="FFFFFF"/>
                    </a:solidFill>
                  </a:tcPr>
                </a:tc>
                <a:tc>
                  <a:txBody>
                    <a:bodyPr/>
                    <a:lstStyle/>
                    <a:p>
                      <a:pPr>
                        <a:defRPr sz="1200">
                          <a:solidFill>
                            <a:srgbClr val="111827"/>
                          </a:solidFill>
                        </a:defRPr>
                      </a:pPr>
                      <a:r>
                        <a:t>7-stage pipeline with zero-overhead loop buffers (loopnez)</a:t>
                      </a:r>
                    </a:p>
                  </a:txBody>
                  <a:tcPr>
                    <a:solidFill>
                      <a:srgbClr val="FFFFFF"/>
                    </a:solidFill>
                  </a:tcPr>
                </a:tc>
                <a:extLst>
                  <a:ext uri="{0D108BD9-81ED-4DB2-BD59-A6C34878D82A}">
                    <a16:rowId xmlns:a16="http://schemas.microsoft.com/office/drawing/2014/main" val="10001"/>
                  </a:ext>
                </a:extLst>
              </a:tr>
              <a:tr h="792480">
                <a:tc>
                  <a:txBody>
                    <a:bodyPr/>
                    <a:lstStyle/>
                    <a:p>
                      <a:pPr>
                        <a:defRPr sz="1200" b="1">
                          <a:solidFill>
                            <a:srgbClr val="0F172A"/>
                          </a:solidFill>
                        </a:defRPr>
                      </a:pPr>
                      <a:r>
                        <a:t>Floating-Point Unit</a:t>
                      </a:r>
                    </a:p>
                  </a:txBody>
                  <a:tcPr>
                    <a:solidFill>
                      <a:srgbClr val="EFF6FF"/>
                    </a:solidFill>
                  </a:tcPr>
                </a:tc>
                <a:tc>
                  <a:txBody>
                    <a:bodyPr/>
                    <a:lstStyle/>
                    <a:p>
                      <a:pPr>
                        <a:defRPr sz="1200">
                          <a:solidFill>
                            <a:srgbClr val="111827"/>
                          </a:solidFill>
                        </a:defRPr>
                      </a:pPr>
                      <a:r>
                        <a:t>NOT SELECTED (No Hardware FPU)</a:t>
                      </a:r>
                    </a:p>
                  </a:txBody>
                  <a:tcPr>
                    <a:solidFill>
                      <a:srgbClr val="EFF6FF"/>
                    </a:solidFill>
                  </a:tcPr>
                </a:tc>
                <a:tc>
                  <a:txBody>
                    <a:bodyPr/>
                    <a:lstStyle/>
                    <a:p>
                      <a:pPr>
                        <a:defRPr sz="1200">
                          <a:solidFill>
                            <a:srgbClr val="111827"/>
                          </a:solidFill>
                        </a:defRPr>
                      </a:pPr>
                      <a:r>
                        <a:t>All float/double math is software-emulated via __mulsf3 / __addsf3</a:t>
                      </a:r>
                    </a:p>
                  </a:txBody>
                  <a:tcPr>
                    <a:solidFill>
                      <a:srgbClr val="EFF6FF"/>
                    </a:solidFill>
                  </a:tcPr>
                </a:tc>
                <a:extLst>
                  <a:ext uri="{0D108BD9-81ED-4DB2-BD59-A6C34878D82A}">
                    <a16:rowId xmlns:a16="http://schemas.microsoft.com/office/drawing/2014/main" val="10002"/>
                  </a:ext>
                </a:extLst>
              </a:tr>
              <a:tr h="792480">
                <a:tc>
                  <a:txBody>
                    <a:bodyPr/>
                    <a:lstStyle/>
                    <a:p>
                      <a:pPr>
                        <a:defRPr sz="1200" b="1">
                          <a:solidFill>
                            <a:srgbClr val="0F172A"/>
                          </a:solidFill>
                        </a:defRPr>
                      </a:pPr>
                      <a:r>
                        <a:t>Unaligned Memory Access</a:t>
                      </a:r>
                    </a:p>
                  </a:txBody>
                  <a:tcPr>
                    <a:solidFill>
                      <a:srgbClr val="FFFFFF"/>
                    </a:solidFill>
                  </a:tcPr>
                </a:tc>
                <a:tc>
                  <a:txBody>
                    <a:bodyPr/>
                    <a:lstStyle/>
                    <a:p>
                      <a:pPr>
                        <a:defRPr sz="1200">
                          <a:solidFill>
                            <a:srgbClr val="111827"/>
                          </a:solidFill>
                        </a:defRPr>
                      </a:pPr>
                      <a:r>
                        <a:t>Take Exception (Hardware Trap)</a:t>
                      </a:r>
                    </a:p>
                  </a:txBody>
                  <a:tcPr>
                    <a:solidFill>
                      <a:srgbClr val="FFFFFF"/>
                    </a:solidFill>
                  </a:tcPr>
                </a:tc>
                <a:tc>
                  <a:txBody>
                    <a:bodyPr/>
                    <a:lstStyle/>
                    <a:p>
                      <a:pPr>
                        <a:defRPr sz="1200">
                          <a:solidFill>
                            <a:srgbClr val="111827"/>
                          </a:solidFill>
                        </a:defRPr>
                      </a:pPr>
                      <a:r>
                        <a:t>Loading uint32_t from odd or 2-byte boundary causes fatal crash</a:t>
                      </a:r>
                    </a:p>
                  </a:txBody>
                  <a:tcPr>
                    <a:solidFill>
                      <a:srgbClr val="FFFFFF"/>
                    </a:solidFill>
                  </a:tcPr>
                </a:tc>
                <a:extLst>
                  <a:ext uri="{0D108BD9-81ED-4DB2-BD59-A6C34878D82A}">
                    <a16:rowId xmlns:a16="http://schemas.microsoft.com/office/drawing/2014/main" val="10003"/>
                  </a:ext>
                </a:extLst>
              </a:tr>
              <a:tr h="792480">
                <a:tc>
                  <a:txBody>
                    <a:bodyPr/>
                    <a:lstStyle/>
                    <a:p>
                      <a:pPr>
                        <a:defRPr sz="1200" b="1">
                          <a:solidFill>
                            <a:srgbClr val="0F172A"/>
                          </a:solidFill>
                        </a:defRPr>
                      </a:pPr>
                      <a:r>
                        <a:t>System Memory RAM</a:t>
                      </a:r>
                    </a:p>
                  </a:txBody>
                  <a:tcPr>
                    <a:solidFill>
                      <a:srgbClr val="EFF6FF"/>
                    </a:solidFill>
                  </a:tcPr>
                </a:tc>
                <a:tc>
                  <a:txBody>
                    <a:bodyPr/>
                    <a:lstStyle/>
                    <a:p>
                      <a:pPr>
                        <a:defRPr sz="1200">
                          <a:solidFill>
                            <a:srgbClr val="111827"/>
                          </a:solidFill>
                        </a:defRPr>
                      </a:pPr>
                      <a:r>
                        <a:t>512 MB AXI4 System RAM @ 0x60000000</a:t>
                      </a:r>
                    </a:p>
                  </a:txBody>
                  <a:tcPr>
                    <a:solidFill>
                      <a:srgbClr val="EFF6FF"/>
                    </a:solidFill>
                  </a:tcPr>
                </a:tc>
                <a:tc>
                  <a:txBody>
                    <a:bodyPr/>
                    <a:lstStyle/>
                    <a:p>
                      <a:pPr>
                        <a:defRPr sz="1200">
                          <a:solidFill>
                            <a:srgbClr val="111827"/>
                          </a:solidFill>
                        </a:defRPr>
                      </a:pPr>
                      <a:r>
                        <a:t>Holds Q8_0 weights (15.9 MB) and 4-bit KV-cache (0.56 MB)</a:t>
                      </a:r>
                    </a:p>
                  </a:txBody>
                  <a:tcPr>
                    <a:solidFill>
                      <a:srgbClr val="EFF6FF"/>
                    </a:solidFill>
                  </a:tcPr>
                </a:tc>
                <a:extLst>
                  <a:ext uri="{0D108BD9-81ED-4DB2-BD59-A6C34878D82A}">
                    <a16:rowId xmlns:a16="http://schemas.microsoft.com/office/drawing/2014/main" val="10004"/>
                  </a:ext>
                </a:extLst>
              </a:tr>
              <a:tr h="792480">
                <a:tc>
                  <a:txBody>
                    <a:bodyPr/>
                    <a:lstStyle/>
                    <a:p>
                      <a:pPr>
                        <a:defRPr sz="1200" b="1">
                          <a:solidFill>
                            <a:srgbClr val="0F172A"/>
                          </a:solidFill>
                        </a:defRPr>
                      </a:pPr>
                      <a:r>
                        <a:t>Tightly Coupled Memory</a:t>
                      </a:r>
                    </a:p>
                  </a:txBody>
                  <a:tcPr>
                    <a:solidFill>
                      <a:srgbClr val="FFFFFF"/>
                    </a:solidFill>
                  </a:tcPr>
                </a:tc>
                <a:tc>
                  <a:txBody>
                    <a:bodyPr/>
                    <a:lstStyle/>
                    <a:p>
                      <a:pPr>
                        <a:defRPr sz="1200">
                          <a:solidFill>
                            <a:srgbClr val="111827"/>
                          </a:solidFill>
                        </a:defRPr>
                      </a:pPr>
                      <a:r>
                        <a:t>256 KB Local Data RAMs (DRAM0 / DRAM1)</a:t>
                      </a:r>
                    </a:p>
                  </a:txBody>
                  <a:tcPr>
                    <a:solidFill>
                      <a:srgbClr val="FFFFFF"/>
                    </a:solidFill>
                  </a:tcPr>
                </a:tc>
                <a:tc>
                  <a:txBody>
                    <a:bodyPr/>
                    <a:lstStyle/>
                    <a:p>
                      <a:pPr>
                        <a:defRPr sz="1200">
                          <a:solidFill>
                            <a:srgbClr val="111827"/>
                          </a:solidFill>
                        </a:defRPr>
                      </a:pPr>
                      <a:r>
                        <a:t>Single-cycle TCM memory for stack frames and hot temporary buffers</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418320" cy="822960"/>
          </a:xfrm>
          <a:prstGeom prst="rect">
            <a:avLst/>
          </a:prstGeom>
          <a:noFill/>
        </p:spPr>
        <p:txBody>
          <a:bodyPr wrap="square" lIns="0" tIns="0" rIns="0" bIns="0">
            <a:spAutoFit/>
          </a:bodyPr>
          <a:lstStyle/>
          <a:p>
            <a:pPr>
              <a:spcAft>
                <a:spcPts val="200"/>
              </a:spcAft>
              <a:defRPr sz="1000" b="1">
                <a:solidFill>
                  <a:srgbClr val="2563EB"/>
                </a:solidFill>
                <a:latin typeface="Calibri"/>
              </a:defRPr>
            </a:pPr>
            <a:r>
              <a:t>6. HARDWARE CO-DESIGN</a:t>
            </a:r>
          </a:p>
          <a:p>
            <a:pPr>
              <a:defRPr sz="2200" b="1">
                <a:solidFill>
                  <a:srgbClr val="0F172A"/>
                </a:solidFill>
                <a:latin typeface="Georgia"/>
              </a:defRPr>
            </a:pPr>
            <a:r>
              <a:t>Custom Silicon: Tensilica Instruction Extensions (TIE)</a:t>
            </a:r>
          </a:p>
        </p:txBody>
      </p:sp>
      <p:sp>
        <p:nvSpPr>
          <p:cNvPr id="3" name="Rounded Rectangle 2"/>
          <p:cNvSpPr/>
          <p:nvPr/>
        </p:nvSpPr>
        <p:spPr>
          <a:xfrm>
            <a:off x="10180015" y="365760"/>
            <a:ext cx="146304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t>PROJECT 304</a:t>
            </a:r>
          </a:p>
        </p:txBody>
      </p:sp>
      <p:sp>
        <p:nvSpPr>
          <p:cNvPr id="4" name="Rectangle 3"/>
          <p:cNvSpPr/>
          <p:nvPr/>
        </p:nvSpPr>
        <p:spPr>
          <a:xfrm>
            <a:off x="548640" y="1234440"/>
            <a:ext cx="1109441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463040"/>
            <a:ext cx="5486400"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600" b="1">
                <a:solidFill>
                  <a:srgbClr val="0F172A"/>
                </a:solidFill>
                <a:latin typeface="Georgia"/>
              </a:defRPr>
            </a:pPr>
            <a:r>
              <a:t>Synthesized TIE Hardware Modules (6 Units)</a:t>
            </a:r>
          </a:p>
          <a:p>
            <a:pPr>
              <a:spcBef>
                <a:spcPts val="400"/>
              </a:spcBef>
              <a:defRPr sz="1100" b="1">
                <a:solidFill>
                  <a:srgbClr val="2563EB"/>
                </a:solidFill>
              </a:defRPr>
            </a:pPr>
            <a:r>
              <a:t>•  TQ_DECMAC2: </a:t>
            </a:r>
            <a:r>
              <a:rPr b="0">
                <a:solidFill>
                  <a:srgbClr val="111827"/>
                </a:solidFill>
              </a:rPr>
              <a:t>Fetches 2 centroids from ROM via packed 3-bit indices, dual 16x16 MAC into 40-bit acc in 1 cycle.</a:t>
            </a:r>
          </a:p>
          <a:p>
            <a:pPr>
              <a:spcBef>
                <a:spcPts val="400"/>
              </a:spcBef>
              <a:defRPr sz="1100" b="1">
                <a:solidFill>
                  <a:srgbClr val="2563EB"/>
                </a:solidFill>
              </a:defRPr>
            </a:pPr>
            <a:r>
              <a:t>•  TQ_SGNACC2: </a:t>
            </a:r>
            <a:r>
              <a:rPr b="0">
                <a:solidFill>
                  <a:srgbClr val="111827"/>
                </a:solidFill>
              </a:rPr>
              <a:t>Unpacks 2 sign bits, performs dual conditional add/subtract, shifts state in 1 cycle.</a:t>
            </a:r>
          </a:p>
          <a:p>
            <a:pPr>
              <a:spcBef>
                <a:spcPts val="400"/>
              </a:spcBef>
              <a:defRPr sz="1100" b="1">
                <a:solidFill>
                  <a:srgbClr val="2563EB"/>
                </a:solidFill>
              </a:defRPr>
            </a:pPr>
            <a:r>
              <a:t>•  TQ_SCALEACC2: </a:t>
            </a:r>
            <a:r>
              <a:rPr b="0">
                <a:solidFill>
                  <a:srgbClr val="111827"/>
                </a:solidFill>
              </a:rPr>
              <a:t>SIMD accumulator using custom 64-bit register file (TQ_VACC) with round-to-nearest logic.</a:t>
            </a:r>
          </a:p>
          <a:p>
            <a:pPr>
              <a:spcBef>
                <a:spcPts val="400"/>
              </a:spcBef>
              <a:defRPr sz="1100" b="1">
                <a:solidFill>
                  <a:srgbClr val="2563EB"/>
                </a:solidFill>
              </a:defRPr>
            </a:pPr>
            <a:r>
              <a:t>•  TQ_IDX_LOAD: </a:t>
            </a:r>
            <a:r>
              <a:rPr b="0">
                <a:solidFill>
                  <a:srgbClr val="111827"/>
                </a:solidFill>
              </a:rPr>
              <a:t>Latches 24 packed bits (eight 3-bit indices) into internal state register.</a:t>
            </a:r>
          </a:p>
          <a:p>
            <a:pPr>
              <a:spcBef>
                <a:spcPts val="400"/>
              </a:spcBef>
              <a:defRPr sz="1100" b="1">
                <a:solidFill>
                  <a:srgbClr val="2563EB"/>
                </a:solidFill>
              </a:defRPr>
            </a:pPr>
            <a:r>
              <a:t>•  Q15MAC2 &amp; SDOT4: </a:t>
            </a:r>
            <a:r>
              <a:rPr b="0">
                <a:solidFill>
                  <a:srgbClr val="111827"/>
                </a:solidFill>
              </a:rPr>
              <a:t>Dual 16-bit signed MAC and quad 8-bit SIMD dot product into 32-bit accumulators.</a:t>
            </a:r>
          </a:p>
        </p:txBody>
      </p:sp>
      <p:sp>
        <p:nvSpPr>
          <p:cNvPr id="6" name="Rounded Rectangle 5"/>
          <p:cNvSpPr/>
          <p:nvPr/>
        </p:nvSpPr>
        <p:spPr>
          <a:xfrm>
            <a:off x="6217920" y="1463040"/>
            <a:ext cx="5394960" cy="4846320"/>
          </a:xfrm>
          <a:prstGeom prst="roundRect">
            <a:avLst/>
          </a:prstGeom>
          <a:solidFill>
            <a:srgbClr val="1E293B"/>
          </a:solidFill>
          <a:ln>
            <a:solidFill>
              <a:srgbClr val="0F172A"/>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400" b="1">
                <a:solidFill>
                  <a:srgbClr val="38BDF8"/>
                </a:solidFill>
                <a:latin typeface="Georgia"/>
              </a:defRPr>
            </a:pPr>
            <a:r>
              <a:rPr dirty="0"/>
              <a:t>Corrected TIE Verilog Datapath (Signed Centroid ROM)</a:t>
            </a:r>
          </a:p>
          <a:p>
            <a:pPr>
              <a:defRPr sz="1000">
                <a:solidFill>
                  <a:srgbClr val="F8FAFC"/>
                </a:solidFill>
                <a:latin typeface="Consolas"/>
              </a:defRPr>
            </a:pPr>
            <a:r>
              <a:rPr dirty="0"/>
              <a:t>// Symmetric Centroid ROM Table (Q15 Hex)</a:t>
            </a:r>
            <a:br>
              <a:rPr dirty="0"/>
            </a:br>
            <a:r>
              <a:rPr dirty="0"/>
              <a:t>function [15:0] </a:t>
            </a:r>
            <a:r>
              <a:rPr dirty="0" err="1"/>
              <a:t>tq_get_cent</a:t>
            </a:r>
            <a:r>
              <a:rPr dirty="0"/>
              <a:t> ([2:0] </a:t>
            </a:r>
            <a:r>
              <a:rPr dirty="0" err="1"/>
              <a:t>idx</a:t>
            </a:r>
            <a:r>
              <a:rPr dirty="0"/>
              <a:t>) {</a:t>
            </a:r>
            <a:br>
              <a:rPr dirty="0"/>
            </a:br>
            <a:r>
              <a:rPr dirty="0"/>
              <a:t>  wire [15:0] c0 = 16'hD944; // -0.302612</a:t>
            </a:r>
            <a:br>
              <a:rPr dirty="0"/>
            </a:br>
            <a:r>
              <a:rPr dirty="0"/>
              <a:t>  wire [15:0] c7 = 16'h26BC; // +0.302612</a:t>
            </a:r>
            <a:br>
              <a:rPr dirty="0"/>
            </a:br>
            <a:r>
              <a:rPr dirty="0"/>
              <a:t>  assign </a:t>
            </a:r>
            <a:r>
              <a:rPr dirty="0" err="1"/>
              <a:t>tq_get_cent</a:t>
            </a:r>
            <a:r>
              <a:rPr dirty="0"/>
              <a:t> = (</a:t>
            </a:r>
            <a:r>
              <a:rPr dirty="0" err="1"/>
              <a:t>idx</a:t>
            </a:r>
            <a:r>
              <a:rPr dirty="0"/>
              <a:t>==3'd0) ? c0 : ...;</a:t>
            </a:r>
            <a:br>
              <a:rPr dirty="0"/>
            </a:br>
            <a:r>
              <a:rPr dirty="0"/>
              <a:t>}</a:t>
            </a:r>
            <a:br>
              <a:rPr dirty="0"/>
            </a:br>
            <a:br>
              <a:rPr dirty="0"/>
            </a:br>
            <a:r>
              <a:rPr dirty="0"/>
              <a:t>// TQ_DECMAC2 Signed Multiplier Datapath</a:t>
            </a:r>
            <a:br>
              <a:rPr dirty="0"/>
            </a:br>
            <a:r>
              <a:rPr dirty="0"/>
              <a:t>operation TQ_DECMAC2 {in AR </a:t>
            </a:r>
            <a:r>
              <a:rPr dirty="0" err="1"/>
              <a:t>qp_pair</a:t>
            </a:r>
            <a:r>
              <a:rPr dirty="0"/>
              <a:t>} {</a:t>
            </a:r>
            <a:br>
              <a:rPr dirty="0"/>
            </a:br>
            <a:r>
              <a:rPr dirty="0"/>
              <a:t>  wire [15:0] c0 = </a:t>
            </a:r>
            <a:r>
              <a:rPr dirty="0" err="1"/>
              <a:t>tq_get_cent</a:t>
            </a:r>
            <a:r>
              <a:rPr dirty="0"/>
              <a:t>(idx0);</a:t>
            </a:r>
            <a:br>
              <a:rPr dirty="0"/>
            </a:br>
            <a:r>
              <a:rPr dirty="0"/>
              <a:t>  wire [15:0] q0 = </a:t>
            </a:r>
            <a:r>
              <a:rPr dirty="0" err="1"/>
              <a:t>qp_pair</a:t>
            </a:r>
            <a:r>
              <a:rPr dirty="0"/>
              <a:t>[15:0];</a:t>
            </a:r>
            <a:br>
              <a:rPr dirty="0"/>
            </a:br>
            <a:r>
              <a:rPr dirty="0"/>
              <a:t>  // Explicit signed 16x16 multiplication:</a:t>
            </a:r>
            <a:br>
              <a:rPr dirty="0"/>
            </a:br>
            <a:r>
              <a:rPr dirty="0"/>
              <a:t>  wire [31:0] p0 = </a:t>
            </a:r>
            <a:r>
              <a:rPr dirty="0" err="1"/>
              <a:t>TIEmul</a:t>
            </a:r>
            <a:r>
              <a:rPr dirty="0"/>
              <a:t>(c0, q0, 1'b1);</a:t>
            </a:r>
            <a:br>
              <a:rPr dirty="0"/>
            </a:br>
            <a:r>
              <a:rPr dirty="0"/>
              <a:t>  wire [39:0] p0_ext = {{8{p0[31]}}, p0};</a:t>
            </a:r>
            <a:br>
              <a:rPr dirty="0"/>
            </a:br>
            <a:r>
              <a:rPr dirty="0"/>
              <a:t>  assign TQ_ACC = TQ_ACC + p0_ext;</a:t>
            </a:r>
            <a:br>
              <a:rPr dirty="0"/>
            </a:br>
            <a:r>
              <a:rPr dirty="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418320" cy="822960"/>
          </a:xfrm>
          <a:prstGeom prst="rect">
            <a:avLst/>
          </a:prstGeom>
          <a:noFill/>
        </p:spPr>
        <p:txBody>
          <a:bodyPr wrap="square" lIns="0" tIns="0" rIns="0" bIns="0">
            <a:spAutoFit/>
          </a:bodyPr>
          <a:lstStyle/>
          <a:p>
            <a:pPr>
              <a:spcAft>
                <a:spcPts val="200"/>
              </a:spcAft>
              <a:defRPr sz="1000" b="1">
                <a:solidFill>
                  <a:srgbClr val="2563EB"/>
                </a:solidFill>
                <a:latin typeface="Calibri"/>
              </a:defRPr>
            </a:pPr>
            <a:r>
              <a:t>7. ALGORITHMIC OPTIMIZATIONS</a:t>
            </a:r>
          </a:p>
          <a:p>
            <a:pPr>
              <a:defRPr sz="2200" b="1">
                <a:solidFill>
                  <a:srgbClr val="0F172A"/>
                </a:solidFill>
                <a:latin typeface="Georgia"/>
              </a:defRPr>
            </a:pPr>
            <a:r>
              <a:t>Algorithmic Optimization 1: Factored Value Path</a:t>
            </a:r>
          </a:p>
        </p:txBody>
      </p:sp>
      <p:sp>
        <p:nvSpPr>
          <p:cNvPr id="3" name="Rounded Rectangle 2"/>
          <p:cNvSpPr/>
          <p:nvPr/>
        </p:nvSpPr>
        <p:spPr>
          <a:xfrm>
            <a:off x="10180015" y="365760"/>
            <a:ext cx="146304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rPr dirty="0"/>
              <a:t>PROJECT 304</a:t>
            </a:r>
          </a:p>
        </p:txBody>
      </p:sp>
      <p:sp>
        <p:nvSpPr>
          <p:cNvPr id="4" name="Rectangle 3"/>
          <p:cNvSpPr/>
          <p:nvPr/>
        </p:nvSpPr>
        <p:spPr>
          <a:xfrm>
            <a:off x="548640" y="1234440"/>
            <a:ext cx="1109441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5" name="Rounded Rectangle 4"/>
              <p:cNvSpPr/>
              <p:nvPr/>
            </p:nvSpPr>
            <p:spPr>
              <a:xfrm>
                <a:off x="548640" y="1463040"/>
                <a:ext cx="11094415"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000"/>
                  </a:spcAft>
                  <a:defRPr sz="1800" b="1">
                    <a:solidFill>
                      <a:srgbClr val="0F172A"/>
                    </a:solidFill>
                    <a:latin typeface="Georgia"/>
                  </a:defRPr>
                </a:pPr>
                <a:r>
                  <a:rPr lang="en-US" dirty="0"/>
                  <a:t>Mathematical Factoring Outside the Temporal Summation Loop</a:t>
                </a:r>
              </a:p>
              <a:p>
                <a:pPr>
                  <a:spcBef>
                    <a:spcPts val="800"/>
                  </a:spcBef>
                  <a:defRPr sz="1300" b="1">
                    <a:solidFill>
                      <a:srgbClr val="2563EB"/>
                    </a:solidFill>
                  </a:defRPr>
                </a:pPr>
                <a:r>
                  <a:rPr lang="en-US" dirty="0"/>
                  <a:t>•  The Naive Bottleneck: </a:t>
                </a:r>
                <a:r>
                  <a:rPr lang="en-US" b="0" dirty="0">
                    <a:solidFill>
                      <a:srgbClr val="111827"/>
                    </a:solidFill>
                  </a:rPr>
                  <a:t>Naive </a:t>
                </a:r>
                <a:r>
                  <a:rPr lang="en-US" b="0" dirty="0" err="1">
                    <a:solidFill>
                      <a:srgbClr val="111827"/>
                    </a:solidFill>
                  </a:rPr>
                  <a:t>TurboQuant</a:t>
                </a:r>
                <a:r>
                  <a:rPr lang="en-US" b="0" dirty="0">
                    <a:solidFill>
                      <a:srgbClr val="111827"/>
                    </a:solidFill>
                  </a:rPr>
                  <a:t> reconstructs physical Value vectors </a:t>
                </a:r>
                <a14:m>
                  <m:oMath xmlns:m="http://schemas.openxmlformats.org/officeDocument/2006/math">
                    <m:sSub>
                      <m:sSubPr>
                        <m:ctrlPr>
                          <a:rPr lang="en-US" b="0" i="1" dirty="0" smtClean="0">
                            <a:solidFill>
                              <a:srgbClr val="111827"/>
                            </a:solidFill>
                            <a:latin typeface="Cambria Math" panose="02040503050406030204" pitchFamily="18" charset="0"/>
                          </a:rPr>
                        </m:ctrlPr>
                      </m:sSubPr>
                      <m:e>
                        <m:r>
                          <a:rPr lang="en-US" b="0" i="1" dirty="0" smtClean="0">
                            <a:solidFill>
                              <a:srgbClr val="111827"/>
                            </a:solidFill>
                            <a:latin typeface="Cambria Math" panose="02040503050406030204" pitchFamily="18" charset="0"/>
                          </a:rPr>
                          <m:t>𝑣</m:t>
                        </m:r>
                      </m:e>
                      <m:sub>
                        <m:r>
                          <a:rPr lang="en-US" b="0" i="1" dirty="0" smtClean="0">
                            <a:solidFill>
                              <a:srgbClr val="111827"/>
                            </a:solidFill>
                            <a:latin typeface="Cambria Math" panose="02040503050406030204" pitchFamily="18" charset="0"/>
                          </a:rPr>
                          <m:t>𝑡</m:t>
                        </m:r>
                      </m:sub>
                    </m:sSub>
                    <m:r>
                      <a:rPr lang="en-US" b="0" i="1" dirty="0">
                        <a:solidFill>
                          <a:srgbClr val="111827"/>
                        </a:solidFill>
                        <a:latin typeface="Cambria Math" panose="02040503050406030204" pitchFamily="18" charset="0"/>
                      </a:rPr>
                      <m:t> = </m:t>
                    </m:r>
                    <m:sSup>
                      <m:sSupPr>
                        <m:ctrlPr>
                          <a:rPr lang="el-GR" b="0" i="0" dirty="0">
                            <a:solidFill>
                              <a:srgbClr val="111827"/>
                            </a:solidFill>
                            <a:latin typeface="Cambria Math" panose="02040503050406030204" pitchFamily="18" charset="0"/>
                          </a:rPr>
                        </m:ctrlPr>
                      </m:sSupPr>
                      <m:e>
                        <m:r>
                          <m:rPr>
                            <m:sty m:val="p"/>
                          </m:rPr>
                          <a:rPr lang="el-GR" b="0" i="0" dirty="0">
                            <a:solidFill>
                              <a:srgbClr val="111827"/>
                            </a:solidFill>
                            <a:latin typeface="Cambria Math" panose="02040503050406030204" pitchFamily="18" charset="0"/>
                          </a:rPr>
                          <m:t>Π</m:t>
                        </m:r>
                      </m:e>
                      <m:sup>
                        <m:r>
                          <a:rPr lang="ar-AE" b="0" i="1" dirty="0">
                            <a:solidFill>
                              <a:srgbClr val="111827"/>
                            </a:solidFill>
                            <a:latin typeface="Cambria Math" panose="02040503050406030204" pitchFamily="18" charset="0"/>
                          </a:rPr>
                          <m:t>𝑇</m:t>
                        </m:r>
                      </m:sup>
                    </m:sSup>
                    <m:r>
                      <a:rPr lang="ar-AE" b="0" i="1" dirty="0">
                        <a:solidFill>
                          <a:srgbClr val="111827"/>
                        </a:solidFill>
                        <a:latin typeface="Cambria Math" panose="02040503050406030204" pitchFamily="18" charset="0"/>
                      </a:rPr>
                      <m:t> ( </m:t>
                    </m:r>
                    <m:sSub>
                      <m:sSubPr>
                        <m:ctrlPr>
                          <a:rPr lang="ar-AE" b="0" i="1" dirty="0" err="1">
                            <a:solidFill>
                              <a:srgbClr val="111827"/>
                            </a:solidFill>
                            <a:latin typeface="Cambria Math" panose="02040503050406030204" pitchFamily="18" charset="0"/>
                          </a:rPr>
                        </m:ctrlPr>
                      </m:sSubPr>
                      <m:e>
                        <m:r>
                          <a:rPr lang="ar-AE" b="0" i="1" dirty="0" err="1">
                            <a:solidFill>
                              <a:srgbClr val="111827"/>
                            </a:solidFill>
                            <a:latin typeface="Cambria Math" panose="02040503050406030204" pitchFamily="18" charset="0"/>
                          </a:rPr>
                          <m:t>𝑦</m:t>
                        </m:r>
                      </m:e>
                      <m:sub>
                        <m:r>
                          <a:rPr lang="ar-AE" b="0" i="1" dirty="0" err="1">
                            <a:solidFill>
                              <a:srgbClr val="111827"/>
                            </a:solidFill>
                            <a:latin typeface="Cambria Math" panose="02040503050406030204" pitchFamily="18" charset="0"/>
                          </a:rPr>
                          <m:t>𝑞</m:t>
                        </m:r>
                      </m:sub>
                    </m:sSub>
                    <m:r>
                      <a:rPr lang="ar-AE" b="0" i="1" dirty="0" err="1">
                        <a:solidFill>
                          <a:srgbClr val="111827"/>
                        </a:solidFill>
                        <a:latin typeface="Cambria Math" panose="02040503050406030204" pitchFamily="18" charset="0"/>
                      </a:rPr>
                      <m:t>,</m:t>
                    </m:r>
                    <m:r>
                      <a:rPr lang="ar-AE" b="0" i="1" dirty="0" err="1">
                        <a:solidFill>
                          <a:srgbClr val="111827"/>
                        </a:solidFill>
                        <a:latin typeface="Cambria Math" panose="02040503050406030204" pitchFamily="18" charset="0"/>
                      </a:rPr>
                      <m:t>𝑡</m:t>
                    </m:r>
                    <m:r>
                      <a:rPr lang="ar-AE" b="0" i="1" dirty="0">
                        <a:solidFill>
                          <a:srgbClr val="111827"/>
                        </a:solidFill>
                        <a:latin typeface="Cambria Math" panose="02040503050406030204" pitchFamily="18" charset="0"/>
                      </a:rPr>
                      <m:t> + </m:t>
                    </m:r>
                    <m:sSub>
                      <m:sSubPr>
                        <m:ctrlPr>
                          <a:rPr lang="ar-AE" b="0" i="1" dirty="0" err="1">
                            <a:solidFill>
                              <a:srgbClr val="111827"/>
                            </a:solidFill>
                            <a:latin typeface="Cambria Math" panose="02040503050406030204" pitchFamily="18" charset="0"/>
                          </a:rPr>
                        </m:ctrlPr>
                      </m:sSubPr>
                      <m:e>
                        <m:r>
                          <a:rPr lang="ar-AE" b="0" i="1" dirty="0" err="1">
                            <a:solidFill>
                              <a:srgbClr val="111827"/>
                            </a:solidFill>
                            <a:latin typeface="Cambria Math" panose="02040503050406030204" pitchFamily="18" charset="0"/>
                          </a:rPr>
                          <m:t>𝑐</m:t>
                        </m:r>
                      </m:e>
                      <m:sub>
                        <m:r>
                          <a:rPr lang="ar-AE" b="0" i="1" dirty="0" err="1">
                            <a:solidFill>
                              <a:srgbClr val="111827"/>
                            </a:solidFill>
                            <a:latin typeface="Cambria Math" panose="02040503050406030204" pitchFamily="18" charset="0"/>
                          </a:rPr>
                          <m:t>𝑞𝑗𝑙</m:t>
                        </m:r>
                      </m:sub>
                    </m:sSub>
                    <m:r>
                      <a:rPr lang="ar-AE" b="0" i="1" dirty="0">
                        <a:solidFill>
                          <a:srgbClr val="111827"/>
                        </a:solidFill>
                        <a:latin typeface="Cambria Math" panose="02040503050406030204" pitchFamily="18" charset="0"/>
                      </a:rPr>
                      <m:t> · </m:t>
                    </m:r>
                    <m:sSup>
                      <m:sSupPr>
                        <m:ctrlPr>
                          <a:rPr lang="ar-AE" b="0" i="1" dirty="0">
                            <a:solidFill>
                              <a:srgbClr val="111827"/>
                            </a:solidFill>
                            <a:latin typeface="Cambria Math" panose="02040503050406030204" pitchFamily="18" charset="0"/>
                          </a:rPr>
                        </m:ctrlPr>
                      </m:sSupPr>
                      <m:e>
                        <m:r>
                          <a:rPr lang="ar-AE" b="0" i="1" dirty="0">
                            <a:solidFill>
                              <a:srgbClr val="111827"/>
                            </a:solidFill>
                            <a:latin typeface="Cambria Math" panose="02040503050406030204" pitchFamily="18" charset="0"/>
                          </a:rPr>
                          <m:t>𝑀</m:t>
                        </m:r>
                      </m:e>
                      <m:sup>
                        <m:r>
                          <a:rPr lang="ar-AE" b="0" i="1" dirty="0">
                            <a:solidFill>
                              <a:srgbClr val="111827"/>
                            </a:solidFill>
                            <a:latin typeface="Cambria Math" panose="02040503050406030204" pitchFamily="18" charset="0"/>
                          </a:rPr>
                          <m:t>𝑇</m:t>
                        </m:r>
                      </m:sup>
                    </m:sSup>
                    <m:r>
                      <a:rPr lang="ar-AE" b="0" i="1" dirty="0">
                        <a:solidFill>
                          <a:srgbClr val="111827"/>
                        </a:solidFill>
                        <a:latin typeface="Cambria Math" panose="02040503050406030204" pitchFamily="18" charset="0"/>
                      </a:rPr>
                      <m:t> </m:t>
                    </m:r>
                    <m:r>
                      <a:rPr lang="ar-AE" b="0" i="1" dirty="0" err="1">
                        <a:solidFill>
                          <a:srgbClr val="111827"/>
                        </a:solidFill>
                        <a:latin typeface="Cambria Math" panose="02040503050406030204" pitchFamily="18" charset="0"/>
                      </a:rPr>
                      <m:t>𝑞𝑗</m:t>
                    </m:r>
                    <m:sSub>
                      <m:sSubPr>
                        <m:ctrlPr>
                          <a:rPr lang="ar-AE" b="0" i="1" dirty="0" err="1">
                            <a:solidFill>
                              <a:srgbClr val="111827"/>
                            </a:solidFill>
                            <a:latin typeface="Cambria Math" panose="02040503050406030204" pitchFamily="18" charset="0"/>
                          </a:rPr>
                        </m:ctrlPr>
                      </m:sSubPr>
                      <m:e>
                        <m:r>
                          <a:rPr lang="ar-AE" b="0" i="1" dirty="0" err="1">
                            <a:solidFill>
                              <a:srgbClr val="111827"/>
                            </a:solidFill>
                            <a:latin typeface="Cambria Math" panose="02040503050406030204" pitchFamily="18" charset="0"/>
                          </a:rPr>
                          <m:t>𝑙</m:t>
                        </m:r>
                      </m:e>
                      <m:sub>
                        <m:r>
                          <a:rPr lang="ar-AE" b="0" i="1" dirty="0" err="1">
                            <a:solidFill>
                              <a:srgbClr val="111827"/>
                            </a:solidFill>
                            <a:latin typeface="Cambria Math" panose="02040503050406030204" pitchFamily="18" charset="0"/>
                          </a:rPr>
                          <m:t>𝑡</m:t>
                        </m:r>
                      </m:sub>
                    </m:sSub>
                    <m:r>
                      <a:rPr lang="ar-AE" b="0" i="1" dirty="0">
                        <a:solidFill>
                          <a:srgbClr val="111827"/>
                        </a:solidFill>
                        <a:latin typeface="Cambria Math" panose="02040503050406030204" pitchFamily="18" charset="0"/>
                      </a:rPr>
                      <m:t> ) </m:t>
                    </m:r>
                  </m:oMath>
                </a14:m>
                <a:r>
                  <a:rPr lang="en-US" b="0" dirty="0">
                    <a:solidFill>
                      <a:srgbClr val="111827"/>
                    </a:solidFill>
                  </a:rPr>
                  <a:t>inside the temporal loop, executing two dense d x d matrix-vector multiplications per token (over 18,000 dense </a:t>
                </a:r>
                <a:r>
                  <a:rPr lang="en-US" b="0" dirty="0" err="1">
                    <a:solidFill>
                      <a:srgbClr val="111827"/>
                    </a:solidFill>
                  </a:rPr>
                  <a:t>matvecs</a:t>
                </a:r>
                <a:r>
                  <a:rPr lang="en-US" b="0" dirty="0">
                    <a:solidFill>
                      <a:srgbClr val="111827"/>
                    </a:solidFill>
                  </a:rPr>
                  <a:t> per token across layers).</a:t>
                </a:r>
              </a:p>
              <a:p>
                <a:pPr>
                  <a:spcBef>
                    <a:spcPts val="800"/>
                  </a:spcBef>
                  <a:defRPr sz="1300" b="1">
                    <a:solidFill>
                      <a:srgbClr val="2563EB"/>
                    </a:solidFill>
                  </a:defRPr>
                </a:pPr>
                <a:r>
                  <a:rPr lang="en-US" dirty="0"/>
                  <a:t>•  Distributive Property Application: </a:t>
                </a:r>
                <a:r>
                  <a:rPr lang="en-US" b="0" dirty="0">
                    <a:solidFill>
                      <a:srgbClr val="111827"/>
                    </a:solidFill>
                  </a:rPr>
                  <a:t>Because matrix multiplication is linear and distributes over addition (A x + A y = A(x + y)), we factored </a:t>
                </a:r>
                <a14:m>
                  <m:oMath xmlns:m="http://schemas.openxmlformats.org/officeDocument/2006/math">
                    <m:sSup>
                      <m:sSupPr>
                        <m:ctrlPr>
                          <a:rPr lang="el-GR" b="0" i="0" dirty="0" smtClean="0">
                            <a:solidFill>
                              <a:srgbClr val="111827"/>
                            </a:solidFill>
                            <a:latin typeface="Cambria Math" panose="02040503050406030204" pitchFamily="18" charset="0"/>
                          </a:rPr>
                        </m:ctrlPr>
                      </m:sSupPr>
                      <m:e>
                        <m:r>
                          <m:rPr>
                            <m:sty m:val="p"/>
                          </m:rPr>
                          <a:rPr lang="el-GR" b="0" i="0" dirty="0" smtClean="0">
                            <a:solidFill>
                              <a:srgbClr val="111827"/>
                            </a:solidFill>
                            <a:latin typeface="Cambria Math" panose="02040503050406030204" pitchFamily="18" charset="0"/>
                          </a:rPr>
                          <m:t>Π</m:t>
                        </m:r>
                      </m:e>
                      <m:sup>
                        <m:r>
                          <a:rPr lang="en-US" b="0" i="1" dirty="0">
                            <a:solidFill>
                              <a:srgbClr val="111827"/>
                            </a:solidFill>
                            <a:latin typeface="Cambria Math" panose="02040503050406030204" pitchFamily="18" charset="0"/>
                          </a:rPr>
                          <m:t>𝑇</m:t>
                        </m:r>
                      </m:sup>
                    </m:sSup>
                  </m:oMath>
                </a14:m>
                <a:r>
                  <a:rPr lang="en-US" b="0" dirty="0">
                    <a:solidFill>
                      <a:srgbClr val="111827"/>
                    </a:solidFill>
                  </a:rPr>
                  <a:t> and </a:t>
                </a:r>
                <a14:m>
                  <m:oMath xmlns:m="http://schemas.openxmlformats.org/officeDocument/2006/math">
                    <m:sSup>
                      <m:sSupPr>
                        <m:ctrlPr>
                          <a:rPr lang="en-US" b="0" i="1" dirty="0" smtClean="0">
                            <a:solidFill>
                              <a:srgbClr val="111827"/>
                            </a:solidFill>
                            <a:latin typeface="Cambria Math" panose="02040503050406030204" pitchFamily="18" charset="0"/>
                          </a:rPr>
                        </m:ctrlPr>
                      </m:sSupPr>
                      <m:e>
                        <m:r>
                          <a:rPr lang="en-US" b="0" i="1" dirty="0" smtClean="0">
                            <a:solidFill>
                              <a:srgbClr val="111827"/>
                            </a:solidFill>
                            <a:latin typeface="Cambria Math" panose="02040503050406030204" pitchFamily="18" charset="0"/>
                          </a:rPr>
                          <m:t>𝑀</m:t>
                        </m:r>
                      </m:e>
                      <m:sup>
                        <m:r>
                          <a:rPr lang="en-US" b="0" i="1" dirty="0" smtClean="0">
                            <a:solidFill>
                              <a:srgbClr val="111827"/>
                            </a:solidFill>
                            <a:latin typeface="Cambria Math" panose="02040503050406030204" pitchFamily="18" charset="0"/>
                          </a:rPr>
                          <m:t>𝑇</m:t>
                        </m:r>
                      </m:sup>
                    </m:sSup>
                  </m:oMath>
                </a14:m>
                <a:r>
                  <a:rPr lang="en-US" b="0" dirty="0">
                    <a:solidFill>
                      <a:srgbClr val="111827"/>
                    </a:solidFill>
                  </a:rPr>
                  <a:t> completely outside the time summation:</a:t>
                </a:r>
              </a:p>
              <a:p>
                <a:pPr>
                  <a:spcBef>
                    <a:spcPts val="800"/>
                  </a:spcBef>
                  <a:defRPr sz="1300" b="1">
                    <a:solidFill>
                      <a:srgbClr val="2563EB"/>
                    </a:solidFill>
                  </a:defRPr>
                </a:pPr>
                <a:r>
                  <a:rPr lang="en-US" dirty="0"/>
                  <a:t>•  Correct Mathematical Formula: </a:t>
                </a:r>
                <a:r>
                  <a:rPr lang="en-US" b="0" dirty="0">
                    <a:solidFill>
                      <a:srgbClr val="111827"/>
                    </a:solidFill>
                  </a:rPr>
                  <a:t>Output = </a:t>
                </a:r>
                <a14:m>
                  <m:oMath xmlns:m="http://schemas.openxmlformats.org/officeDocument/2006/math">
                    <m:sSup>
                      <m:sSupPr>
                        <m:ctrlPr>
                          <a:rPr lang="el-GR" b="0" i="0" dirty="0" smtClean="0">
                            <a:solidFill>
                              <a:srgbClr val="111827"/>
                            </a:solidFill>
                            <a:latin typeface="Cambria Math" panose="02040503050406030204" pitchFamily="18" charset="0"/>
                          </a:rPr>
                        </m:ctrlPr>
                      </m:sSupPr>
                      <m:e>
                        <m:r>
                          <m:rPr>
                            <m:sty m:val="p"/>
                          </m:rPr>
                          <a:rPr lang="el-GR" b="0" i="0" dirty="0" smtClean="0">
                            <a:solidFill>
                              <a:srgbClr val="111827"/>
                            </a:solidFill>
                            <a:latin typeface="Cambria Math" panose="02040503050406030204" pitchFamily="18" charset="0"/>
                          </a:rPr>
                          <m:t>Π</m:t>
                        </m:r>
                      </m:e>
                      <m:sup>
                        <m:r>
                          <a:rPr lang="en-US" b="0" i="1" dirty="0">
                            <a:solidFill>
                              <a:srgbClr val="111827"/>
                            </a:solidFill>
                            <a:latin typeface="Cambria Math" panose="02040503050406030204" pitchFamily="18" charset="0"/>
                          </a:rPr>
                          <m:t>𝑇</m:t>
                        </m:r>
                      </m:sup>
                    </m:sSup>
                    <m:r>
                      <a:rPr lang="en-US" b="0" i="1" dirty="0">
                        <a:solidFill>
                          <a:srgbClr val="111827"/>
                        </a:solidFill>
                        <a:latin typeface="Cambria Math" panose="02040503050406030204" pitchFamily="18" charset="0"/>
                      </a:rPr>
                      <m:t> [ </m:t>
                    </m:r>
                    <m:sSub>
                      <m:sSubPr>
                        <m:ctrlPr>
                          <a:rPr lang="el-GR" b="0" i="0" dirty="0" err="1">
                            <a:solidFill>
                              <a:srgbClr val="111827"/>
                            </a:solidFill>
                            <a:latin typeface="Cambria Math" panose="02040503050406030204" pitchFamily="18" charset="0"/>
                          </a:rPr>
                        </m:ctrlPr>
                      </m:sSubPr>
                      <m:e>
                        <m:r>
                          <m:rPr>
                            <m:sty m:val="p"/>
                          </m:rPr>
                          <a:rPr lang="el-GR" b="0" i="0" dirty="0" err="1">
                            <a:solidFill>
                              <a:srgbClr val="111827"/>
                            </a:solidFill>
                            <a:latin typeface="Cambria Math" panose="02040503050406030204" pitchFamily="18" charset="0"/>
                          </a:rPr>
                          <m:t>Σ</m:t>
                        </m:r>
                      </m:e>
                      <m:sub>
                        <m:r>
                          <a:rPr lang="en-US" b="0" i="1" dirty="0" err="1">
                            <a:solidFill>
                              <a:srgbClr val="111827"/>
                            </a:solidFill>
                            <a:latin typeface="Cambria Math" panose="02040503050406030204" pitchFamily="18" charset="0"/>
                          </a:rPr>
                          <m:t>𝑡</m:t>
                        </m:r>
                      </m:sub>
                    </m:sSub>
                    <m:sSub>
                      <m:sSubPr>
                        <m:ctrlPr>
                          <a:rPr lang="el-GR" b="0" i="1" dirty="0">
                            <a:solidFill>
                              <a:srgbClr val="111827"/>
                            </a:solidFill>
                            <a:latin typeface="Cambria Math" panose="02040503050406030204" pitchFamily="18" charset="0"/>
                          </a:rPr>
                        </m:ctrlPr>
                      </m:sSubPr>
                      <m:e>
                        <m:r>
                          <a:rPr lang="el-GR" b="0" i="1" dirty="0">
                            <a:solidFill>
                              <a:srgbClr val="111827"/>
                            </a:solidFill>
                            <a:latin typeface="Cambria Math" panose="02040503050406030204" pitchFamily="18" charset="0"/>
                          </a:rPr>
                          <m:t>𝛼</m:t>
                        </m:r>
                      </m:e>
                      <m:sub>
                        <m:r>
                          <a:rPr lang="en-US" b="0" i="1" dirty="0">
                            <a:solidFill>
                              <a:srgbClr val="111827"/>
                            </a:solidFill>
                            <a:latin typeface="Cambria Math" panose="02040503050406030204" pitchFamily="18" charset="0"/>
                          </a:rPr>
                          <m:t>𝑡</m:t>
                        </m:r>
                      </m:sub>
                    </m:sSub>
                    <m:r>
                      <a:rPr lang="en-US" b="0" i="1" dirty="0">
                        <a:solidFill>
                          <a:srgbClr val="111827"/>
                        </a:solidFill>
                        <a:latin typeface="Cambria Math" panose="02040503050406030204" pitchFamily="18" charset="0"/>
                      </a:rPr>
                      <m:t> </m:t>
                    </m:r>
                    <m:d>
                      <m:dPr>
                        <m:begChr m:val="|"/>
                        <m:endChr m:val="|"/>
                        <m:ctrlPr>
                          <a:rPr lang="en-US" b="0" i="1" dirty="0">
                            <a:solidFill>
                              <a:srgbClr val="111827"/>
                            </a:solidFill>
                            <a:latin typeface="Cambria Math" panose="02040503050406030204" pitchFamily="18" charset="0"/>
                          </a:rPr>
                        </m:ctrlPr>
                      </m:dPr>
                      <m:e>
                        <m:d>
                          <m:dPr>
                            <m:begChr m:val="|"/>
                            <m:endChr m:val="|"/>
                            <m:ctrlPr>
                              <a:rPr lang="en-US" b="0" i="1" dirty="0" err="1">
                                <a:solidFill>
                                  <a:srgbClr val="111827"/>
                                </a:solidFill>
                                <a:latin typeface="Cambria Math" panose="02040503050406030204" pitchFamily="18" charset="0"/>
                              </a:rPr>
                            </m:ctrlPr>
                          </m:dPr>
                          <m:e>
                            <m:sSub>
                              <m:sSubPr>
                                <m:ctrlPr>
                                  <a:rPr lang="en-US" b="0" i="1" dirty="0" err="1">
                                    <a:solidFill>
                                      <a:srgbClr val="111827"/>
                                    </a:solidFill>
                                    <a:latin typeface="Cambria Math" panose="02040503050406030204" pitchFamily="18" charset="0"/>
                                  </a:rPr>
                                </m:ctrlPr>
                              </m:sSubPr>
                              <m:e>
                                <m:r>
                                  <a:rPr lang="en-US" b="0" i="1" dirty="0" err="1">
                                    <a:solidFill>
                                      <a:srgbClr val="111827"/>
                                    </a:solidFill>
                                    <a:latin typeface="Cambria Math" panose="02040503050406030204" pitchFamily="18" charset="0"/>
                                  </a:rPr>
                                  <m:t>𝑣</m:t>
                                </m:r>
                              </m:e>
                              <m:sub>
                                <m:r>
                                  <a:rPr lang="en-US" b="0" i="1" dirty="0" err="1">
                                    <a:solidFill>
                                      <a:srgbClr val="111827"/>
                                    </a:solidFill>
                                    <a:latin typeface="Cambria Math" panose="02040503050406030204" pitchFamily="18" charset="0"/>
                                  </a:rPr>
                                  <m:t>𝑡</m:t>
                                </m:r>
                              </m:sub>
                            </m:sSub>
                          </m:e>
                        </m:d>
                      </m:e>
                    </m:d>
                    <m:sSub>
                      <m:sSubPr>
                        <m:ctrlPr>
                          <a:rPr lang="en-US" b="0" i="1" dirty="0" err="1">
                            <a:solidFill>
                              <a:srgbClr val="111827"/>
                            </a:solidFill>
                            <a:latin typeface="Cambria Math" panose="02040503050406030204" pitchFamily="18" charset="0"/>
                          </a:rPr>
                        </m:ctrlPr>
                      </m:sSubPr>
                      <m:e>
                        <m:r>
                          <a:rPr lang="en-US" b="0" i="1" dirty="0" err="1">
                            <a:solidFill>
                              <a:srgbClr val="111827"/>
                            </a:solidFill>
                            <a:latin typeface="Cambria Math" panose="02040503050406030204" pitchFamily="18" charset="0"/>
                          </a:rPr>
                          <m:t>𝑦</m:t>
                        </m:r>
                      </m:e>
                      <m:sub>
                        <m:r>
                          <a:rPr lang="en-US" b="0" i="1" dirty="0" err="1">
                            <a:solidFill>
                              <a:srgbClr val="111827"/>
                            </a:solidFill>
                            <a:latin typeface="Cambria Math" panose="02040503050406030204" pitchFamily="18" charset="0"/>
                          </a:rPr>
                          <m:t>𝑞</m:t>
                        </m:r>
                      </m:sub>
                    </m:sSub>
                    <m:r>
                      <a:rPr lang="en-US" b="0" i="1" dirty="0" err="1">
                        <a:solidFill>
                          <a:srgbClr val="111827"/>
                        </a:solidFill>
                        <a:latin typeface="Cambria Math" panose="02040503050406030204" pitchFamily="18" charset="0"/>
                      </a:rPr>
                      <m:t>,</m:t>
                    </m:r>
                    <m:r>
                      <a:rPr lang="en-US" b="0" i="1" dirty="0" err="1">
                        <a:solidFill>
                          <a:srgbClr val="111827"/>
                        </a:solidFill>
                        <a:latin typeface="Cambria Math" panose="02040503050406030204" pitchFamily="18" charset="0"/>
                      </a:rPr>
                      <m:t>𝑡</m:t>
                    </m:r>
                    <m:r>
                      <a:rPr lang="en-US" b="0" i="1" dirty="0">
                        <a:solidFill>
                          <a:srgbClr val="111827"/>
                        </a:solidFill>
                        <a:latin typeface="Cambria Math" panose="02040503050406030204" pitchFamily="18" charset="0"/>
                      </a:rPr>
                      <m:t>  +  (√(</m:t>
                    </m:r>
                    <m:f>
                      <m:fPr>
                        <m:ctrlPr>
                          <a:rPr lang="el-GR" b="0" i="1" dirty="0">
                            <a:solidFill>
                              <a:srgbClr val="111827"/>
                            </a:solidFill>
                            <a:latin typeface="Cambria Math" panose="02040503050406030204" pitchFamily="18" charset="0"/>
                          </a:rPr>
                        </m:ctrlPr>
                      </m:fPr>
                      <m:num>
                        <m:r>
                          <a:rPr lang="el-GR" b="0" i="1" dirty="0">
                            <a:solidFill>
                              <a:srgbClr val="111827"/>
                            </a:solidFill>
                            <a:latin typeface="Cambria Math" panose="02040503050406030204" pitchFamily="18" charset="0"/>
                          </a:rPr>
                          <m:t>𝜋</m:t>
                        </m:r>
                      </m:num>
                      <m:den>
                        <m:r>
                          <a:rPr lang="el-GR" b="0" i="1" dirty="0">
                            <a:solidFill>
                              <a:srgbClr val="111827"/>
                            </a:solidFill>
                            <a:latin typeface="Cambria Math" panose="02040503050406030204" pitchFamily="18" charset="0"/>
                          </a:rPr>
                          <m:t>2</m:t>
                        </m:r>
                      </m:den>
                    </m:f>
                    <m:r>
                      <a:rPr lang="el-GR" b="0" i="1" dirty="0">
                        <a:solidFill>
                          <a:srgbClr val="111827"/>
                        </a:solidFill>
                        <a:latin typeface="Cambria Math" panose="02040503050406030204" pitchFamily="18" charset="0"/>
                      </a:rPr>
                      <m:t>) / </m:t>
                    </m:r>
                    <m:r>
                      <a:rPr lang="en-US" b="0" i="1" dirty="0">
                        <a:solidFill>
                          <a:srgbClr val="111827"/>
                        </a:solidFill>
                        <a:latin typeface="Cambria Math" panose="02040503050406030204" pitchFamily="18" charset="0"/>
                      </a:rPr>
                      <m:t>𝑑</m:t>
                    </m:r>
                    <m:r>
                      <a:rPr lang="en-US" b="0" i="1" dirty="0">
                        <a:solidFill>
                          <a:srgbClr val="111827"/>
                        </a:solidFill>
                        <a:latin typeface="Cambria Math" panose="02040503050406030204" pitchFamily="18" charset="0"/>
                      </a:rPr>
                      <m:t>) · </m:t>
                    </m:r>
                    <m:sSup>
                      <m:sSupPr>
                        <m:ctrlPr>
                          <a:rPr lang="en-US" b="0" i="1" dirty="0">
                            <a:solidFill>
                              <a:srgbClr val="111827"/>
                            </a:solidFill>
                            <a:latin typeface="Cambria Math" panose="02040503050406030204" pitchFamily="18" charset="0"/>
                          </a:rPr>
                        </m:ctrlPr>
                      </m:sSupPr>
                      <m:e>
                        <m:r>
                          <a:rPr lang="en-US" b="0" i="1" dirty="0">
                            <a:solidFill>
                              <a:srgbClr val="111827"/>
                            </a:solidFill>
                            <a:latin typeface="Cambria Math" panose="02040503050406030204" pitchFamily="18" charset="0"/>
                          </a:rPr>
                          <m:t>𝑀</m:t>
                        </m:r>
                      </m:e>
                      <m:sup>
                        <m:r>
                          <a:rPr lang="en-US" b="0" i="1" dirty="0">
                            <a:solidFill>
                              <a:srgbClr val="111827"/>
                            </a:solidFill>
                            <a:latin typeface="Cambria Math" panose="02040503050406030204" pitchFamily="18" charset="0"/>
                          </a:rPr>
                          <m:t>𝑇</m:t>
                        </m:r>
                      </m:sup>
                    </m:sSup>
                    <m:r>
                      <a:rPr lang="en-US" b="0" i="1" dirty="0">
                        <a:solidFill>
                          <a:srgbClr val="111827"/>
                        </a:solidFill>
                        <a:latin typeface="Cambria Math" panose="02040503050406030204" pitchFamily="18" charset="0"/>
                      </a:rPr>
                      <m:t>  </m:t>
                    </m:r>
                    <m:sSub>
                      <m:sSubPr>
                        <m:ctrlPr>
                          <a:rPr lang="el-GR" b="0" i="0" dirty="0" err="1">
                            <a:solidFill>
                              <a:srgbClr val="111827"/>
                            </a:solidFill>
                            <a:latin typeface="Cambria Math" panose="02040503050406030204" pitchFamily="18" charset="0"/>
                          </a:rPr>
                        </m:ctrlPr>
                      </m:sSubPr>
                      <m:e>
                        <m:r>
                          <m:rPr>
                            <m:sty m:val="p"/>
                          </m:rPr>
                          <a:rPr lang="el-GR" b="0" i="0" dirty="0" err="1">
                            <a:solidFill>
                              <a:srgbClr val="111827"/>
                            </a:solidFill>
                            <a:latin typeface="Cambria Math" panose="02040503050406030204" pitchFamily="18" charset="0"/>
                          </a:rPr>
                          <m:t>Σ</m:t>
                        </m:r>
                      </m:e>
                      <m:sub>
                        <m:r>
                          <a:rPr lang="en-US" b="0" i="1" dirty="0" err="1">
                            <a:solidFill>
                              <a:srgbClr val="111827"/>
                            </a:solidFill>
                            <a:latin typeface="Cambria Math" panose="02040503050406030204" pitchFamily="18" charset="0"/>
                          </a:rPr>
                          <m:t>𝑡</m:t>
                        </m:r>
                      </m:sub>
                    </m:sSub>
                    <m:r>
                      <a:rPr lang="en-US" b="0" i="1" dirty="0">
                        <a:solidFill>
                          <a:srgbClr val="111827"/>
                        </a:solidFill>
                        <a:latin typeface="Cambria Math" panose="02040503050406030204" pitchFamily="18" charset="0"/>
                      </a:rPr>
                      <m:t> </m:t>
                    </m:r>
                    <m:sSub>
                      <m:sSubPr>
                        <m:ctrlPr>
                          <a:rPr lang="el-GR" b="0" i="1" dirty="0">
                            <a:solidFill>
                              <a:srgbClr val="111827"/>
                            </a:solidFill>
                            <a:latin typeface="Cambria Math" panose="02040503050406030204" pitchFamily="18" charset="0"/>
                          </a:rPr>
                        </m:ctrlPr>
                      </m:sSubPr>
                      <m:e>
                        <m:r>
                          <a:rPr lang="el-GR" b="0" i="1" dirty="0">
                            <a:solidFill>
                              <a:srgbClr val="111827"/>
                            </a:solidFill>
                            <a:latin typeface="Cambria Math" panose="02040503050406030204" pitchFamily="18" charset="0"/>
                          </a:rPr>
                          <m:t>𝛼</m:t>
                        </m:r>
                      </m:e>
                      <m:sub>
                        <m:r>
                          <a:rPr lang="en-US" b="0" i="1" dirty="0">
                            <a:solidFill>
                              <a:srgbClr val="111827"/>
                            </a:solidFill>
                            <a:latin typeface="Cambria Math" panose="02040503050406030204" pitchFamily="18" charset="0"/>
                          </a:rPr>
                          <m:t>𝑡</m:t>
                        </m:r>
                      </m:sub>
                    </m:sSub>
                    <m:r>
                      <a:rPr lang="en-US" b="0" i="1" dirty="0">
                        <a:solidFill>
                          <a:srgbClr val="111827"/>
                        </a:solidFill>
                        <a:latin typeface="Cambria Math" panose="02040503050406030204" pitchFamily="18" charset="0"/>
                      </a:rPr>
                      <m:t> </m:t>
                    </m:r>
                    <m:d>
                      <m:dPr>
                        <m:begChr m:val="|"/>
                        <m:endChr m:val="|"/>
                        <m:ctrlPr>
                          <a:rPr lang="en-US" b="0" i="1" dirty="0">
                            <a:solidFill>
                              <a:srgbClr val="111827"/>
                            </a:solidFill>
                            <a:latin typeface="Cambria Math" panose="02040503050406030204" pitchFamily="18" charset="0"/>
                          </a:rPr>
                        </m:ctrlPr>
                      </m:dPr>
                      <m:e>
                        <m:d>
                          <m:dPr>
                            <m:begChr m:val="|"/>
                            <m:endChr m:val="|"/>
                            <m:ctrlPr>
                              <a:rPr lang="en-US" b="0" i="1" dirty="0" err="1">
                                <a:solidFill>
                                  <a:srgbClr val="111827"/>
                                </a:solidFill>
                                <a:latin typeface="Cambria Math" panose="02040503050406030204" pitchFamily="18" charset="0"/>
                              </a:rPr>
                            </m:ctrlPr>
                          </m:dPr>
                          <m:e>
                            <m:sSub>
                              <m:sSubPr>
                                <m:ctrlPr>
                                  <a:rPr lang="en-US" b="0" i="1" dirty="0" err="1">
                                    <a:solidFill>
                                      <a:srgbClr val="111827"/>
                                    </a:solidFill>
                                    <a:latin typeface="Cambria Math" panose="02040503050406030204" pitchFamily="18" charset="0"/>
                                  </a:rPr>
                                </m:ctrlPr>
                              </m:sSubPr>
                              <m:e>
                                <m:r>
                                  <a:rPr lang="en-US" b="0" i="1" dirty="0" err="1">
                                    <a:solidFill>
                                      <a:srgbClr val="111827"/>
                                    </a:solidFill>
                                    <a:latin typeface="Cambria Math" panose="02040503050406030204" pitchFamily="18" charset="0"/>
                                  </a:rPr>
                                  <m:t>𝑣</m:t>
                                </m:r>
                              </m:e>
                              <m:sub>
                                <m:r>
                                  <a:rPr lang="en-US" b="0" i="1" dirty="0" err="1">
                                    <a:solidFill>
                                      <a:srgbClr val="111827"/>
                                    </a:solidFill>
                                    <a:latin typeface="Cambria Math" panose="02040503050406030204" pitchFamily="18" charset="0"/>
                                  </a:rPr>
                                  <m:t>𝑡</m:t>
                                </m:r>
                              </m:sub>
                            </m:sSub>
                          </m:e>
                        </m:d>
                      </m:e>
                    </m:d>
                    <m:sSub>
                      <m:sSubPr>
                        <m:ctrlPr>
                          <a:rPr lang="el-GR" b="0" i="1" dirty="0" err="1">
                            <a:solidFill>
                              <a:srgbClr val="111827"/>
                            </a:solidFill>
                            <a:latin typeface="Cambria Math" panose="02040503050406030204" pitchFamily="18" charset="0"/>
                          </a:rPr>
                        </m:ctrlPr>
                      </m:sSubPr>
                      <m:e>
                        <m:r>
                          <a:rPr lang="el-GR" b="0" i="1" dirty="0" err="1">
                            <a:solidFill>
                              <a:srgbClr val="111827"/>
                            </a:solidFill>
                            <a:latin typeface="Cambria Math" panose="02040503050406030204" pitchFamily="18" charset="0"/>
                          </a:rPr>
                          <m:t>𝛾</m:t>
                        </m:r>
                      </m:e>
                      <m:sub>
                        <m:r>
                          <a:rPr lang="en-US" b="0" i="1" dirty="0" err="1">
                            <a:solidFill>
                              <a:srgbClr val="111827"/>
                            </a:solidFill>
                            <a:latin typeface="Cambria Math" panose="02040503050406030204" pitchFamily="18" charset="0"/>
                          </a:rPr>
                          <m:t>𝑡</m:t>
                        </m:r>
                      </m:sub>
                    </m:sSub>
                    <m:r>
                      <a:rPr lang="en-US" b="0" i="1" dirty="0">
                        <a:solidFill>
                          <a:srgbClr val="111827"/>
                        </a:solidFill>
                        <a:latin typeface="Cambria Math" panose="02040503050406030204" pitchFamily="18" charset="0"/>
                      </a:rPr>
                      <m:t> </m:t>
                    </m:r>
                    <m:r>
                      <a:rPr lang="en-US" b="0" i="1" dirty="0" err="1">
                        <a:solidFill>
                          <a:srgbClr val="111827"/>
                        </a:solidFill>
                        <a:latin typeface="Cambria Math" panose="02040503050406030204" pitchFamily="18" charset="0"/>
                      </a:rPr>
                      <m:t>𝑞𝑗</m:t>
                    </m:r>
                    <m:sSub>
                      <m:sSubPr>
                        <m:ctrlPr>
                          <a:rPr lang="en-US" b="0" i="1" dirty="0" err="1">
                            <a:solidFill>
                              <a:srgbClr val="111827"/>
                            </a:solidFill>
                            <a:latin typeface="Cambria Math" panose="02040503050406030204" pitchFamily="18" charset="0"/>
                          </a:rPr>
                        </m:ctrlPr>
                      </m:sSubPr>
                      <m:e>
                        <m:r>
                          <a:rPr lang="en-US" b="0" i="1" dirty="0" err="1">
                            <a:solidFill>
                              <a:srgbClr val="111827"/>
                            </a:solidFill>
                            <a:latin typeface="Cambria Math" panose="02040503050406030204" pitchFamily="18" charset="0"/>
                          </a:rPr>
                          <m:t>𝑙</m:t>
                        </m:r>
                      </m:e>
                      <m:sub>
                        <m:r>
                          <a:rPr lang="en-US" b="0" i="1" dirty="0" err="1">
                            <a:solidFill>
                              <a:srgbClr val="111827"/>
                            </a:solidFill>
                            <a:latin typeface="Cambria Math" panose="02040503050406030204" pitchFamily="18" charset="0"/>
                          </a:rPr>
                          <m:t>𝑡</m:t>
                        </m:r>
                      </m:sub>
                    </m:sSub>
                    <m:r>
                      <a:rPr lang="en-US" b="0" i="1" dirty="0">
                        <a:solidFill>
                          <a:srgbClr val="111827"/>
                        </a:solidFill>
                        <a:latin typeface="Cambria Math" panose="02040503050406030204" pitchFamily="18" charset="0"/>
                      </a:rPr>
                      <m:t> ]</m:t>
                    </m:r>
                  </m:oMath>
                </a14:m>
                <a:endParaRPr lang="en-US" b="0" dirty="0">
                  <a:solidFill>
                    <a:srgbClr val="111827"/>
                  </a:solidFill>
                </a:endParaRPr>
              </a:p>
              <a:p>
                <a:pPr>
                  <a:spcBef>
                    <a:spcPts val="800"/>
                  </a:spcBef>
                  <a:defRPr sz="1300" b="1">
                    <a:solidFill>
                      <a:srgbClr val="2563EB"/>
                    </a:solidFill>
                  </a:defRPr>
                </a:pPr>
                <a:r>
                  <a:rPr lang="en-US" dirty="0"/>
                  <a:t>•  Complexity Reduction: </a:t>
                </a:r>
                <a:r>
                  <a:rPr lang="en-US" b="0" dirty="0">
                    <a:solidFill>
                      <a:srgbClr val="111827"/>
                    </a:solidFill>
                  </a:rPr>
                  <a:t>Inner loop accumulates simple scalar vectors (</a:t>
                </a:r>
                <a14:m>
                  <m:oMath xmlns:m="http://schemas.openxmlformats.org/officeDocument/2006/math">
                    <m:r>
                      <a:rPr lang="en-US" b="0" i="1" dirty="0" smtClean="0">
                        <a:solidFill>
                          <a:srgbClr val="111827"/>
                        </a:solidFill>
                        <a:latin typeface="Cambria Math" panose="02040503050406030204" pitchFamily="18" charset="0"/>
                      </a:rPr>
                      <m:t>𝑎𝑐</m:t>
                    </m:r>
                    <m:sSub>
                      <m:sSubPr>
                        <m:ctrlPr>
                          <a:rPr lang="en-US" b="0" i="1" dirty="0" smtClean="0">
                            <a:solidFill>
                              <a:srgbClr val="111827"/>
                            </a:solidFill>
                            <a:latin typeface="Cambria Math" panose="02040503050406030204" pitchFamily="18" charset="0"/>
                          </a:rPr>
                        </m:ctrlPr>
                      </m:sSubPr>
                      <m:e>
                        <m:r>
                          <a:rPr lang="en-US" b="0" i="1" dirty="0" smtClean="0">
                            <a:solidFill>
                              <a:srgbClr val="111827"/>
                            </a:solidFill>
                            <a:latin typeface="Cambria Math" panose="02040503050406030204" pitchFamily="18" charset="0"/>
                          </a:rPr>
                          <m:t>𝑐</m:t>
                        </m:r>
                      </m:e>
                      <m:sub>
                        <m:r>
                          <a:rPr lang="en-US" b="0" i="1" dirty="0" smtClean="0">
                            <a:solidFill>
                              <a:srgbClr val="111827"/>
                            </a:solidFill>
                            <a:latin typeface="Cambria Math" panose="02040503050406030204" pitchFamily="18" charset="0"/>
                          </a:rPr>
                          <m:t>𝑦</m:t>
                        </m:r>
                      </m:sub>
                    </m:sSub>
                  </m:oMath>
                </a14:m>
                <a:r>
                  <a:rPr lang="en-US" b="0" dirty="0">
                    <a:solidFill>
                      <a:srgbClr val="111827"/>
                    </a:solidFill>
                  </a:rPr>
                  <a:t> and </a:t>
                </a:r>
                <a14:m>
                  <m:oMath xmlns:m="http://schemas.openxmlformats.org/officeDocument/2006/math">
                    <m:r>
                      <a:rPr lang="en-US" b="0" i="1" dirty="0" smtClean="0">
                        <a:solidFill>
                          <a:srgbClr val="111827"/>
                        </a:solidFill>
                        <a:latin typeface="Cambria Math" panose="02040503050406030204" pitchFamily="18" charset="0"/>
                      </a:rPr>
                      <m:t>𝑎𝑐</m:t>
                    </m:r>
                    <m:sSub>
                      <m:sSubPr>
                        <m:ctrlPr>
                          <a:rPr lang="en-US" b="0" i="1" dirty="0" smtClean="0">
                            <a:solidFill>
                              <a:srgbClr val="111827"/>
                            </a:solidFill>
                            <a:latin typeface="Cambria Math" panose="02040503050406030204" pitchFamily="18" charset="0"/>
                          </a:rPr>
                        </m:ctrlPr>
                      </m:sSubPr>
                      <m:e>
                        <m:r>
                          <a:rPr lang="en-US" b="0" i="1" dirty="0" smtClean="0">
                            <a:solidFill>
                              <a:srgbClr val="111827"/>
                            </a:solidFill>
                            <a:latin typeface="Cambria Math" panose="02040503050406030204" pitchFamily="18" charset="0"/>
                          </a:rPr>
                          <m:t>𝑐</m:t>
                        </m:r>
                      </m:e>
                      <m:sub>
                        <m:r>
                          <a:rPr lang="en-US" b="0" i="1" dirty="0" smtClean="0">
                            <a:solidFill>
                              <a:srgbClr val="111827"/>
                            </a:solidFill>
                            <a:latin typeface="Cambria Math" panose="02040503050406030204" pitchFamily="18" charset="0"/>
                          </a:rPr>
                          <m:t>𝑠</m:t>
                        </m:r>
                      </m:sub>
                    </m:sSub>
                  </m:oMath>
                </a14:m>
                <a:r>
                  <a:rPr lang="en-US" b="0" dirty="0">
                    <a:solidFill>
                      <a:srgbClr val="111827"/>
                    </a:solidFill>
                  </a:rPr>
                  <a:t>). Dense projections </a:t>
                </a:r>
                <a14:m>
                  <m:oMath xmlns:m="http://schemas.openxmlformats.org/officeDocument/2006/math">
                    <m:sSup>
                      <m:sSupPr>
                        <m:ctrlPr>
                          <a:rPr lang="el-GR" b="0" i="0" dirty="0" smtClean="0">
                            <a:solidFill>
                              <a:srgbClr val="111827"/>
                            </a:solidFill>
                            <a:latin typeface="Cambria Math" panose="02040503050406030204" pitchFamily="18" charset="0"/>
                          </a:rPr>
                        </m:ctrlPr>
                      </m:sSupPr>
                      <m:e>
                        <m:r>
                          <m:rPr>
                            <m:sty m:val="p"/>
                          </m:rPr>
                          <a:rPr lang="el-GR" b="0" i="0" dirty="0" smtClean="0">
                            <a:solidFill>
                              <a:srgbClr val="111827"/>
                            </a:solidFill>
                            <a:latin typeface="Cambria Math" panose="02040503050406030204" pitchFamily="18" charset="0"/>
                          </a:rPr>
                          <m:t>Π</m:t>
                        </m:r>
                      </m:e>
                      <m:sup>
                        <m:r>
                          <a:rPr lang="en-US" b="0" i="1" dirty="0">
                            <a:solidFill>
                              <a:srgbClr val="111827"/>
                            </a:solidFill>
                            <a:latin typeface="Cambria Math" panose="02040503050406030204" pitchFamily="18" charset="0"/>
                          </a:rPr>
                          <m:t>𝑇</m:t>
                        </m:r>
                      </m:sup>
                    </m:sSup>
                    <m:r>
                      <a:rPr lang="en-US" b="0" i="1" dirty="0">
                        <a:solidFill>
                          <a:srgbClr val="111827"/>
                        </a:solidFill>
                        <a:latin typeface="Cambria Math" panose="02040503050406030204" pitchFamily="18" charset="0"/>
                      </a:rPr>
                      <m:t> </m:t>
                    </m:r>
                  </m:oMath>
                </a14:m>
                <a:r>
                  <a:rPr lang="en-US" b="0" dirty="0">
                    <a:solidFill>
                      <a:srgbClr val="111827"/>
                    </a:solidFill>
                  </a:rPr>
                  <a:t>and </a:t>
                </a:r>
                <a14:m>
                  <m:oMath xmlns:m="http://schemas.openxmlformats.org/officeDocument/2006/math">
                    <m:sSup>
                      <m:sSupPr>
                        <m:ctrlPr>
                          <a:rPr lang="en-US" b="0" i="1" dirty="0" smtClean="0">
                            <a:solidFill>
                              <a:srgbClr val="111827"/>
                            </a:solidFill>
                            <a:latin typeface="Cambria Math" panose="02040503050406030204" pitchFamily="18" charset="0"/>
                          </a:rPr>
                        </m:ctrlPr>
                      </m:sSupPr>
                      <m:e>
                        <m:r>
                          <a:rPr lang="en-US" b="0" i="1" dirty="0" smtClean="0">
                            <a:solidFill>
                              <a:srgbClr val="111827"/>
                            </a:solidFill>
                            <a:latin typeface="Cambria Math" panose="02040503050406030204" pitchFamily="18" charset="0"/>
                          </a:rPr>
                          <m:t>𝑀</m:t>
                        </m:r>
                      </m:e>
                      <m:sup>
                        <m:r>
                          <a:rPr lang="en-US" b="0" i="1" dirty="0" smtClean="0">
                            <a:solidFill>
                              <a:srgbClr val="111827"/>
                            </a:solidFill>
                            <a:latin typeface="Cambria Math" panose="02040503050406030204" pitchFamily="18" charset="0"/>
                          </a:rPr>
                          <m:t>𝑇</m:t>
                        </m:r>
                      </m:sup>
                    </m:sSup>
                    <m:r>
                      <a:rPr lang="en-US" b="0" i="1" dirty="0" smtClean="0">
                        <a:solidFill>
                          <a:srgbClr val="111827"/>
                        </a:solidFill>
                        <a:latin typeface="Cambria Math" panose="02040503050406030204" pitchFamily="18" charset="0"/>
                      </a:rPr>
                      <m:t> </m:t>
                    </m:r>
                  </m:oMath>
                </a14:m>
                <a:r>
                  <a:rPr lang="en-US" b="0" dirty="0">
                    <a:solidFill>
                      <a:srgbClr val="111827"/>
                    </a:solidFill>
                  </a:rPr>
                  <a:t>execute exactly ONCE per attention head, reducing complexity from O(T · d²) down to O(T · d + d²).</a:t>
                </a:r>
                <a:endParaRPr b="0" dirty="0">
                  <a:solidFill>
                    <a:srgbClr val="111827"/>
                  </a:solidFill>
                </a:endParaRPr>
              </a:p>
            </p:txBody>
          </p:sp>
        </mc:Choice>
        <mc:Fallback>
          <p:sp>
            <p:nvSpPr>
              <p:cNvPr id="5" name="Rounded Rectangle 4"/>
              <p:cNvSpPr>
                <a:spLocks noRot="1" noChangeAspect="1" noMove="1" noResize="1" noEditPoints="1" noAdjustHandles="1" noChangeArrowheads="1" noChangeShapeType="1" noTextEdit="1"/>
              </p:cNvSpPr>
              <p:nvPr/>
            </p:nvSpPr>
            <p:spPr>
              <a:xfrm>
                <a:off x="548640" y="1463040"/>
                <a:ext cx="11094415" cy="4846320"/>
              </a:xfrm>
              <a:prstGeom prst="roundRect">
                <a:avLst/>
              </a:prstGeom>
              <a:blipFill>
                <a:blip r:embed="rId2"/>
                <a:stretch>
                  <a:fillRect/>
                </a:stretch>
              </a:blipFill>
              <a:ln>
                <a:solidFill>
                  <a:srgbClr val="E2E8F0"/>
                </a:solidFill>
              </a:ln>
            </p:spPr>
            <p:txBody>
              <a:bodyPr/>
              <a:lstStyle/>
              <a:p>
                <a:r>
                  <a:rPr lang="en-IL">
                    <a:noFill/>
                  </a:rPr>
                  <a:t> </a:t>
                </a:r>
              </a:p>
            </p:txBody>
          </p:sp>
        </mc:Fallback>
      </mc:AlternateContent>
      <p:sp>
        <p:nvSpPr>
          <p:cNvPr id="7" name="Rounded Rectangle 2">
            <a:extLst>
              <a:ext uri="{FF2B5EF4-FFF2-40B4-BE49-F238E27FC236}">
                <a16:creationId xmlns:a16="http://schemas.microsoft.com/office/drawing/2014/main" id="{3D5448AC-EE80-4257-0347-F8C7291788BE}"/>
              </a:ext>
            </a:extLst>
          </p:cNvPr>
          <p:cNvSpPr/>
          <p:nvPr/>
        </p:nvSpPr>
        <p:spPr>
          <a:xfrm>
            <a:off x="4140200" y="1828800"/>
            <a:ext cx="2687167" cy="6248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rPr lang="en-US" dirty="0">
                <a:solidFill>
                  <a:srgbClr val="FF0000"/>
                </a:solidFill>
              </a:rPr>
              <a:t>SW ONLY ACCELARTION (ALGO)</a:t>
            </a:r>
            <a:endParaRPr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418320" cy="822960"/>
          </a:xfrm>
          <a:prstGeom prst="rect">
            <a:avLst/>
          </a:prstGeom>
          <a:noFill/>
        </p:spPr>
        <p:txBody>
          <a:bodyPr wrap="square" lIns="0" tIns="0" rIns="0" bIns="0">
            <a:spAutoFit/>
          </a:bodyPr>
          <a:lstStyle/>
          <a:p>
            <a:pPr>
              <a:spcAft>
                <a:spcPts val="200"/>
              </a:spcAft>
              <a:defRPr sz="1000" b="1">
                <a:solidFill>
                  <a:srgbClr val="2563EB"/>
                </a:solidFill>
                <a:latin typeface="Calibri"/>
              </a:defRPr>
            </a:pPr>
            <a:r>
              <a:t>7. ALGORITHMIC OPTIMIZATIONS</a:t>
            </a:r>
          </a:p>
          <a:p>
            <a:pPr>
              <a:defRPr sz="2200" b="1">
                <a:solidFill>
                  <a:srgbClr val="0F172A"/>
                </a:solidFill>
                <a:latin typeface="Georgia"/>
              </a:defRPr>
            </a:pPr>
            <a:r>
              <a:t>Algorithmic Optimization 2: Precomputed RoPE LUTs</a:t>
            </a:r>
          </a:p>
        </p:txBody>
      </p:sp>
      <p:sp>
        <p:nvSpPr>
          <p:cNvPr id="3" name="Rounded Rectangle 2"/>
          <p:cNvSpPr/>
          <p:nvPr/>
        </p:nvSpPr>
        <p:spPr>
          <a:xfrm>
            <a:off x="10180015" y="365760"/>
            <a:ext cx="146304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t>PROJECT 304</a:t>
            </a:r>
          </a:p>
        </p:txBody>
      </p:sp>
      <p:sp>
        <p:nvSpPr>
          <p:cNvPr id="4" name="Rectangle 3"/>
          <p:cNvSpPr/>
          <p:nvPr/>
        </p:nvSpPr>
        <p:spPr>
          <a:xfrm>
            <a:off x="548640" y="1234440"/>
            <a:ext cx="1109441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463040"/>
            <a:ext cx="5303520"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000"/>
              </a:spcAft>
              <a:defRPr sz="1700" b="1">
                <a:solidFill>
                  <a:srgbClr val="DC2626"/>
                </a:solidFill>
                <a:latin typeface="Georgia"/>
              </a:defRPr>
            </a:pPr>
            <a:r>
              <a:t>The Soft-Float Trigonometric Trap</a:t>
            </a:r>
          </a:p>
          <a:p>
            <a:pPr>
              <a:spcBef>
                <a:spcPts val="600"/>
              </a:spcBef>
              <a:defRPr sz="1200" b="1">
                <a:solidFill>
                  <a:srgbClr val="0F172A"/>
                </a:solidFill>
              </a:defRPr>
            </a:pPr>
            <a:r>
              <a:t>•  2,592 Soft-Float Calls per Token: </a:t>
            </a:r>
            <a:r>
              <a:rPr b="0">
                <a:solidFill>
                  <a:srgbClr val="111827"/>
                </a:solidFill>
              </a:rPr>
              <a:t>Baseline RoPE evaluated powf(), cosf(), and sinf() inside hot attention loops for every token, layer, and head pair.</a:t>
            </a:r>
          </a:p>
          <a:p>
            <a:pPr>
              <a:spcBef>
                <a:spcPts val="600"/>
              </a:spcBef>
              <a:defRPr sz="1200" b="1">
                <a:solidFill>
                  <a:srgbClr val="0F172A"/>
                </a:solidFill>
              </a:defRPr>
            </a:pPr>
            <a:r>
              <a:t>•  Iterative Chebyshev Approximation: </a:t>
            </a:r>
            <a:r>
              <a:rPr b="0">
                <a:solidFill>
                  <a:srgbClr val="111827"/>
                </a:solidFill>
              </a:rPr>
              <a:t>On an FPU-less processor, each transcendental function call takes 500+ clock cycles.</a:t>
            </a:r>
          </a:p>
          <a:p>
            <a:pPr>
              <a:spcBef>
                <a:spcPts val="600"/>
              </a:spcBef>
              <a:defRPr sz="1200" b="1">
                <a:solidFill>
                  <a:srgbClr val="0F172A"/>
                </a:solidFill>
              </a:defRPr>
            </a:pPr>
            <a:r>
              <a:t>•  Positional Angle Invariance: </a:t>
            </a:r>
            <a:r>
              <a:rPr b="0">
                <a:solidFill>
                  <a:srgbClr val="111827"/>
                </a:solidFill>
              </a:rPr>
              <a:t>Angles depend strictly on sequence position m and head dimension j, NOT on runtime activation data!</a:t>
            </a:r>
          </a:p>
          <a:p>
            <a:pPr>
              <a:spcBef>
                <a:spcPts val="600"/>
              </a:spcBef>
              <a:defRPr sz="1200" b="1">
                <a:solidFill>
                  <a:srgbClr val="0F172A"/>
                </a:solidFill>
              </a:defRPr>
            </a:pPr>
            <a:r>
              <a:t>•  Startup Grid Precomputation: </a:t>
            </a:r>
            <a:r>
              <a:rPr b="0">
                <a:solidFill>
                  <a:srgbClr val="111827"/>
                </a:solidFill>
              </a:rPr>
              <a:t>Precomputed the full angle grid (rope_cos, rope_sin) once during startup in malloc_run_state.</a:t>
            </a:r>
          </a:p>
        </p:txBody>
      </p:sp>
      <p:sp>
        <p:nvSpPr>
          <p:cNvPr id="6" name="Rounded Rectangle 5"/>
          <p:cNvSpPr/>
          <p:nvPr/>
        </p:nvSpPr>
        <p:spPr>
          <a:xfrm>
            <a:off x="6309360" y="1463040"/>
            <a:ext cx="5303520" cy="4846320"/>
          </a:xfrm>
          <a:prstGeom prst="roundRect">
            <a:avLst/>
          </a:prstGeom>
          <a:solidFill>
            <a:srgbClr val="1E293B"/>
          </a:solidFill>
          <a:ln>
            <a:solidFill>
              <a:srgbClr val="0F172A"/>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400" b="1">
                <a:solidFill>
                  <a:srgbClr val="38BDF8"/>
                </a:solidFill>
                <a:latin typeface="Georgia"/>
              </a:defRPr>
            </a:pPr>
            <a:r>
              <a:t>Corrected Startup RoPE LUT C Code</a:t>
            </a:r>
          </a:p>
          <a:p>
            <a:pPr>
              <a:defRPr sz="1000">
                <a:solidFill>
                  <a:srgbClr val="F8FAFC"/>
                </a:solidFill>
                <a:latin typeface="Consolas"/>
              </a:defRPr>
            </a:pPr>
            <a:r>
              <a:t>// 1. Precompute frequencies (O(d) complexity):</a:t>
            </a:r>
            <a:br/>
            <a:r>
              <a:t>for (int j = 0; j &lt; half_head; j++) {</a:t>
            </a:r>
            <a:br/>
            <a:r>
              <a:t>  // Explicit float casting prevents integer division:</a:t>
            </a:r>
            <a:br/>
            <a:r>
              <a:t>  freqs[j] = 1.0f / powf(10000.0f,</a:t>
            </a:r>
            <a:br/>
            <a:r>
              <a:t>             ((float)(j * 2)) / (float)head_size);</a:t>
            </a:r>
            <a:br/>
            <a:r>
              <a:t>}</a:t>
            </a:r>
            <a:br/>
            <a:br/>
            <a:r>
              <a:t>// 2. Precompute full angle grid at startup:</a:t>
            </a:r>
            <a:br/>
            <a:r>
              <a:t>for (int p_idx = 0; p_idx &lt; seq_len; p_idx++) {</a:t>
            </a:r>
            <a:br/>
            <a:r>
              <a:t>  for (int j = 0; j &lt; half_head; j++) {</a:t>
            </a:r>
            <a:br/>
            <a:r>
              <a:t>    float val = p_idx * freqs[j];</a:t>
            </a:r>
            <a:br/>
            <a:r>
              <a:t>    s-&gt;rope_cos[p_idx * half_head + j] = cosf(val);</a:t>
            </a:r>
            <a:br/>
            <a:r>
              <a:t>    s-&gt;rope_sin[p_idx * half_head + j] = sinf(val);</a:t>
            </a:r>
            <a:br/>
            <a:r>
              <a:t>  }</a:t>
            </a:r>
            <a:br/>
            <a:r>
              <a:t>}</a:t>
            </a:r>
            <a:br/>
            <a:br/>
            <a:r>
              <a:t>// Runtime: Single-cycle pointer lookup! (Saved 111.3M cycles)</a:t>
            </a:r>
          </a:p>
        </p:txBody>
      </p:sp>
      <p:sp>
        <p:nvSpPr>
          <p:cNvPr id="8" name="Rounded Rectangle 2">
            <a:extLst>
              <a:ext uri="{FF2B5EF4-FFF2-40B4-BE49-F238E27FC236}">
                <a16:creationId xmlns:a16="http://schemas.microsoft.com/office/drawing/2014/main" id="{C9478265-8104-E677-C666-848A5739BF53}"/>
              </a:ext>
            </a:extLst>
          </p:cNvPr>
          <p:cNvSpPr/>
          <p:nvPr/>
        </p:nvSpPr>
        <p:spPr>
          <a:xfrm>
            <a:off x="1856816" y="1837267"/>
            <a:ext cx="2687167" cy="6248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rPr lang="en-US" dirty="0">
                <a:solidFill>
                  <a:srgbClr val="FF0000"/>
                </a:solidFill>
              </a:rPr>
              <a:t>SW ONLY ACCELARTION</a:t>
            </a:r>
            <a:endParaRPr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418320" cy="822960"/>
          </a:xfrm>
          <a:prstGeom prst="rect">
            <a:avLst/>
          </a:prstGeom>
          <a:noFill/>
        </p:spPr>
        <p:txBody>
          <a:bodyPr wrap="square" lIns="0" tIns="0" rIns="0" bIns="0">
            <a:spAutoFit/>
          </a:bodyPr>
          <a:lstStyle/>
          <a:p>
            <a:pPr>
              <a:spcAft>
                <a:spcPts val="200"/>
              </a:spcAft>
              <a:defRPr sz="1000" b="1">
                <a:solidFill>
                  <a:srgbClr val="2563EB"/>
                </a:solidFill>
                <a:latin typeface="Calibri"/>
              </a:defRPr>
            </a:pPr>
            <a:r>
              <a:t>7. ALGORITHMIC OPTIMIZATIONS</a:t>
            </a:r>
          </a:p>
          <a:p>
            <a:pPr>
              <a:defRPr sz="2200" b="1">
                <a:solidFill>
                  <a:srgbClr val="0F172A"/>
                </a:solidFill>
                <a:latin typeface="Georgia"/>
              </a:defRPr>
            </a:pPr>
            <a:r>
              <a:t>Algorithmic Optimization 3: Matmul Division Elimination</a:t>
            </a:r>
          </a:p>
        </p:txBody>
      </p:sp>
      <p:sp>
        <p:nvSpPr>
          <p:cNvPr id="3" name="Rounded Rectangle 2"/>
          <p:cNvSpPr/>
          <p:nvPr/>
        </p:nvSpPr>
        <p:spPr>
          <a:xfrm>
            <a:off x="10180015" y="365760"/>
            <a:ext cx="146304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t>PROJECT 304</a:t>
            </a:r>
          </a:p>
        </p:txBody>
      </p:sp>
      <p:sp>
        <p:nvSpPr>
          <p:cNvPr id="4" name="Rectangle 3"/>
          <p:cNvSpPr/>
          <p:nvPr/>
        </p:nvSpPr>
        <p:spPr>
          <a:xfrm>
            <a:off x="548640" y="1234440"/>
            <a:ext cx="1109441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463040"/>
            <a:ext cx="5303520"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000"/>
              </a:spcAft>
              <a:defRPr sz="1700" b="1">
                <a:solidFill>
                  <a:srgbClr val="DC2626"/>
                </a:solidFill>
                <a:latin typeface="Georgia"/>
              </a:defRPr>
            </a:pPr>
            <a:r>
              <a:rPr dirty="0"/>
              <a:t>The Non-Pipelined Division Bottleneck</a:t>
            </a:r>
          </a:p>
          <a:p>
            <a:pPr>
              <a:spcBef>
                <a:spcPts val="600"/>
              </a:spcBef>
              <a:defRPr sz="1200" b="1">
                <a:solidFill>
                  <a:srgbClr val="0F172A"/>
                </a:solidFill>
              </a:defRPr>
            </a:pPr>
            <a:r>
              <a:rPr dirty="0"/>
              <a:t>•  Descaling Quantized Integer Dot Products: </a:t>
            </a:r>
            <a:r>
              <a:rPr b="0" dirty="0">
                <a:solidFill>
                  <a:srgbClr val="111827"/>
                </a:solidFill>
              </a:rPr>
              <a:t>Q8_0 matrix multiplication accumulates INT8 dot products into 32-bit integer registers, then multiplies by scale factors every GS=64 elements.</a:t>
            </a:r>
          </a:p>
          <a:p>
            <a:pPr>
              <a:spcBef>
                <a:spcPts val="600"/>
              </a:spcBef>
              <a:defRPr sz="1200" b="1">
                <a:solidFill>
                  <a:srgbClr val="0F172A"/>
                </a:solidFill>
              </a:defRPr>
            </a:pPr>
            <a:r>
              <a:rPr dirty="0"/>
              <a:t>•  Non-Pipelined Hardware Divider: </a:t>
            </a:r>
            <a:r>
              <a:rPr b="0" dirty="0">
                <a:solidFill>
                  <a:srgbClr val="111827"/>
                </a:solidFill>
              </a:rPr>
              <a:t>Baseline code fetched scale factors using integer division: w-&gt;s[(in + j) / GS].</a:t>
            </a:r>
          </a:p>
          <a:p>
            <a:pPr>
              <a:spcBef>
                <a:spcPts val="600"/>
              </a:spcBef>
              <a:defRPr sz="1200" b="1">
                <a:solidFill>
                  <a:srgbClr val="0F172A"/>
                </a:solidFill>
              </a:defRPr>
            </a:pPr>
            <a:r>
              <a:rPr dirty="0"/>
              <a:t>•  16 to 34 Cycle Penalty: </a:t>
            </a:r>
            <a:r>
              <a:rPr b="0" dirty="0">
                <a:solidFill>
                  <a:srgbClr val="111827"/>
                </a:solidFill>
              </a:rPr>
              <a:t>Although tie_dev2 includes a 32-bit hardware integer divider, division is non-pipelined and stalls the CPU for up to 34 cycles per call.</a:t>
            </a:r>
          </a:p>
          <a:p>
            <a:pPr>
              <a:spcBef>
                <a:spcPts val="600"/>
              </a:spcBef>
              <a:defRPr sz="1200" b="1">
                <a:solidFill>
                  <a:srgbClr val="0F172A"/>
                </a:solidFill>
              </a:defRPr>
            </a:pPr>
            <a:r>
              <a:rPr dirty="0"/>
              <a:t>•  &gt;300,000 Divisions per Token: </a:t>
            </a:r>
            <a:r>
              <a:rPr b="0" dirty="0">
                <a:solidFill>
                  <a:srgbClr val="111827"/>
                </a:solidFill>
              </a:rPr>
              <a:t>Issued over 300,000 divisions per token across vocabulary and layer projection matrices.</a:t>
            </a:r>
          </a:p>
        </p:txBody>
      </p:sp>
      <p:sp>
        <p:nvSpPr>
          <p:cNvPr id="6" name="Rounded Rectangle 5"/>
          <p:cNvSpPr/>
          <p:nvPr/>
        </p:nvSpPr>
        <p:spPr>
          <a:xfrm>
            <a:off x="6309360" y="1463040"/>
            <a:ext cx="5303520" cy="484632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000"/>
              </a:spcAft>
              <a:defRPr sz="1700" b="1">
                <a:solidFill>
                  <a:srgbClr val="0F172A"/>
                </a:solidFill>
                <a:latin typeface="Georgia"/>
              </a:defRPr>
            </a:pPr>
            <a:r>
              <a:rPr dirty="0"/>
              <a:t>Zero-Cost Pointer Walking Solution</a:t>
            </a:r>
          </a:p>
          <a:p>
            <a:pPr>
              <a:spcBef>
                <a:spcPts val="600"/>
              </a:spcBef>
              <a:defRPr sz="1200" b="1">
                <a:solidFill>
                  <a:srgbClr val="16A34A"/>
                </a:solidFill>
              </a:defRPr>
            </a:pPr>
            <a:r>
              <a:rPr dirty="0"/>
              <a:t>•  Sequential Pointer Increments: </a:t>
            </a:r>
            <a:r>
              <a:rPr b="0" dirty="0">
                <a:solidFill>
                  <a:srgbClr val="111827"/>
                </a:solidFill>
              </a:rPr>
              <a:t>Because j steps by GS on every iteration, (in + j)/GS increments by exactly 1 per loop step.</a:t>
            </a:r>
          </a:p>
          <a:p>
            <a:pPr>
              <a:spcBef>
                <a:spcPts val="600"/>
              </a:spcBef>
              <a:defRPr sz="1200" b="1">
                <a:solidFill>
                  <a:srgbClr val="16A34A"/>
                </a:solidFill>
              </a:defRPr>
            </a:pPr>
            <a:r>
              <a:rPr dirty="0"/>
              <a:t>•  Integer Pointer Counter: </a:t>
            </a:r>
            <a:r>
              <a:rPr b="0" dirty="0">
                <a:solidFill>
                  <a:srgbClr val="111827"/>
                </a:solidFill>
              </a:rPr>
              <a:t>Replaced mathematical division with simple incrementing integer counters: </a:t>
            </a:r>
            <a:r>
              <a:rPr b="0" dirty="0" err="1">
                <a:solidFill>
                  <a:srgbClr val="111827"/>
                </a:solidFill>
              </a:rPr>
              <a:t>w_group</a:t>
            </a:r>
            <a:r>
              <a:rPr b="0" dirty="0">
                <a:solidFill>
                  <a:srgbClr val="111827"/>
                </a:solidFill>
              </a:rPr>
              <a:t>++ and </a:t>
            </a:r>
            <a:r>
              <a:rPr b="0" dirty="0" err="1">
                <a:solidFill>
                  <a:srgbClr val="111827"/>
                </a:solidFill>
              </a:rPr>
              <a:t>x_group</a:t>
            </a:r>
            <a:r>
              <a:rPr b="0" dirty="0">
                <a:solidFill>
                  <a:srgbClr val="111827"/>
                </a:solidFill>
              </a:rPr>
              <a:t>++.</a:t>
            </a:r>
          </a:p>
          <a:p>
            <a:pPr>
              <a:spcBef>
                <a:spcPts val="600"/>
              </a:spcBef>
              <a:defRPr sz="1200" b="1">
                <a:solidFill>
                  <a:srgbClr val="16A34A"/>
                </a:solidFill>
              </a:defRPr>
            </a:pPr>
            <a:r>
              <a:rPr dirty="0"/>
              <a:t>•  Eliminated &gt;300,000 Stalls: </a:t>
            </a:r>
            <a:r>
              <a:rPr b="0" dirty="0">
                <a:solidFill>
                  <a:srgbClr val="111827"/>
                </a:solidFill>
              </a:rPr>
              <a:t>Completely removed integer division calls from matrix multiplication descaling.</a:t>
            </a:r>
          </a:p>
          <a:p>
            <a:pPr>
              <a:spcBef>
                <a:spcPts val="600"/>
              </a:spcBef>
              <a:defRPr sz="1200" b="1">
                <a:solidFill>
                  <a:srgbClr val="16A34A"/>
                </a:solidFill>
              </a:defRPr>
            </a:pPr>
            <a:r>
              <a:rPr dirty="0"/>
              <a:t>•  Interlock Stall Reduction: </a:t>
            </a:r>
            <a:r>
              <a:rPr b="0" dirty="0">
                <a:solidFill>
                  <a:srgbClr val="111827"/>
                </a:solidFill>
              </a:rPr>
              <a:t>Cut pipeline interlock stall cycles by 38.3 million cycles (from 94.7M down to 56.4M interlocks).</a:t>
            </a:r>
          </a:p>
        </p:txBody>
      </p:sp>
      <p:sp>
        <p:nvSpPr>
          <p:cNvPr id="8" name="Rounded Rectangle 2">
            <a:extLst>
              <a:ext uri="{FF2B5EF4-FFF2-40B4-BE49-F238E27FC236}">
                <a16:creationId xmlns:a16="http://schemas.microsoft.com/office/drawing/2014/main" id="{017957E3-BDBE-33ED-4981-9663CE55CD4E}"/>
              </a:ext>
            </a:extLst>
          </p:cNvPr>
          <p:cNvSpPr/>
          <p:nvPr/>
        </p:nvSpPr>
        <p:spPr>
          <a:xfrm>
            <a:off x="1789083" y="1645920"/>
            <a:ext cx="2687167" cy="6248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rPr lang="en-US" dirty="0">
                <a:solidFill>
                  <a:srgbClr val="FF0000"/>
                </a:solidFill>
              </a:rPr>
              <a:t>SW ONLY ACCELARTION</a:t>
            </a:r>
            <a:endParaRPr dirty="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418320" cy="822960"/>
          </a:xfrm>
          <a:prstGeom prst="rect">
            <a:avLst/>
          </a:prstGeom>
          <a:noFill/>
        </p:spPr>
        <p:txBody>
          <a:bodyPr wrap="square" lIns="0" tIns="0" rIns="0" bIns="0">
            <a:spAutoFit/>
          </a:bodyPr>
          <a:lstStyle/>
          <a:p>
            <a:pPr>
              <a:spcAft>
                <a:spcPts val="200"/>
              </a:spcAft>
              <a:defRPr sz="1000" b="1">
                <a:solidFill>
                  <a:srgbClr val="2563EB"/>
                </a:solidFill>
                <a:latin typeface="Calibri"/>
              </a:defRPr>
            </a:pPr>
            <a:r>
              <a:t>7. ALGORITHMIC OPTIMIZATIONS</a:t>
            </a:r>
          </a:p>
          <a:p>
            <a:pPr>
              <a:defRPr sz="2200" b="1">
                <a:solidFill>
                  <a:srgbClr val="0F172A"/>
                </a:solidFill>
                <a:latin typeface="Georgia"/>
              </a:defRPr>
            </a:pPr>
            <a:r>
              <a:t>Fixed-Point Headroom Management &amp; GCC Alignment Guards</a:t>
            </a:r>
          </a:p>
        </p:txBody>
      </p:sp>
      <p:sp>
        <p:nvSpPr>
          <p:cNvPr id="3" name="Rounded Rectangle 2"/>
          <p:cNvSpPr/>
          <p:nvPr/>
        </p:nvSpPr>
        <p:spPr>
          <a:xfrm>
            <a:off x="10180015" y="365760"/>
            <a:ext cx="146304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t>PROJECT 304</a:t>
            </a:r>
          </a:p>
        </p:txBody>
      </p:sp>
      <p:sp>
        <p:nvSpPr>
          <p:cNvPr id="4" name="Rectangle 3"/>
          <p:cNvSpPr/>
          <p:nvPr/>
        </p:nvSpPr>
        <p:spPr>
          <a:xfrm>
            <a:off x="548640" y="1234440"/>
            <a:ext cx="1109441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463040"/>
            <a:ext cx="5303520"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000"/>
              </a:spcAft>
              <a:defRPr sz="1700" b="1">
                <a:solidFill>
                  <a:srgbClr val="0F172A"/>
                </a:solidFill>
                <a:latin typeface="Georgia"/>
              </a:defRPr>
            </a:pPr>
            <a:r>
              <a:rPr dirty="0"/>
              <a:t>Q12 Scaling Headroom (4095.0f)</a:t>
            </a:r>
          </a:p>
          <a:p>
            <a:pPr>
              <a:spcBef>
                <a:spcPts val="600"/>
              </a:spcBef>
              <a:defRPr sz="1200" b="1">
                <a:solidFill>
                  <a:srgbClr val="2563EB"/>
                </a:solidFill>
              </a:defRPr>
            </a:pPr>
            <a:r>
              <a:rPr dirty="0"/>
              <a:t>•  The Q15 Overflow Trap: </a:t>
            </a:r>
            <a:r>
              <a:rPr b="0" dirty="0">
                <a:solidFill>
                  <a:srgbClr val="111827"/>
                </a:solidFill>
              </a:rPr>
              <a:t>In standard Q15 (32767.0), single products reach 2³⁰. Accumulating across d=48 coordinates yields ~5.15 x 10¹⁰, overflowing 32-bit signed integers (2.14 x 10⁹) and producing negative garbage text.</a:t>
            </a:r>
          </a:p>
          <a:p>
            <a:pPr>
              <a:spcBef>
                <a:spcPts val="600"/>
              </a:spcBef>
              <a:defRPr sz="1200" b="1">
                <a:solidFill>
                  <a:srgbClr val="2563EB"/>
                </a:solidFill>
              </a:defRPr>
            </a:pPr>
            <a:r>
              <a:rPr dirty="0"/>
              <a:t>•  Transition to Q12 Format: </a:t>
            </a:r>
            <a:r>
              <a:rPr b="0" dirty="0">
                <a:solidFill>
                  <a:srgbClr val="111827"/>
                </a:solidFill>
              </a:rPr>
              <a:t>Rescaled all projection matrices to Q12 format (4095.0f) via Python generator.</a:t>
            </a:r>
          </a:p>
          <a:p>
            <a:pPr>
              <a:spcBef>
                <a:spcPts val="600"/>
              </a:spcBef>
              <a:defRPr sz="1200" b="1">
                <a:solidFill>
                  <a:srgbClr val="2563EB"/>
                </a:solidFill>
              </a:defRPr>
            </a:pPr>
            <a:r>
              <a:rPr dirty="0"/>
              <a:t>•  Exact Headroom Proof: </a:t>
            </a:r>
            <a:r>
              <a:rPr b="0" dirty="0">
                <a:solidFill>
                  <a:srgbClr val="111827"/>
                </a:solidFill>
              </a:rPr>
              <a:t>Product of two Q12 numbers is 4095 x 4095 ≈ 2²⁴. For d=48: 48 x 2²⁴ = 8.05 x 10⁸ &lt; 2³¹-1 = 2.14 x 10⁹.</a:t>
            </a:r>
          </a:p>
          <a:p>
            <a:pPr>
              <a:spcBef>
                <a:spcPts val="600"/>
              </a:spcBef>
              <a:defRPr sz="1200" b="1">
                <a:solidFill>
                  <a:srgbClr val="2563EB"/>
                </a:solidFill>
              </a:defRPr>
            </a:pPr>
            <a:r>
              <a:rPr dirty="0"/>
              <a:t>•  Guaranteed 1 Bit Sign Headroom: </a:t>
            </a:r>
            <a:r>
              <a:rPr b="0" dirty="0">
                <a:solidFill>
                  <a:srgbClr val="111827"/>
                </a:solidFill>
              </a:rPr>
              <a:t>Guarantees 1 full bit of sign headroom (2³⁰ &lt; 2³¹-1), preventing register overflow without spilling.</a:t>
            </a:r>
          </a:p>
        </p:txBody>
      </p:sp>
      <p:sp>
        <p:nvSpPr>
          <p:cNvPr id="6" name="Rounded Rectangle 5"/>
          <p:cNvSpPr/>
          <p:nvPr/>
        </p:nvSpPr>
        <p:spPr>
          <a:xfrm>
            <a:off x="6309360" y="1463040"/>
            <a:ext cx="5303520" cy="484632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000"/>
              </a:spcAft>
              <a:defRPr sz="1700" b="1">
                <a:solidFill>
                  <a:srgbClr val="0F172A"/>
                </a:solidFill>
                <a:latin typeface="Georgia"/>
              </a:defRPr>
            </a:pPr>
            <a:r>
              <a:t>GCC 4-Byte Memory Alignment Guards</a:t>
            </a:r>
          </a:p>
          <a:p>
            <a:pPr>
              <a:spcBef>
                <a:spcPts val="600"/>
              </a:spcBef>
              <a:defRPr sz="1200" b="1">
                <a:solidFill>
                  <a:srgbClr val="0F172A"/>
                </a:solidFill>
              </a:defRPr>
            </a:pPr>
            <a:r>
              <a:t>•  Unaligned Memory Traps: </a:t>
            </a:r>
            <a:r>
              <a:rPr b="0">
                <a:solidFill>
                  <a:srgbClr val="111827"/>
                </a:solidFill>
              </a:rPr>
              <a:t>Target Xtensa core enforces Unaligned Load/Store: Take Exception. Loading 32-bit uint32_t from odd or 2-byte boundaries triggers fatal hardware interrupts.</a:t>
            </a:r>
          </a:p>
          <a:p>
            <a:pPr>
              <a:spcBef>
                <a:spcPts val="600"/>
              </a:spcBef>
              <a:defRPr sz="1200" b="1">
                <a:solidFill>
                  <a:srgbClr val="0F172A"/>
                </a:solidFill>
              </a:defRPr>
            </a:pPr>
            <a:r>
              <a:t>•  Stack Array Misalignment: </a:t>
            </a:r>
            <a:r>
              <a:rPr b="0">
                <a:solidFill>
                  <a:srgbClr val="111827"/>
                </a:solidFill>
              </a:rPr>
              <a:t>Stack-allocated arrays (int16_t vec_q12[d]) were only guaranteed 2-byte alignment by compiler default.</a:t>
            </a:r>
          </a:p>
          <a:p>
            <a:pPr>
              <a:spcBef>
                <a:spcPts val="600"/>
              </a:spcBef>
              <a:defRPr sz="1200" b="1">
                <a:solidFill>
                  <a:srgbClr val="0F172A"/>
                </a:solidFill>
              </a:defRPr>
            </a:pPr>
            <a:r>
              <a:t>•  Explicit Alignment Injection: </a:t>
            </a:r>
            <a:r>
              <a:rPr b="0">
                <a:solidFill>
                  <a:srgbClr val="111827"/>
                </a:solidFill>
              </a:rPr>
              <a:t>Appended GCC compiler attribute __attribute__((aligned(4))) on all stack array declarations cast to uint32_t*.</a:t>
            </a:r>
          </a:p>
          <a:p>
            <a:pPr>
              <a:spcBef>
                <a:spcPts val="600"/>
              </a:spcBef>
              <a:defRPr sz="1200" b="1">
                <a:solidFill>
                  <a:srgbClr val="0F172A"/>
                </a:solidFill>
              </a:defRPr>
            </a:pPr>
            <a:r>
              <a:t>•  100% Trap Elimination: </a:t>
            </a:r>
            <a:r>
              <a:rPr b="0">
                <a:solidFill>
                  <a:srgbClr val="111827"/>
                </a:solidFill>
              </a:rPr>
              <a:t>Completely eliminated unaligned load/store exception crashes across all inference runs.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418320" cy="822960"/>
          </a:xfrm>
          <a:prstGeom prst="rect">
            <a:avLst/>
          </a:prstGeom>
          <a:noFill/>
        </p:spPr>
        <p:txBody>
          <a:bodyPr wrap="square" lIns="0" tIns="0" rIns="0" bIns="0">
            <a:spAutoFit/>
          </a:bodyPr>
          <a:lstStyle/>
          <a:p>
            <a:pPr>
              <a:spcAft>
                <a:spcPts val="200"/>
              </a:spcAft>
              <a:defRPr sz="1000" b="1">
                <a:solidFill>
                  <a:srgbClr val="2563EB"/>
                </a:solidFill>
                <a:latin typeface="Calibri"/>
              </a:defRPr>
            </a:pPr>
            <a:r>
              <a:t>8. TOOLCHAIN</a:t>
            </a:r>
          </a:p>
          <a:p>
            <a:pPr>
              <a:defRPr sz="2200" b="1">
                <a:solidFill>
                  <a:srgbClr val="0F172A"/>
                </a:solidFill>
                <a:latin typeface="Georgia"/>
              </a:defRPr>
            </a:pPr>
            <a:r>
              <a:t>End-to-End Build, Compilation, &amp; Toolchain Flow</a:t>
            </a:r>
          </a:p>
        </p:txBody>
      </p:sp>
      <p:sp>
        <p:nvSpPr>
          <p:cNvPr id="3" name="Rounded Rectangle 2"/>
          <p:cNvSpPr/>
          <p:nvPr/>
        </p:nvSpPr>
        <p:spPr>
          <a:xfrm>
            <a:off x="10180015" y="365760"/>
            <a:ext cx="146304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t>PROJECT 304</a:t>
            </a:r>
          </a:p>
        </p:txBody>
      </p:sp>
      <p:sp>
        <p:nvSpPr>
          <p:cNvPr id="4" name="Rectangle 3"/>
          <p:cNvSpPr/>
          <p:nvPr/>
        </p:nvSpPr>
        <p:spPr>
          <a:xfrm>
            <a:off x="548640" y="1234440"/>
            <a:ext cx="1109441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463040"/>
            <a:ext cx="2560320"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spcAft>
                <a:spcPts val="400"/>
              </a:spcAft>
              <a:defRPr sz="1400" b="1">
                <a:solidFill>
                  <a:srgbClr val="0F172A"/>
                </a:solidFill>
                <a:latin typeface="Georgia"/>
              </a:defRPr>
            </a:pPr>
            <a:r>
              <a:t>1. Checkpoint Export</a:t>
            </a:r>
          </a:p>
          <a:p>
            <a:pPr>
              <a:spcAft>
                <a:spcPts val="1000"/>
              </a:spcAft>
              <a:defRPr sz="1100" b="1">
                <a:solidFill>
                  <a:srgbClr val="2563EB"/>
                </a:solidFill>
                <a:latin typeface="Consolas"/>
              </a:defRPr>
            </a:pPr>
            <a:r>
              <a:t>export.py</a:t>
            </a:r>
          </a:p>
          <a:p>
            <a:pPr>
              <a:spcBef>
                <a:spcPts val="400"/>
              </a:spcBef>
              <a:defRPr sz="1100">
                <a:solidFill>
                  <a:srgbClr val="111827"/>
                </a:solidFill>
              </a:defRPr>
            </a:pPr>
            <a:r>
              <a:t>• Ingests PyTorch stories15M.pt checkpoint.</a:t>
            </a:r>
          </a:p>
          <a:p>
            <a:pPr>
              <a:spcBef>
                <a:spcPts val="400"/>
              </a:spcBef>
              <a:defRPr sz="1100">
                <a:solidFill>
                  <a:srgbClr val="111827"/>
                </a:solidFill>
              </a:defRPr>
            </a:pPr>
            <a:r>
              <a:t>• Quantizes weights to Q8_0 format (GS=64).</a:t>
            </a:r>
          </a:p>
          <a:p>
            <a:pPr>
              <a:spcBef>
                <a:spcPts val="400"/>
              </a:spcBef>
              <a:defRPr sz="1100">
                <a:solidFill>
                  <a:srgbClr val="111827"/>
                </a:solidFill>
              </a:defRPr>
            </a:pPr>
            <a:r>
              <a:t>• Outputs stories15M_q80.bin in ak42 binary layout (~15.9 MB).</a:t>
            </a:r>
          </a:p>
        </p:txBody>
      </p:sp>
      <p:sp>
        <p:nvSpPr>
          <p:cNvPr id="6" name="Rounded Rectangle 5"/>
          <p:cNvSpPr/>
          <p:nvPr/>
        </p:nvSpPr>
        <p:spPr>
          <a:xfrm>
            <a:off x="3383280" y="1463040"/>
            <a:ext cx="2560320"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spcAft>
                <a:spcPts val="400"/>
              </a:spcAft>
              <a:defRPr sz="1400" b="1">
                <a:solidFill>
                  <a:srgbClr val="0F172A"/>
                </a:solidFill>
                <a:latin typeface="Georgia"/>
              </a:defRPr>
            </a:pPr>
            <a:r>
              <a:t>2. Constants &amp; TIE ROM</a:t>
            </a:r>
          </a:p>
          <a:p>
            <a:pPr>
              <a:spcAft>
                <a:spcPts val="1000"/>
              </a:spcAft>
              <a:defRPr sz="1100" b="1">
                <a:solidFill>
                  <a:srgbClr val="2563EB"/>
                </a:solidFill>
                <a:latin typeface="Consolas"/>
              </a:defRPr>
            </a:pPr>
            <a:r>
              <a:t>generate_tq_constants.py</a:t>
            </a:r>
          </a:p>
          <a:p>
            <a:pPr>
              <a:spcBef>
                <a:spcPts val="400"/>
              </a:spcBef>
              <a:defRPr sz="1100">
                <a:solidFill>
                  <a:srgbClr val="111827"/>
                </a:solidFill>
              </a:defRPr>
            </a:pPr>
            <a:r>
              <a:t>• Reads head size D=48 from binary header.</a:t>
            </a:r>
          </a:p>
          <a:p>
            <a:pPr>
              <a:spcBef>
                <a:spcPts val="400"/>
              </a:spcBef>
              <a:defRPr sz="1100">
                <a:solidFill>
                  <a:srgbClr val="111827"/>
                </a:solidFill>
              </a:defRPr>
            </a:pPr>
            <a:r>
              <a:t>• Computes Haar rotation matrix Π &amp; QJL matrix M.</a:t>
            </a:r>
          </a:p>
          <a:p>
            <a:pPr>
              <a:spcBef>
                <a:spcPts val="400"/>
              </a:spcBef>
              <a:defRPr sz="1100">
                <a:solidFill>
                  <a:srgbClr val="111827"/>
                </a:solidFill>
              </a:defRPr>
            </a:pPr>
            <a:r>
              <a:t>• Outputs C header (tq_constants.h) and TIE ROM (tq_cent_table.tie).</a:t>
            </a:r>
          </a:p>
        </p:txBody>
      </p:sp>
      <p:sp>
        <p:nvSpPr>
          <p:cNvPr id="7" name="Rounded Rectangle 6"/>
          <p:cNvSpPr/>
          <p:nvPr/>
        </p:nvSpPr>
        <p:spPr>
          <a:xfrm>
            <a:off x="6217920" y="1463040"/>
            <a:ext cx="2560320"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spcAft>
                <a:spcPts val="400"/>
              </a:spcAft>
              <a:defRPr sz="1400" b="1">
                <a:solidFill>
                  <a:srgbClr val="0F172A"/>
                </a:solidFill>
                <a:latin typeface="Georgia"/>
              </a:defRPr>
            </a:pPr>
            <a:r>
              <a:t>3. Cross-Compilation</a:t>
            </a:r>
          </a:p>
          <a:p>
            <a:pPr>
              <a:spcAft>
                <a:spcPts val="1000"/>
              </a:spcAft>
              <a:defRPr sz="1100" b="1">
                <a:solidFill>
                  <a:srgbClr val="2563EB"/>
                </a:solidFill>
                <a:latin typeface="Consolas"/>
              </a:defRPr>
            </a:pPr>
            <a:r>
              <a:t>xt-xcc (-O2)</a:t>
            </a:r>
          </a:p>
          <a:p>
            <a:pPr>
              <a:spcBef>
                <a:spcPts val="400"/>
              </a:spcBef>
              <a:defRPr sz="1100">
                <a:solidFill>
                  <a:srgbClr val="111827"/>
                </a:solidFill>
              </a:defRPr>
            </a:pPr>
            <a:r>
              <a:t>• Cross-compiles main.c for tie_dev2 core.</a:t>
            </a:r>
          </a:p>
          <a:p>
            <a:pPr>
              <a:spcBef>
                <a:spcPts val="400"/>
              </a:spcBef>
              <a:defRPr sz="1100">
                <a:solidFill>
                  <a:srgbClr val="111827"/>
                </a:solidFill>
              </a:defRPr>
            </a:pPr>
            <a:r>
              <a:t>• Integrates custom TIE intrinsics directly into machine binary.</a:t>
            </a:r>
          </a:p>
          <a:p>
            <a:pPr>
              <a:spcBef>
                <a:spcPts val="400"/>
              </a:spcBef>
              <a:defRPr sz="1100">
                <a:solidFill>
                  <a:srgbClr val="111827"/>
                </a:solidFill>
              </a:defRPr>
            </a:pPr>
            <a:r>
              <a:t>• Produces eprj2 ELF executable.</a:t>
            </a:r>
          </a:p>
        </p:txBody>
      </p:sp>
      <p:sp>
        <p:nvSpPr>
          <p:cNvPr id="8" name="Rounded Rectangle 7"/>
          <p:cNvSpPr/>
          <p:nvPr/>
        </p:nvSpPr>
        <p:spPr>
          <a:xfrm>
            <a:off x="9052560" y="1463040"/>
            <a:ext cx="2560320" cy="484632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spcAft>
                <a:spcPts val="400"/>
              </a:spcAft>
              <a:defRPr sz="1400" b="1">
                <a:solidFill>
                  <a:srgbClr val="0F172A"/>
                </a:solidFill>
                <a:latin typeface="Georgia"/>
              </a:defRPr>
            </a:pPr>
            <a:r>
              <a:t>4. Cycle Profiling</a:t>
            </a:r>
          </a:p>
          <a:p>
            <a:pPr>
              <a:spcAft>
                <a:spcPts val="1000"/>
              </a:spcAft>
              <a:defRPr sz="1100" b="1">
                <a:solidFill>
                  <a:srgbClr val="2563EB"/>
                </a:solidFill>
                <a:latin typeface="Consolas"/>
              </a:defRPr>
            </a:pPr>
            <a:r>
              <a:t>xt-run Simulator</a:t>
            </a:r>
          </a:p>
          <a:p>
            <a:pPr>
              <a:spcBef>
                <a:spcPts val="400"/>
              </a:spcBef>
              <a:defRPr sz="1100">
                <a:solidFill>
                  <a:srgbClr val="111827"/>
                </a:solidFill>
              </a:defRPr>
            </a:pPr>
            <a:r>
              <a:t>• Executes cycle-accurate simulation on Xtensa ISS.</a:t>
            </a:r>
          </a:p>
          <a:p>
            <a:pPr>
              <a:spcBef>
                <a:spcPts val="400"/>
              </a:spcBef>
              <a:defRPr sz="1100">
                <a:solidFill>
                  <a:srgbClr val="111827"/>
                </a:solidFill>
              </a:defRPr>
            </a:pPr>
            <a:r>
              <a:t>• Tracks pipeline interlocks, committed instructions, and TIE opcodes.</a:t>
            </a:r>
          </a:p>
          <a:p>
            <a:pPr>
              <a:spcBef>
                <a:spcPts val="400"/>
              </a:spcBef>
              <a:defRPr sz="1100">
                <a:solidFill>
                  <a:srgbClr val="111827"/>
                </a:solidFill>
              </a:defRPr>
            </a:pPr>
            <a:r>
              <a:t>• Emits detailed performance summary logs.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418320" cy="822960"/>
          </a:xfrm>
          <a:prstGeom prst="rect">
            <a:avLst/>
          </a:prstGeom>
          <a:noFill/>
        </p:spPr>
        <p:txBody>
          <a:bodyPr wrap="square" lIns="0" tIns="0" rIns="0" bIns="0">
            <a:spAutoFit/>
          </a:bodyPr>
          <a:lstStyle/>
          <a:p>
            <a:pPr>
              <a:spcAft>
                <a:spcPts val="200"/>
              </a:spcAft>
              <a:defRPr sz="1000" b="1">
                <a:solidFill>
                  <a:srgbClr val="2563EB"/>
                </a:solidFill>
                <a:latin typeface="Calibri"/>
              </a:defRPr>
            </a:pPr>
            <a:r>
              <a:t>9. VERIFICATION</a:t>
            </a:r>
          </a:p>
          <a:p>
            <a:pPr>
              <a:defRPr sz="2200" b="1">
                <a:solidFill>
                  <a:srgbClr val="0F172A"/>
                </a:solidFill>
                <a:latin typeface="Georgia"/>
              </a:defRPr>
            </a:pPr>
            <a:r>
              <a:t>Verification Methodology &amp; Loading Time Attribution</a:t>
            </a:r>
          </a:p>
        </p:txBody>
      </p:sp>
      <p:sp>
        <p:nvSpPr>
          <p:cNvPr id="3" name="Rounded Rectangle 2"/>
          <p:cNvSpPr/>
          <p:nvPr/>
        </p:nvSpPr>
        <p:spPr>
          <a:xfrm>
            <a:off x="10180015" y="365760"/>
            <a:ext cx="146304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t>PROJECT 304</a:t>
            </a:r>
          </a:p>
        </p:txBody>
      </p:sp>
      <p:sp>
        <p:nvSpPr>
          <p:cNvPr id="4" name="Rectangle 3"/>
          <p:cNvSpPr/>
          <p:nvPr/>
        </p:nvSpPr>
        <p:spPr>
          <a:xfrm>
            <a:off x="548640" y="1234440"/>
            <a:ext cx="1109441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463040"/>
            <a:ext cx="5303520"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000"/>
              </a:spcAft>
              <a:defRPr sz="1700" b="1">
                <a:solidFill>
                  <a:srgbClr val="0F172A"/>
                </a:solidFill>
                <a:latin typeface="Georgia"/>
              </a:defRPr>
            </a:pPr>
            <a:r>
              <a:rPr dirty="0"/>
              <a:t>Deterministic Greedy Sampling (T=0.0)</a:t>
            </a:r>
          </a:p>
          <a:p>
            <a:pPr>
              <a:spcBef>
                <a:spcPts val="600"/>
              </a:spcBef>
              <a:defRPr sz="1200" b="1">
                <a:solidFill>
                  <a:srgbClr val="2563EB"/>
                </a:solidFill>
              </a:defRPr>
            </a:pPr>
            <a:r>
              <a:rPr dirty="0"/>
              <a:t>•  The Stochastic Divergence Barrier: </a:t>
            </a:r>
            <a:r>
              <a:rPr b="0" dirty="0">
                <a:solidFill>
                  <a:srgbClr val="111827"/>
                </a:solidFill>
              </a:rPr>
              <a:t>When temperature T &gt; 0, multinomial sampling introduces pseudo-random variation, making hardware bug isolation impossible.</a:t>
            </a:r>
          </a:p>
          <a:p>
            <a:pPr>
              <a:spcBef>
                <a:spcPts val="600"/>
              </a:spcBef>
              <a:defRPr sz="1200" b="1">
                <a:solidFill>
                  <a:srgbClr val="2563EB"/>
                </a:solidFill>
              </a:defRPr>
            </a:pPr>
            <a:r>
              <a:rPr dirty="0"/>
              <a:t>•  Greedy Argmax Selection (T=0.0): </a:t>
            </a:r>
            <a:r>
              <a:rPr b="0" dirty="0">
                <a:solidFill>
                  <a:srgbClr val="111827"/>
                </a:solidFill>
              </a:rPr>
              <a:t>Enforced temperature = 0.0f (Token = argmax(logits)) across all evaluation runs.</a:t>
            </a:r>
          </a:p>
          <a:p>
            <a:pPr>
              <a:spcBef>
                <a:spcPts val="600"/>
              </a:spcBef>
              <a:defRPr sz="1200" b="1">
                <a:solidFill>
                  <a:srgbClr val="2563EB"/>
                </a:solidFill>
              </a:defRPr>
            </a:pPr>
            <a:r>
              <a:rPr dirty="0"/>
              <a:t>•  Deterministic Output Matching: </a:t>
            </a:r>
            <a:r>
              <a:rPr b="0" dirty="0">
                <a:solidFill>
                  <a:srgbClr val="111827"/>
                </a:solidFill>
              </a:rPr>
              <a:t>Guarantees 100% repeatable, deterministic output text matching on test prompts across code and TIE iterations.</a:t>
            </a:r>
          </a:p>
          <a:p>
            <a:pPr>
              <a:spcBef>
                <a:spcPts val="600"/>
              </a:spcBef>
              <a:defRPr sz="1200" b="1">
                <a:solidFill>
                  <a:srgbClr val="2563EB"/>
                </a:solidFill>
              </a:defRPr>
            </a:pPr>
            <a:r>
              <a:rPr dirty="0"/>
              <a:t>•  Output Coherence Verification: </a:t>
            </a:r>
            <a:r>
              <a:rPr b="0" dirty="0">
                <a:solidFill>
                  <a:srgbClr val="111827"/>
                </a:solidFill>
              </a:rPr>
              <a:t>Generated coherent English text matching desktop reference: 'Once upon a time, there was a little girl named Lily...'</a:t>
            </a:r>
          </a:p>
        </p:txBody>
      </p:sp>
      <p:sp>
        <p:nvSpPr>
          <p:cNvPr id="6" name="Rounded Rectangle 5"/>
          <p:cNvSpPr/>
          <p:nvPr/>
        </p:nvSpPr>
        <p:spPr>
          <a:xfrm>
            <a:off x="6309360" y="1463040"/>
            <a:ext cx="5303520" cy="484632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000"/>
              </a:spcAft>
              <a:defRPr sz="1700" b="1">
                <a:solidFill>
                  <a:srgbClr val="0F172A"/>
                </a:solidFill>
                <a:latin typeface="Georgia"/>
              </a:defRPr>
            </a:pPr>
            <a:r>
              <a:t>Host Simulator Wall-Clock Time Attribution</a:t>
            </a:r>
          </a:p>
          <a:p>
            <a:pPr>
              <a:spcBef>
                <a:spcPts val="600"/>
              </a:spcBef>
              <a:defRPr sz="1200" b="1">
                <a:solidFill>
                  <a:srgbClr val="0F172A"/>
                </a:solidFill>
              </a:defRPr>
            </a:pPr>
            <a:r>
              <a:t>•  Console Loading Diagnostics: </a:t>
            </a:r>
            <a:r>
              <a:rPr b="0">
                <a:solidFill>
                  <a:srgbClr val="111827"/>
                </a:solidFill>
              </a:rPr>
              <a:t>Diagnostics reported: 'Model loaded in 11,861 ms' and 'Tokenizer loaded in 9,754 ms'.</a:t>
            </a:r>
          </a:p>
          <a:p>
            <a:pPr>
              <a:spcBef>
                <a:spcPts val="600"/>
              </a:spcBef>
              <a:defRPr sz="1200" b="1">
                <a:solidFill>
                  <a:srgbClr val="0F172A"/>
                </a:solidFill>
              </a:defRPr>
            </a:pPr>
            <a:r>
              <a:t>•  Host Simulator Wall-Clock Time: </a:t>
            </a:r>
            <a:r>
              <a:rPr b="0">
                <a:solidFill>
                  <a:srgbClr val="111827"/>
                </a:solidFill>
              </a:rPr>
              <a:t>These figures represent host OS wall-clock execution time on the simulation server (I/O over simcalls), NOT target 1.0 GHz CPU cycles!</a:t>
            </a:r>
          </a:p>
          <a:p>
            <a:pPr>
              <a:spcBef>
                <a:spcPts val="600"/>
              </a:spcBef>
              <a:defRPr sz="1200" b="1">
                <a:solidFill>
                  <a:srgbClr val="0F172A"/>
                </a:solidFill>
              </a:defRPr>
            </a:pPr>
            <a:r>
              <a:t>•  Model File I/O Overhead: </a:t>
            </a:r>
            <a:r>
              <a:rPr b="0">
                <a:solidFill>
                  <a:srgbClr val="111827"/>
                </a:solidFill>
              </a:rPr>
              <a:t>Loading 15.9 MB model file over simulated I/O traps consumes host CPU time during simulation setup.</a:t>
            </a:r>
          </a:p>
          <a:p>
            <a:pPr>
              <a:spcBef>
                <a:spcPts val="600"/>
              </a:spcBef>
              <a:defRPr sz="1200" b="1">
                <a:solidFill>
                  <a:srgbClr val="0F172A"/>
                </a:solidFill>
              </a:defRPr>
            </a:pPr>
            <a:r>
              <a:t>•  Pure Target Execution Metric: </a:t>
            </a:r>
            <a:r>
              <a:rPr b="0">
                <a:solidFill>
                  <a:srgbClr val="111827"/>
                </a:solidFill>
              </a:rPr>
              <a:t>Target processor cycle metrics are tracked exclusively via xt-run cycle hardware counters (1.96B cycles / 10 tokens).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418320" cy="822960"/>
          </a:xfrm>
          <a:prstGeom prst="rect">
            <a:avLst/>
          </a:prstGeom>
          <a:noFill/>
        </p:spPr>
        <p:txBody>
          <a:bodyPr wrap="square" lIns="0" tIns="0" rIns="0" bIns="0">
            <a:spAutoFit/>
          </a:bodyPr>
          <a:lstStyle/>
          <a:p>
            <a:pPr>
              <a:spcAft>
                <a:spcPts val="200"/>
              </a:spcAft>
              <a:defRPr sz="1000" b="1">
                <a:solidFill>
                  <a:srgbClr val="2563EB"/>
                </a:solidFill>
                <a:latin typeface="Calibri"/>
              </a:defRPr>
            </a:pPr>
            <a:r>
              <a:t>10. EXPERIMENTAL RESULTS</a:t>
            </a:r>
          </a:p>
          <a:p>
            <a:pPr>
              <a:defRPr sz="2200" b="1">
                <a:solidFill>
                  <a:srgbClr val="0F172A"/>
                </a:solidFill>
                <a:latin typeface="Georgia"/>
              </a:defRPr>
            </a:pPr>
            <a:r>
              <a:t>Experimental Results: 6.00x KV-Cache Memory Compression</a:t>
            </a:r>
          </a:p>
        </p:txBody>
      </p:sp>
      <p:sp>
        <p:nvSpPr>
          <p:cNvPr id="3" name="Rounded Rectangle 2"/>
          <p:cNvSpPr/>
          <p:nvPr/>
        </p:nvSpPr>
        <p:spPr>
          <a:xfrm>
            <a:off x="10180015" y="365760"/>
            <a:ext cx="146304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t>PROJECT 304</a:t>
            </a:r>
          </a:p>
        </p:txBody>
      </p:sp>
      <p:sp>
        <p:nvSpPr>
          <p:cNvPr id="4" name="Rectangle 3"/>
          <p:cNvSpPr/>
          <p:nvPr/>
        </p:nvSpPr>
        <p:spPr>
          <a:xfrm>
            <a:off x="548640" y="1234440"/>
            <a:ext cx="1109441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463040"/>
            <a:ext cx="4114800" cy="48463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lIns="365760" tIns="365760" rIns="365760" bIns="365760" rtlCol="0" anchor="ctr"/>
          <a:lstStyle/>
          <a:p>
            <a:pPr algn="ctr">
              <a:spcAft>
                <a:spcPts val="1400"/>
              </a:spcAft>
              <a:defRPr sz="1200" b="1">
                <a:solidFill>
                  <a:srgbClr val="2563EB"/>
                </a:solidFill>
                <a:latin typeface="Calibri"/>
              </a:defRPr>
            </a:pPr>
            <a:r>
              <a:t>VERIFIED COMPRESSION</a:t>
            </a:r>
          </a:p>
          <a:p>
            <a:pPr>
              <a:spcAft>
                <a:spcPts val="800"/>
              </a:spcAft>
              <a:defRPr sz="5400" b="1">
                <a:solidFill>
                  <a:srgbClr val="FFFFFF"/>
                </a:solidFill>
                <a:latin typeface="Georgia"/>
              </a:defRPr>
            </a:pPr>
            <a:r>
              <a:t>6.00x</a:t>
            </a:r>
          </a:p>
          <a:p>
            <a:pPr>
              <a:spcAft>
                <a:spcPts val="2400"/>
              </a:spcAft>
              <a:defRPr sz="1600">
                <a:solidFill>
                  <a:srgbClr val="94A3B8"/>
                </a:solidFill>
                <a:latin typeface="Calibri"/>
              </a:defRPr>
            </a:pPr>
            <a:r>
              <a:t>KV Capacity Memory Reduction</a:t>
            </a:r>
            <a:br/>
            <a:r>
              <a:t>(83.4% Memory Savings)</a:t>
            </a:r>
          </a:p>
          <a:p>
            <a:pPr>
              <a:defRPr sz="1300">
                <a:solidFill>
                  <a:srgbClr val="F8FAFC"/>
                </a:solidFill>
                <a:latin typeface="Calibri"/>
              </a:defRPr>
            </a:pPr>
            <a:r>
              <a:t>• FP32 Cache: 3.38 MB (256 tokens)</a:t>
            </a:r>
            <a:br/>
            <a:r>
              <a:t>• 4-Bit TurboQuant: 0.56 MB (256 tokens)</a:t>
            </a:r>
            <a:br/>
            <a:r>
              <a:t>• Footprint: 384 Bytes / token (all 6 layers)</a:t>
            </a:r>
          </a:p>
        </p:txBody>
      </p:sp>
      <p:graphicFrame>
        <p:nvGraphicFramePr>
          <p:cNvPr id="6" name="Table 5"/>
          <p:cNvGraphicFramePr>
            <a:graphicFrameLocks noGrp="1"/>
          </p:cNvGraphicFramePr>
          <p:nvPr/>
        </p:nvGraphicFramePr>
        <p:xfrm>
          <a:off x="4937760" y="1463040"/>
          <a:ext cx="6705295" cy="48463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224735">
                  <a:extLst>
                    <a:ext uri="{9D8B030D-6E8A-4147-A177-3AD203B41FA5}">
                      <a16:colId xmlns:a16="http://schemas.microsoft.com/office/drawing/2014/main" val="20002"/>
                    </a:ext>
                  </a:extLst>
                </a:gridCol>
              </a:tblGrid>
              <a:tr h="807720">
                <a:tc>
                  <a:txBody>
                    <a:bodyPr/>
                    <a:lstStyle/>
                    <a:p>
                      <a:pPr>
                        <a:defRPr sz="1200" b="1">
                          <a:solidFill>
                            <a:srgbClr val="FFFFFF"/>
                          </a:solidFill>
                        </a:defRPr>
                      </a:pPr>
                      <a:r>
                        <a:t>Memory Parameter</a:t>
                      </a:r>
                    </a:p>
                  </a:txBody>
                  <a:tcPr>
                    <a:solidFill>
                      <a:srgbClr val="0F172A"/>
                    </a:solidFill>
                  </a:tcPr>
                </a:tc>
                <a:tc>
                  <a:txBody>
                    <a:bodyPr/>
                    <a:lstStyle/>
                    <a:p>
                      <a:pPr>
                        <a:defRPr sz="1200" b="1">
                          <a:solidFill>
                            <a:srgbClr val="FFFFFF"/>
                          </a:solidFill>
                        </a:defRPr>
                      </a:pPr>
                      <a:r>
                        <a:t>Uncompressed FP32</a:t>
                      </a:r>
                    </a:p>
                  </a:txBody>
                  <a:tcPr>
                    <a:solidFill>
                      <a:srgbClr val="0F172A"/>
                    </a:solidFill>
                  </a:tcPr>
                </a:tc>
                <a:tc>
                  <a:txBody>
                    <a:bodyPr/>
                    <a:lstStyle/>
                    <a:p>
                      <a:pPr>
                        <a:defRPr sz="1200" b="1">
                          <a:solidFill>
                            <a:srgbClr val="FFFFFF"/>
                          </a:solidFill>
                        </a:defRPr>
                      </a:pPr>
                      <a:r>
                        <a:t>TurboQuant 4-Bit (This Work)</a:t>
                      </a:r>
                    </a:p>
                  </a:txBody>
                  <a:tcPr>
                    <a:solidFill>
                      <a:srgbClr val="0F172A"/>
                    </a:solidFill>
                  </a:tcPr>
                </a:tc>
                <a:extLst>
                  <a:ext uri="{0D108BD9-81ED-4DB2-BD59-A6C34878D82A}">
                    <a16:rowId xmlns:a16="http://schemas.microsoft.com/office/drawing/2014/main" val="10000"/>
                  </a:ext>
                </a:extLst>
              </a:tr>
              <a:tr h="807720">
                <a:tc>
                  <a:txBody>
                    <a:bodyPr/>
                    <a:lstStyle/>
                    <a:p>
                      <a:pPr>
                        <a:defRPr sz="1100" b="1">
                          <a:solidFill>
                            <a:srgbClr val="0F172A"/>
                          </a:solidFill>
                        </a:defRPr>
                      </a:pPr>
                      <a:r>
                        <a:t>Key Vector Precision</a:t>
                      </a:r>
                    </a:p>
                  </a:txBody>
                  <a:tcPr>
                    <a:solidFill>
                      <a:srgbClr val="FFFFFF"/>
                    </a:solidFill>
                  </a:tcPr>
                </a:tc>
                <a:tc>
                  <a:txBody>
                    <a:bodyPr/>
                    <a:lstStyle/>
                    <a:p>
                      <a:pPr>
                        <a:defRPr sz="1100">
                          <a:solidFill>
                            <a:srgbClr val="111827"/>
                          </a:solidFill>
                        </a:defRPr>
                      </a:pPr>
                      <a:r>
                        <a:t>32 bits (Float32)</a:t>
                      </a:r>
                    </a:p>
                  </a:txBody>
                  <a:tcPr>
                    <a:solidFill>
                      <a:srgbClr val="FFFFFF"/>
                    </a:solidFill>
                  </a:tcPr>
                </a:tc>
                <a:tc>
                  <a:txBody>
                    <a:bodyPr/>
                    <a:lstStyle/>
                    <a:p>
                      <a:pPr>
                        <a:defRPr sz="1100">
                          <a:solidFill>
                            <a:srgbClr val="111827"/>
                          </a:solidFill>
                        </a:defRPr>
                      </a:pPr>
                      <a:r>
                        <a:t>4 bits (3-bit cent + 1-bit sign)</a:t>
                      </a:r>
                    </a:p>
                  </a:txBody>
                  <a:tcPr>
                    <a:solidFill>
                      <a:srgbClr val="FFFFFF"/>
                    </a:solidFill>
                  </a:tcPr>
                </a:tc>
                <a:extLst>
                  <a:ext uri="{0D108BD9-81ED-4DB2-BD59-A6C34878D82A}">
                    <a16:rowId xmlns:a16="http://schemas.microsoft.com/office/drawing/2014/main" val="10001"/>
                  </a:ext>
                </a:extLst>
              </a:tr>
              <a:tr h="807720">
                <a:tc>
                  <a:txBody>
                    <a:bodyPr/>
                    <a:lstStyle/>
                    <a:p>
                      <a:pPr>
                        <a:defRPr sz="1100" b="1">
                          <a:solidFill>
                            <a:srgbClr val="0F172A"/>
                          </a:solidFill>
                        </a:defRPr>
                      </a:pPr>
                      <a:r>
                        <a:t>Value Vector Precision</a:t>
                      </a:r>
                    </a:p>
                  </a:txBody>
                  <a:tcPr>
                    <a:solidFill>
                      <a:srgbClr val="EFF6FF"/>
                    </a:solidFill>
                  </a:tcPr>
                </a:tc>
                <a:tc>
                  <a:txBody>
                    <a:bodyPr/>
                    <a:lstStyle/>
                    <a:p>
                      <a:pPr>
                        <a:defRPr sz="1100">
                          <a:solidFill>
                            <a:srgbClr val="111827"/>
                          </a:solidFill>
                        </a:defRPr>
                      </a:pPr>
                      <a:r>
                        <a:t>32 bits (Float32)</a:t>
                      </a:r>
                    </a:p>
                  </a:txBody>
                  <a:tcPr>
                    <a:solidFill>
                      <a:srgbClr val="EFF6FF"/>
                    </a:solidFill>
                  </a:tcPr>
                </a:tc>
                <a:tc>
                  <a:txBody>
                    <a:bodyPr/>
                    <a:lstStyle/>
                    <a:p>
                      <a:pPr>
                        <a:defRPr sz="1100">
                          <a:solidFill>
                            <a:srgbClr val="111827"/>
                          </a:solidFill>
                        </a:defRPr>
                      </a:pPr>
                      <a:r>
                        <a:t>4 bits (3-bit cent + 1-bit sign)</a:t>
                      </a:r>
                    </a:p>
                  </a:txBody>
                  <a:tcPr>
                    <a:solidFill>
                      <a:srgbClr val="EFF6FF"/>
                    </a:solidFill>
                  </a:tcPr>
                </a:tc>
                <a:extLst>
                  <a:ext uri="{0D108BD9-81ED-4DB2-BD59-A6C34878D82A}">
                    <a16:rowId xmlns:a16="http://schemas.microsoft.com/office/drawing/2014/main" val="10002"/>
                  </a:ext>
                </a:extLst>
              </a:tr>
              <a:tr h="807720">
                <a:tc>
                  <a:txBody>
                    <a:bodyPr/>
                    <a:lstStyle/>
                    <a:p>
                      <a:pPr>
                        <a:defRPr sz="1100" b="1">
                          <a:solidFill>
                            <a:srgbClr val="0F172A"/>
                          </a:solidFill>
                        </a:defRPr>
                      </a:pPr>
                      <a:r>
                        <a:t>Per-Token Footprint (6 Layers)</a:t>
                      </a:r>
                    </a:p>
                  </a:txBody>
                  <a:tcPr>
                    <a:solidFill>
                      <a:srgbClr val="FFFFFF"/>
                    </a:solidFill>
                  </a:tcPr>
                </a:tc>
                <a:tc>
                  <a:txBody>
                    <a:bodyPr/>
                    <a:lstStyle/>
                    <a:p>
                      <a:pPr>
                        <a:defRPr sz="1100">
                          <a:solidFill>
                            <a:srgbClr val="111827"/>
                          </a:solidFill>
                        </a:defRPr>
                      </a:pPr>
                      <a:r>
                        <a:t>2,304 Bytes / token</a:t>
                      </a:r>
                    </a:p>
                  </a:txBody>
                  <a:tcPr>
                    <a:solidFill>
                      <a:srgbClr val="FFFFFF"/>
                    </a:solidFill>
                  </a:tcPr>
                </a:tc>
                <a:tc>
                  <a:txBody>
                    <a:bodyPr/>
                    <a:lstStyle/>
                    <a:p>
                      <a:pPr>
                        <a:defRPr sz="1100">
                          <a:solidFill>
                            <a:srgbClr val="111827"/>
                          </a:solidFill>
                        </a:defRPr>
                      </a:pPr>
                      <a:r>
                        <a:t>384 Bytes / token (6.00x)</a:t>
                      </a:r>
                    </a:p>
                  </a:txBody>
                  <a:tcPr>
                    <a:solidFill>
                      <a:srgbClr val="FFFFFF"/>
                    </a:solidFill>
                  </a:tcPr>
                </a:tc>
                <a:extLst>
                  <a:ext uri="{0D108BD9-81ED-4DB2-BD59-A6C34878D82A}">
                    <a16:rowId xmlns:a16="http://schemas.microsoft.com/office/drawing/2014/main" val="10003"/>
                  </a:ext>
                </a:extLst>
              </a:tr>
              <a:tr h="807720">
                <a:tc>
                  <a:txBody>
                    <a:bodyPr/>
                    <a:lstStyle/>
                    <a:p>
                      <a:pPr>
                        <a:defRPr sz="1100" b="1">
                          <a:solidFill>
                            <a:srgbClr val="0F172A"/>
                          </a:solidFill>
                        </a:defRPr>
                      </a:pPr>
                      <a:r>
                        <a:t>Total Cache (256 Context)</a:t>
                      </a:r>
                    </a:p>
                  </a:txBody>
                  <a:tcPr>
                    <a:solidFill>
                      <a:srgbClr val="EFF6FF"/>
                    </a:solidFill>
                  </a:tcPr>
                </a:tc>
                <a:tc>
                  <a:txBody>
                    <a:bodyPr/>
                    <a:lstStyle/>
                    <a:p>
                      <a:pPr>
                        <a:defRPr sz="1100">
                          <a:solidFill>
                            <a:srgbClr val="111827"/>
                          </a:solidFill>
                        </a:defRPr>
                      </a:pPr>
                      <a:r>
                        <a:t>3.38 MB</a:t>
                      </a:r>
                    </a:p>
                  </a:txBody>
                  <a:tcPr>
                    <a:solidFill>
                      <a:srgbClr val="EFF6FF"/>
                    </a:solidFill>
                  </a:tcPr>
                </a:tc>
                <a:tc>
                  <a:txBody>
                    <a:bodyPr/>
                    <a:lstStyle/>
                    <a:p>
                      <a:pPr>
                        <a:defRPr sz="1100">
                          <a:solidFill>
                            <a:srgbClr val="111827"/>
                          </a:solidFill>
                        </a:defRPr>
                      </a:pPr>
                      <a:r>
                        <a:t>0.56 MB (83.4% saving)</a:t>
                      </a:r>
                    </a:p>
                  </a:txBody>
                  <a:tcPr>
                    <a:solidFill>
                      <a:srgbClr val="EFF6FF"/>
                    </a:solidFill>
                  </a:tcPr>
                </a:tc>
                <a:extLst>
                  <a:ext uri="{0D108BD9-81ED-4DB2-BD59-A6C34878D82A}">
                    <a16:rowId xmlns:a16="http://schemas.microsoft.com/office/drawing/2014/main" val="10004"/>
                  </a:ext>
                </a:extLst>
              </a:tr>
              <a:tr h="807720">
                <a:tc>
                  <a:txBody>
                    <a:bodyPr/>
                    <a:lstStyle/>
                    <a:p>
                      <a:pPr>
                        <a:defRPr sz="1100" b="1">
                          <a:solidFill>
                            <a:srgbClr val="0F172A"/>
                          </a:solidFill>
                        </a:defRPr>
                      </a:pPr>
                      <a:r>
                        <a:t>Max Tokens in 512MB DRAM</a:t>
                      </a:r>
                    </a:p>
                  </a:txBody>
                  <a:tcPr>
                    <a:solidFill>
                      <a:srgbClr val="FFFFFF"/>
                    </a:solidFill>
                  </a:tcPr>
                </a:tc>
                <a:tc>
                  <a:txBody>
                    <a:bodyPr/>
                    <a:lstStyle/>
                    <a:p>
                      <a:pPr>
                        <a:defRPr sz="1100">
                          <a:solidFill>
                            <a:srgbClr val="111827"/>
                          </a:solidFill>
                        </a:defRPr>
                      </a:pPr>
                      <a:r>
                        <a:t>~38,000 Tokens</a:t>
                      </a:r>
                    </a:p>
                  </a:txBody>
                  <a:tcPr>
                    <a:solidFill>
                      <a:srgbClr val="FFFFFF"/>
                    </a:solidFill>
                  </a:tcPr>
                </a:tc>
                <a:tc>
                  <a:txBody>
                    <a:bodyPr/>
                    <a:lstStyle/>
                    <a:p>
                      <a:pPr>
                        <a:defRPr sz="1100">
                          <a:solidFill>
                            <a:srgbClr val="111827"/>
                          </a:solidFill>
                        </a:defRPr>
                      </a:pPr>
                      <a:r>
                        <a:t>~228,000 Tokens (+500%)</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418320" cy="822960"/>
          </a:xfrm>
          <a:prstGeom prst="rect">
            <a:avLst/>
          </a:prstGeom>
          <a:noFill/>
        </p:spPr>
        <p:txBody>
          <a:bodyPr wrap="square" lIns="0" tIns="0" rIns="0" bIns="0">
            <a:spAutoFit/>
          </a:bodyPr>
          <a:lstStyle/>
          <a:p>
            <a:pPr>
              <a:spcAft>
                <a:spcPts val="200"/>
              </a:spcAft>
              <a:defRPr sz="1000" b="1">
                <a:solidFill>
                  <a:srgbClr val="2563EB"/>
                </a:solidFill>
                <a:latin typeface="Calibri"/>
              </a:defRPr>
            </a:pPr>
            <a:r>
              <a:t>10. EXPERIMENTAL RESULTS</a:t>
            </a:r>
          </a:p>
          <a:p>
            <a:pPr>
              <a:defRPr sz="2200" b="1">
                <a:solidFill>
                  <a:srgbClr val="0F172A"/>
                </a:solidFill>
                <a:latin typeface="Georgia"/>
              </a:defRPr>
            </a:pPr>
            <a:r>
              <a:t>Experimental Results: Execution Cycle Count Trajectory</a:t>
            </a:r>
          </a:p>
        </p:txBody>
      </p:sp>
      <p:sp>
        <p:nvSpPr>
          <p:cNvPr id="3" name="Rounded Rectangle 2"/>
          <p:cNvSpPr/>
          <p:nvPr/>
        </p:nvSpPr>
        <p:spPr>
          <a:xfrm>
            <a:off x="10180015" y="365760"/>
            <a:ext cx="146304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t>PROJECT 304</a:t>
            </a:r>
          </a:p>
        </p:txBody>
      </p:sp>
      <p:sp>
        <p:nvSpPr>
          <p:cNvPr id="4" name="Rectangle 3"/>
          <p:cNvSpPr/>
          <p:nvPr/>
        </p:nvSpPr>
        <p:spPr>
          <a:xfrm>
            <a:off x="548640" y="1234440"/>
            <a:ext cx="1109441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48640" y="1463040"/>
          <a:ext cx="11094415" cy="292608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41855">
                  <a:extLst>
                    <a:ext uri="{9D8B030D-6E8A-4147-A177-3AD203B41FA5}">
                      <a16:colId xmlns:a16="http://schemas.microsoft.com/office/drawing/2014/main" val="20004"/>
                    </a:ext>
                  </a:extLst>
                </a:gridCol>
              </a:tblGrid>
              <a:tr h="731520">
                <a:tc>
                  <a:txBody>
                    <a:bodyPr/>
                    <a:lstStyle/>
                    <a:p>
                      <a:pPr>
                        <a:defRPr sz="1200" b="1">
                          <a:solidFill>
                            <a:srgbClr val="FFFFFF"/>
                          </a:solidFill>
                        </a:defRPr>
                      </a:pPr>
                      <a:r>
                        <a:t>Development Milestone</a:t>
                      </a:r>
                    </a:p>
                  </a:txBody>
                  <a:tcPr>
                    <a:solidFill>
                      <a:srgbClr val="0F172A"/>
                    </a:solidFill>
                  </a:tcPr>
                </a:tc>
                <a:tc>
                  <a:txBody>
                    <a:bodyPr/>
                    <a:lstStyle/>
                    <a:p>
                      <a:pPr>
                        <a:defRPr sz="1200" b="1">
                          <a:solidFill>
                            <a:srgbClr val="FFFFFF"/>
                          </a:solidFill>
                        </a:defRPr>
                      </a:pPr>
                      <a:r>
                        <a:t>Execution Cycles (10 Tokens)</a:t>
                      </a:r>
                    </a:p>
                  </a:txBody>
                  <a:tcPr>
                    <a:solidFill>
                      <a:srgbClr val="0F172A"/>
                    </a:solidFill>
                  </a:tcPr>
                </a:tc>
                <a:tc>
                  <a:txBody>
                    <a:bodyPr/>
                    <a:lstStyle/>
                    <a:p>
                      <a:pPr>
                        <a:defRPr sz="1200" b="1">
                          <a:solidFill>
                            <a:srgbClr val="FFFFFF"/>
                          </a:solidFill>
                        </a:defRPr>
                      </a:pPr>
                      <a:r>
                        <a:t>Cycle Reduction</a:t>
                      </a:r>
                    </a:p>
                  </a:txBody>
                  <a:tcPr>
                    <a:solidFill>
                      <a:srgbClr val="0F172A"/>
                    </a:solidFill>
                  </a:tcPr>
                </a:tc>
                <a:tc>
                  <a:txBody>
                    <a:bodyPr/>
                    <a:lstStyle/>
                    <a:p>
                      <a:pPr>
                        <a:defRPr sz="1200" b="1">
                          <a:solidFill>
                            <a:srgbClr val="FFFFFF"/>
                          </a:solidFill>
                        </a:defRPr>
                      </a:pPr>
                      <a:r>
                        <a:t>Pipeline Interlocks</a:t>
                      </a:r>
                    </a:p>
                  </a:txBody>
                  <a:tcPr>
                    <a:solidFill>
                      <a:srgbClr val="0F172A"/>
                    </a:solidFill>
                  </a:tcPr>
                </a:tc>
                <a:tc>
                  <a:txBody>
                    <a:bodyPr/>
                    <a:lstStyle/>
                    <a:p>
                      <a:pPr>
                        <a:defRPr sz="1200" b="1">
                          <a:solidFill>
                            <a:srgbClr val="FFFFFF"/>
                          </a:solidFill>
                        </a:defRPr>
                      </a:pPr>
                      <a:r>
                        <a:t>Interlock %</a:t>
                      </a:r>
                    </a:p>
                  </a:txBody>
                  <a:tcPr>
                    <a:solidFill>
                      <a:srgbClr val="0F172A"/>
                    </a:solidFill>
                  </a:tcPr>
                </a:tc>
                <a:extLst>
                  <a:ext uri="{0D108BD9-81ED-4DB2-BD59-A6C34878D82A}">
                    <a16:rowId xmlns:a16="http://schemas.microsoft.com/office/drawing/2014/main" val="10000"/>
                  </a:ext>
                </a:extLst>
              </a:tr>
              <a:tr h="731520">
                <a:tc>
                  <a:txBody>
                    <a:bodyPr/>
                    <a:lstStyle/>
                    <a:p>
                      <a:pPr>
                        <a:defRPr sz="1200" b="1">
                          <a:solidFill>
                            <a:srgbClr val="0F172A"/>
                          </a:solidFill>
                        </a:defRPr>
                      </a:pPr>
                      <a:r>
                        <a:t>Milestone 1: Unoptimized Baseline (-O0 Debug)</a:t>
                      </a:r>
                    </a:p>
                  </a:txBody>
                  <a:tcPr>
                    <a:solidFill>
                      <a:srgbClr val="FFFFFF"/>
                    </a:solidFill>
                  </a:tcPr>
                </a:tc>
                <a:tc>
                  <a:txBody>
                    <a:bodyPr/>
                    <a:lstStyle/>
                    <a:p>
                      <a:pPr>
                        <a:defRPr sz="1200">
                          <a:solidFill>
                            <a:srgbClr val="111827"/>
                          </a:solidFill>
                        </a:defRPr>
                      </a:pPr>
                      <a:r>
                        <a:t>3,864,120,490</a:t>
                      </a:r>
                    </a:p>
                  </a:txBody>
                  <a:tcPr>
                    <a:solidFill>
                      <a:srgbClr val="FFFFFF"/>
                    </a:solidFill>
                  </a:tcPr>
                </a:tc>
                <a:tc>
                  <a:txBody>
                    <a:bodyPr/>
                    <a:lstStyle/>
                    <a:p>
                      <a:pPr>
                        <a:defRPr sz="1200">
                          <a:solidFill>
                            <a:srgbClr val="111827"/>
                          </a:solidFill>
                        </a:defRPr>
                      </a:pPr>
                      <a:r>
                        <a:t>Baseline</a:t>
                      </a:r>
                    </a:p>
                  </a:txBody>
                  <a:tcPr>
                    <a:solidFill>
                      <a:srgbClr val="FFFFFF"/>
                    </a:solidFill>
                  </a:tcPr>
                </a:tc>
                <a:tc>
                  <a:txBody>
                    <a:bodyPr/>
                    <a:lstStyle/>
                    <a:p>
                      <a:pPr>
                        <a:defRPr sz="1200">
                          <a:solidFill>
                            <a:srgbClr val="111827"/>
                          </a:solidFill>
                        </a:defRPr>
                      </a:pPr>
                      <a:r>
                        <a:t>682,410,920</a:t>
                      </a:r>
                    </a:p>
                  </a:txBody>
                  <a:tcPr>
                    <a:solidFill>
                      <a:srgbClr val="FFFFFF"/>
                    </a:solidFill>
                  </a:tcPr>
                </a:tc>
                <a:tc>
                  <a:txBody>
                    <a:bodyPr/>
                    <a:lstStyle/>
                    <a:p>
                      <a:pPr>
                        <a:defRPr sz="1200">
                          <a:solidFill>
                            <a:srgbClr val="111827"/>
                          </a:solidFill>
                        </a:defRPr>
                      </a:pPr>
                      <a:r>
                        <a:t>17.66%</a:t>
                      </a:r>
                    </a:p>
                  </a:txBody>
                  <a:tcPr>
                    <a:solidFill>
                      <a:srgbClr val="FFFFFF"/>
                    </a:solidFill>
                  </a:tcPr>
                </a:tc>
                <a:extLst>
                  <a:ext uri="{0D108BD9-81ED-4DB2-BD59-A6C34878D82A}">
                    <a16:rowId xmlns:a16="http://schemas.microsoft.com/office/drawing/2014/main" val="10001"/>
                  </a:ext>
                </a:extLst>
              </a:tr>
              <a:tr h="731520">
                <a:tc>
                  <a:txBody>
                    <a:bodyPr/>
                    <a:lstStyle/>
                    <a:p>
                      <a:pPr>
                        <a:defRPr sz="1200" b="1">
                          <a:solidFill>
                            <a:srgbClr val="0F172A"/>
                          </a:solidFill>
                        </a:defRPr>
                      </a:pPr>
                      <a:r>
                        <a:t>Milestone 2: Release Mode + TIE (-O2 Release)</a:t>
                      </a:r>
                    </a:p>
                  </a:txBody>
                  <a:tcPr>
                    <a:solidFill>
                      <a:srgbClr val="EFF6FF"/>
                    </a:solidFill>
                  </a:tcPr>
                </a:tc>
                <a:tc>
                  <a:txBody>
                    <a:bodyPr/>
                    <a:lstStyle/>
                    <a:p>
                      <a:pPr>
                        <a:defRPr sz="1200">
                          <a:solidFill>
                            <a:srgbClr val="111827"/>
                          </a:solidFill>
                        </a:defRPr>
                      </a:pPr>
                      <a:r>
                        <a:t>2,071,496,895</a:t>
                      </a:r>
                    </a:p>
                  </a:txBody>
                  <a:tcPr>
                    <a:solidFill>
                      <a:srgbClr val="EFF6FF"/>
                    </a:solidFill>
                  </a:tcPr>
                </a:tc>
                <a:tc>
                  <a:txBody>
                    <a:bodyPr/>
                    <a:lstStyle/>
                    <a:p>
                      <a:pPr>
                        <a:defRPr sz="1200">
                          <a:solidFill>
                            <a:srgbClr val="111827"/>
                          </a:solidFill>
                        </a:defRPr>
                      </a:pPr>
                      <a:r>
                        <a:t>-46.39%</a:t>
                      </a:r>
                    </a:p>
                  </a:txBody>
                  <a:tcPr>
                    <a:solidFill>
                      <a:srgbClr val="EFF6FF"/>
                    </a:solidFill>
                  </a:tcPr>
                </a:tc>
                <a:tc>
                  <a:txBody>
                    <a:bodyPr/>
                    <a:lstStyle/>
                    <a:p>
                      <a:pPr>
                        <a:defRPr sz="1200">
                          <a:solidFill>
                            <a:srgbClr val="111827"/>
                          </a:solidFill>
                        </a:defRPr>
                      </a:pPr>
                      <a:r>
                        <a:t>94,711,935</a:t>
                      </a:r>
                    </a:p>
                  </a:txBody>
                  <a:tcPr>
                    <a:solidFill>
                      <a:srgbClr val="EFF6FF"/>
                    </a:solidFill>
                  </a:tcPr>
                </a:tc>
                <a:tc>
                  <a:txBody>
                    <a:bodyPr/>
                    <a:lstStyle/>
                    <a:p>
                      <a:pPr>
                        <a:defRPr sz="1200">
                          <a:solidFill>
                            <a:srgbClr val="111827"/>
                          </a:solidFill>
                        </a:defRPr>
                      </a:pPr>
                      <a:r>
                        <a:t>4.57%</a:t>
                      </a:r>
                    </a:p>
                  </a:txBody>
                  <a:tcPr>
                    <a:solidFill>
                      <a:srgbClr val="EFF6FF"/>
                    </a:solidFill>
                  </a:tcPr>
                </a:tc>
                <a:extLst>
                  <a:ext uri="{0D108BD9-81ED-4DB2-BD59-A6C34878D82A}">
                    <a16:rowId xmlns:a16="http://schemas.microsoft.com/office/drawing/2014/main" val="10002"/>
                  </a:ext>
                </a:extLst>
              </a:tr>
              <a:tr h="731520">
                <a:tc>
                  <a:txBody>
                    <a:bodyPr/>
                    <a:lstStyle/>
                    <a:p>
                      <a:pPr>
                        <a:defRPr sz="1200" b="1">
                          <a:solidFill>
                            <a:srgbClr val="0F172A"/>
                          </a:solidFill>
                        </a:defRPr>
                      </a:pPr>
                      <a:r>
                        <a:t>Milestone 3: Final System (RoPE LUT + Matmul Fix)</a:t>
                      </a:r>
                    </a:p>
                  </a:txBody>
                  <a:tcPr>
                    <a:solidFill>
                      <a:srgbClr val="FFFFFF"/>
                    </a:solidFill>
                  </a:tcPr>
                </a:tc>
                <a:tc>
                  <a:txBody>
                    <a:bodyPr/>
                    <a:lstStyle/>
                    <a:p>
                      <a:pPr>
                        <a:defRPr sz="1200">
                          <a:solidFill>
                            <a:srgbClr val="111827"/>
                          </a:solidFill>
                        </a:defRPr>
                      </a:pPr>
                      <a:r>
                        <a:t>1,960,205,887</a:t>
                      </a:r>
                    </a:p>
                  </a:txBody>
                  <a:tcPr>
                    <a:solidFill>
                      <a:srgbClr val="FFFFFF"/>
                    </a:solidFill>
                  </a:tcPr>
                </a:tc>
                <a:tc>
                  <a:txBody>
                    <a:bodyPr/>
                    <a:lstStyle/>
                    <a:p>
                      <a:pPr>
                        <a:defRPr sz="1200">
                          <a:solidFill>
                            <a:srgbClr val="111827"/>
                          </a:solidFill>
                        </a:defRPr>
                      </a:pPr>
                      <a:r>
                        <a:t>-49.27% Total</a:t>
                      </a:r>
                    </a:p>
                  </a:txBody>
                  <a:tcPr>
                    <a:solidFill>
                      <a:srgbClr val="FFFFFF"/>
                    </a:solidFill>
                  </a:tcPr>
                </a:tc>
                <a:tc>
                  <a:txBody>
                    <a:bodyPr/>
                    <a:lstStyle/>
                    <a:p>
                      <a:pPr>
                        <a:defRPr sz="1200">
                          <a:solidFill>
                            <a:srgbClr val="111827"/>
                          </a:solidFill>
                        </a:defRPr>
                      </a:pPr>
                      <a:r>
                        <a:t>56,415,944</a:t>
                      </a:r>
                    </a:p>
                  </a:txBody>
                  <a:tcPr>
                    <a:solidFill>
                      <a:srgbClr val="FFFFFF"/>
                    </a:solidFill>
                  </a:tcPr>
                </a:tc>
                <a:tc>
                  <a:txBody>
                    <a:bodyPr/>
                    <a:lstStyle/>
                    <a:p>
                      <a:pPr>
                        <a:defRPr sz="1200">
                          <a:solidFill>
                            <a:srgbClr val="111827"/>
                          </a:solidFill>
                        </a:defRPr>
                      </a:pPr>
                      <a:r>
                        <a:t>2.88%</a:t>
                      </a:r>
                    </a:p>
                  </a:txBody>
                  <a:tcPr>
                    <a:solidFill>
                      <a:srgbClr val="FFFFFF"/>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548640" y="4663440"/>
            <a:ext cx="11094415" cy="16459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600"/>
              </a:spcAft>
              <a:defRPr sz="1200" b="1">
                <a:solidFill>
                  <a:srgbClr val="2563EB"/>
                </a:solidFill>
                <a:latin typeface="Calibri"/>
              </a:defRPr>
            </a:pPr>
            <a:r>
              <a:t>KEY PERFORMANCE TAKEAWAYS</a:t>
            </a:r>
          </a:p>
          <a:p>
            <a:pPr>
              <a:defRPr sz="1300">
                <a:solidFill>
                  <a:srgbClr val="FFFFFF"/>
                </a:solidFill>
                <a:latin typeface="Calibri"/>
              </a:defRPr>
            </a:pPr>
            <a:r>
              <a:t>• 49.27% Total Cycle Cut: Reduced runtime from 3.864B down to 1.960B cycles per 10 tokens (~196M cycles/token).</a:t>
            </a:r>
            <a:br/>
            <a:r>
              <a:t>• 40.4% Interlock Stall Reduction: Division elimination cut pipeline interlock stalls from 94.7M down to 56.4M cycles.</a:t>
            </a:r>
            <a:br/>
            <a:r>
              <a:t>• Projected Throughput @ 1.0 GHz: ~5.10 tokens/second on integer-only silicon lacking a hardware FPU.</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418320" cy="822960"/>
          </a:xfrm>
          <a:prstGeom prst="rect">
            <a:avLst/>
          </a:prstGeom>
          <a:noFill/>
        </p:spPr>
        <p:txBody>
          <a:bodyPr wrap="square" lIns="0" tIns="0" rIns="0" bIns="0">
            <a:spAutoFit/>
          </a:bodyPr>
          <a:lstStyle/>
          <a:p>
            <a:pPr>
              <a:spcAft>
                <a:spcPts val="200"/>
              </a:spcAft>
              <a:defRPr sz="1000" b="1">
                <a:solidFill>
                  <a:srgbClr val="2563EB"/>
                </a:solidFill>
                <a:latin typeface="Calibri"/>
              </a:defRPr>
            </a:pPr>
            <a:r>
              <a:t>10. EXPERIMENTAL RESULTS</a:t>
            </a:r>
          </a:p>
          <a:p>
            <a:pPr>
              <a:defRPr sz="2200" b="1">
                <a:solidFill>
                  <a:srgbClr val="0F172A"/>
                </a:solidFill>
                <a:latin typeface="Georgia"/>
              </a:defRPr>
            </a:pPr>
            <a:r>
              <a:t>Profiling Breakdown: Soft-Float Reduction &amp; FPU-Less Ceiling</a:t>
            </a:r>
          </a:p>
        </p:txBody>
      </p:sp>
      <p:sp>
        <p:nvSpPr>
          <p:cNvPr id="3" name="Rounded Rectangle 2"/>
          <p:cNvSpPr/>
          <p:nvPr/>
        </p:nvSpPr>
        <p:spPr>
          <a:xfrm>
            <a:off x="10180015" y="365760"/>
            <a:ext cx="146304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t>PROJECT 304</a:t>
            </a:r>
          </a:p>
        </p:txBody>
      </p:sp>
      <p:sp>
        <p:nvSpPr>
          <p:cNvPr id="4" name="Rectangle 3"/>
          <p:cNvSpPr/>
          <p:nvPr/>
        </p:nvSpPr>
        <p:spPr>
          <a:xfrm>
            <a:off x="548640" y="1234440"/>
            <a:ext cx="1109441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48640" y="1463040"/>
          <a:ext cx="11094415" cy="48463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5150815">
                  <a:extLst>
                    <a:ext uri="{9D8B030D-6E8A-4147-A177-3AD203B41FA5}">
                      <a16:colId xmlns:a16="http://schemas.microsoft.com/office/drawing/2014/main" val="20003"/>
                    </a:ext>
                  </a:extLst>
                </a:gridCol>
              </a:tblGrid>
              <a:tr h="692331">
                <a:tc>
                  <a:txBody>
                    <a:bodyPr/>
                    <a:lstStyle/>
                    <a:p>
                      <a:pPr>
                        <a:defRPr sz="1200" b="1">
                          <a:solidFill>
                            <a:srgbClr val="FFFFFF"/>
                          </a:solidFill>
                        </a:defRPr>
                      </a:pPr>
                      <a:r>
                        <a:t>Function Name</a:t>
                      </a:r>
                    </a:p>
                  </a:txBody>
                  <a:tcPr>
                    <a:solidFill>
                      <a:srgbClr val="0F172A"/>
                    </a:solidFill>
                  </a:tcPr>
                </a:tc>
                <a:tc>
                  <a:txBody>
                    <a:bodyPr/>
                    <a:lstStyle/>
                    <a:p>
                      <a:pPr>
                        <a:defRPr sz="1200" b="1">
                          <a:solidFill>
                            <a:srgbClr val="FFFFFF"/>
                          </a:solidFill>
                        </a:defRPr>
                      </a:pPr>
                      <a:r>
                        <a:t>Execution Cycles</a:t>
                      </a:r>
                    </a:p>
                  </a:txBody>
                  <a:tcPr>
                    <a:solidFill>
                      <a:srgbClr val="0F172A"/>
                    </a:solidFill>
                  </a:tcPr>
                </a:tc>
                <a:tc>
                  <a:txBody>
                    <a:bodyPr/>
                    <a:lstStyle/>
                    <a:p>
                      <a:pPr>
                        <a:defRPr sz="1200" b="1">
                          <a:solidFill>
                            <a:srgbClr val="FFFFFF"/>
                          </a:solidFill>
                        </a:defRPr>
                      </a:pPr>
                      <a:r>
                        <a:t>Cycle %</a:t>
                      </a:r>
                    </a:p>
                  </a:txBody>
                  <a:tcPr>
                    <a:solidFill>
                      <a:srgbClr val="0F172A"/>
                    </a:solidFill>
                  </a:tcPr>
                </a:tc>
                <a:tc>
                  <a:txBody>
                    <a:bodyPr/>
                    <a:lstStyle/>
                    <a:p>
                      <a:pPr>
                        <a:defRPr sz="1200" b="1">
                          <a:solidFill>
                            <a:srgbClr val="FFFFFF"/>
                          </a:solidFill>
                        </a:defRPr>
                      </a:pPr>
                      <a:r>
                        <a:t>Description / Architectural Bottleneck</a:t>
                      </a:r>
                    </a:p>
                  </a:txBody>
                  <a:tcPr>
                    <a:solidFill>
                      <a:srgbClr val="0F172A"/>
                    </a:solidFill>
                  </a:tcPr>
                </a:tc>
                <a:extLst>
                  <a:ext uri="{0D108BD9-81ED-4DB2-BD59-A6C34878D82A}">
                    <a16:rowId xmlns:a16="http://schemas.microsoft.com/office/drawing/2014/main" val="10000"/>
                  </a:ext>
                </a:extLst>
              </a:tr>
              <a:tr h="692331">
                <a:tc>
                  <a:txBody>
                    <a:bodyPr/>
                    <a:lstStyle/>
                    <a:p>
                      <a:pPr>
                        <a:defRPr sz="1100" b="1">
                          <a:solidFill>
                            <a:srgbClr val="0F172A"/>
                          </a:solidFill>
                        </a:defRPr>
                      </a:pPr>
                      <a:r>
                        <a:t>matmul</a:t>
                      </a:r>
                    </a:p>
                  </a:txBody>
                  <a:tcPr>
                    <a:solidFill>
                      <a:srgbClr val="FFFFFF"/>
                    </a:solidFill>
                  </a:tcPr>
                </a:tc>
                <a:tc>
                  <a:txBody>
                    <a:bodyPr/>
                    <a:lstStyle/>
                    <a:p>
                      <a:pPr>
                        <a:defRPr sz="1100">
                          <a:solidFill>
                            <a:srgbClr val="111827"/>
                          </a:solidFill>
                        </a:defRPr>
                      </a:pPr>
                      <a:r>
                        <a:t>488,306,540</a:t>
                      </a:r>
                    </a:p>
                  </a:txBody>
                  <a:tcPr>
                    <a:solidFill>
                      <a:srgbClr val="FFFFFF"/>
                    </a:solidFill>
                  </a:tcPr>
                </a:tc>
                <a:tc>
                  <a:txBody>
                    <a:bodyPr/>
                    <a:lstStyle/>
                    <a:p>
                      <a:pPr>
                        <a:defRPr sz="1100">
                          <a:solidFill>
                            <a:srgbClr val="111827"/>
                          </a:solidFill>
                        </a:defRPr>
                      </a:pPr>
                      <a:r>
                        <a:t>24.91%</a:t>
                      </a:r>
                    </a:p>
                  </a:txBody>
                  <a:tcPr>
                    <a:solidFill>
                      <a:srgbClr val="FFFFFF"/>
                    </a:solidFill>
                  </a:tcPr>
                </a:tc>
                <a:tc>
                  <a:txBody>
                    <a:bodyPr/>
                    <a:lstStyle/>
                    <a:p>
                      <a:pPr>
                        <a:defRPr sz="1100">
                          <a:solidFill>
                            <a:srgbClr val="111827"/>
                          </a:solidFill>
                        </a:defRPr>
                      </a:pPr>
                      <a:r>
                        <a:t>Quantized linear projection core (SDOT4 accelerated)</a:t>
                      </a:r>
                    </a:p>
                  </a:txBody>
                  <a:tcPr>
                    <a:solidFill>
                      <a:srgbClr val="FFFFFF"/>
                    </a:solidFill>
                  </a:tcPr>
                </a:tc>
                <a:extLst>
                  <a:ext uri="{0D108BD9-81ED-4DB2-BD59-A6C34878D82A}">
                    <a16:rowId xmlns:a16="http://schemas.microsoft.com/office/drawing/2014/main" val="10001"/>
                  </a:ext>
                </a:extLst>
              </a:tr>
              <a:tr h="692331">
                <a:tc>
                  <a:txBody>
                    <a:bodyPr/>
                    <a:lstStyle/>
                    <a:p>
                      <a:pPr>
                        <a:defRPr sz="1100" b="1">
                          <a:solidFill>
                            <a:srgbClr val="0F172A"/>
                          </a:solidFill>
                        </a:defRPr>
                      </a:pPr>
                      <a:r>
                        <a:t>__mulsf3</a:t>
                      </a:r>
                    </a:p>
                  </a:txBody>
                  <a:tcPr>
                    <a:solidFill>
                      <a:srgbClr val="EFF6FF"/>
                    </a:solidFill>
                  </a:tcPr>
                </a:tc>
                <a:tc>
                  <a:txBody>
                    <a:bodyPr/>
                    <a:lstStyle/>
                    <a:p>
                      <a:pPr>
                        <a:defRPr sz="1100">
                          <a:solidFill>
                            <a:srgbClr val="111827"/>
                          </a:solidFill>
                        </a:defRPr>
                      </a:pPr>
                      <a:r>
                        <a:t>457,440,761</a:t>
                      </a:r>
                    </a:p>
                  </a:txBody>
                  <a:tcPr>
                    <a:solidFill>
                      <a:srgbClr val="EFF6FF"/>
                    </a:solidFill>
                  </a:tcPr>
                </a:tc>
                <a:tc>
                  <a:txBody>
                    <a:bodyPr/>
                    <a:lstStyle/>
                    <a:p>
                      <a:pPr>
                        <a:defRPr sz="1100">
                          <a:solidFill>
                            <a:srgbClr val="111827"/>
                          </a:solidFill>
                        </a:defRPr>
                      </a:pPr>
                      <a:r>
                        <a:t>23.33%</a:t>
                      </a:r>
                    </a:p>
                  </a:txBody>
                  <a:tcPr>
                    <a:solidFill>
                      <a:srgbClr val="EFF6FF"/>
                    </a:solidFill>
                  </a:tcPr>
                </a:tc>
                <a:tc>
                  <a:txBody>
                    <a:bodyPr/>
                    <a:lstStyle/>
                    <a:p>
                      <a:pPr>
                        <a:defRPr sz="1100">
                          <a:solidFill>
                            <a:srgbClr val="111827"/>
                          </a:solidFill>
                        </a:defRPr>
                      </a:pPr>
                      <a:r>
                        <a:t>Soft-float multiplication runtime (dequant rescale loops)</a:t>
                      </a:r>
                    </a:p>
                  </a:txBody>
                  <a:tcPr>
                    <a:solidFill>
                      <a:srgbClr val="EFF6FF"/>
                    </a:solidFill>
                  </a:tcPr>
                </a:tc>
                <a:extLst>
                  <a:ext uri="{0D108BD9-81ED-4DB2-BD59-A6C34878D82A}">
                    <a16:rowId xmlns:a16="http://schemas.microsoft.com/office/drawing/2014/main" val="10002"/>
                  </a:ext>
                </a:extLst>
              </a:tr>
              <a:tr h="692331">
                <a:tc>
                  <a:txBody>
                    <a:bodyPr/>
                    <a:lstStyle/>
                    <a:p>
                      <a:pPr>
                        <a:defRPr sz="1100" b="1">
                          <a:solidFill>
                            <a:srgbClr val="0F172A"/>
                          </a:solidFill>
                        </a:defRPr>
                      </a:pPr>
                      <a:r>
                        <a:t>__muldf3</a:t>
                      </a:r>
                    </a:p>
                  </a:txBody>
                  <a:tcPr>
                    <a:solidFill>
                      <a:srgbClr val="FFFFFF"/>
                    </a:solidFill>
                  </a:tcPr>
                </a:tc>
                <a:tc>
                  <a:txBody>
                    <a:bodyPr/>
                    <a:lstStyle/>
                    <a:p>
                      <a:pPr>
                        <a:defRPr sz="1100">
                          <a:solidFill>
                            <a:srgbClr val="111827"/>
                          </a:solidFill>
                        </a:defRPr>
                      </a:pPr>
                      <a:r>
                        <a:t>149,033,061</a:t>
                      </a:r>
                    </a:p>
                  </a:txBody>
                  <a:tcPr>
                    <a:solidFill>
                      <a:srgbClr val="FFFFFF"/>
                    </a:solidFill>
                  </a:tcPr>
                </a:tc>
                <a:tc>
                  <a:txBody>
                    <a:bodyPr/>
                    <a:lstStyle/>
                    <a:p>
                      <a:pPr>
                        <a:defRPr sz="1100">
                          <a:solidFill>
                            <a:srgbClr val="111827"/>
                          </a:solidFill>
                        </a:defRPr>
                      </a:pPr>
                      <a:r>
                        <a:t>7.60%</a:t>
                      </a:r>
                    </a:p>
                  </a:txBody>
                  <a:tcPr>
                    <a:solidFill>
                      <a:srgbClr val="FFFFFF"/>
                    </a:solidFill>
                  </a:tcPr>
                </a:tc>
                <a:tc>
                  <a:txBody>
                    <a:bodyPr/>
                    <a:lstStyle/>
                    <a:p>
                      <a:pPr>
                        <a:defRPr sz="1100">
                          <a:solidFill>
                            <a:srgbClr val="111827"/>
                          </a:solidFill>
                        </a:defRPr>
                      </a:pPr>
                      <a:r>
                        <a:t>Soft-double multiplication runtime (caused by double literals)</a:t>
                      </a:r>
                    </a:p>
                  </a:txBody>
                  <a:tcPr>
                    <a:solidFill>
                      <a:srgbClr val="FFFFFF"/>
                    </a:solidFill>
                  </a:tcPr>
                </a:tc>
                <a:extLst>
                  <a:ext uri="{0D108BD9-81ED-4DB2-BD59-A6C34878D82A}">
                    <a16:rowId xmlns:a16="http://schemas.microsoft.com/office/drawing/2014/main" val="10003"/>
                  </a:ext>
                </a:extLst>
              </a:tr>
              <a:tr h="692331">
                <a:tc>
                  <a:txBody>
                    <a:bodyPr/>
                    <a:lstStyle/>
                    <a:p>
                      <a:pPr>
                        <a:defRPr sz="1100" b="1">
                          <a:solidFill>
                            <a:srgbClr val="0F172A"/>
                          </a:solidFill>
                        </a:defRPr>
                      </a:pPr>
                      <a:r>
                        <a:t>tq_quant</a:t>
                      </a:r>
                    </a:p>
                  </a:txBody>
                  <a:tcPr>
                    <a:solidFill>
                      <a:srgbClr val="EFF6FF"/>
                    </a:solidFill>
                  </a:tcPr>
                </a:tc>
                <a:tc>
                  <a:txBody>
                    <a:bodyPr/>
                    <a:lstStyle/>
                    <a:p>
                      <a:pPr>
                        <a:defRPr sz="1100">
                          <a:solidFill>
                            <a:srgbClr val="111827"/>
                          </a:solidFill>
                        </a:defRPr>
                      </a:pPr>
                      <a:r>
                        <a:t>70,972,751 (self)</a:t>
                      </a:r>
                    </a:p>
                  </a:txBody>
                  <a:tcPr>
                    <a:solidFill>
                      <a:srgbClr val="EFF6FF"/>
                    </a:solidFill>
                  </a:tcPr>
                </a:tc>
                <a:tc>
                  <a:txBody>
                    <a:bodyPr/>
                    <a:lstStyle/>
                    <a:p>
                      <a:pPr>
                        <a:defRPr sz="1100">
                          <a:solidFill>
                            <a:srgbClr val="111827"/>
                          </a:solidFill>
                        </a:defRPr>
                      </a:pPr>
                      <a:r>
                        <a:t>3.62%</a:t>
                      </a:r>
                    </a:p>
                  </a:txBody>
                  <a:tcPr>
                    <a:solidFill>
                      <a:srgbClr val="EFF6FF"/>
                    </a:solidFill>
                  </a:tcPr>
                </a:tc>
                <a:tc>
                  <a:txBody>
                    <a:bodyPr/>
                    <a:lstStyle/>
                    <a:p>
                      <a:pPr>
                        <a:defRPr sz="1100">
                          <a:solidFill>
                            <a:srgbClr val="111827"/>
                          </a:solidFill>
                        </a:defRPr>
                      </a:pPr>
                      <a:r>
                        <a:t>Online TurboQuant KV quantization (405M cumulative cycles)</a:t>
                      </a:r>
                    </a:p>
                  </a:txBody>
                  <a:tcPr>
                    <a:solidFill>
                      <a:srgbClr val="EFF6FF"/>
                    </a:solidFill>
                  </a:tcPr>
                </a:tc>
                <a:extLst>
                  <a:ext uri="{0D108BD9-81ED-4DB2-BD59-A6C34878D82A}">
                    <a16:rowId xmlns:a16="http://schemas.microsoft.com/office/drawing/2014/main" val="10004"/>
                  </a:ext>
                </a:extLst>
              </a:tr>
              <a:tr h="692331">
                <a:tc>
                  <a:txBody>
                    <a:bodyPr/>
                    <a:lstStyle/>
                    <a:p>
                      <a:pPr>
                        <a:defRPr sz="1100" b="1">
                          <a:solidFill>
                            <a:srgbClr val="0F172A"/>
                          </a:solidFill>
                        </a:defRPr>
                      </a:pPr>
                      <a:r>
                        <a:t>__addsf3 / __floatsisf</a:t>
                      </a:r>
                    </a:p>
                  </a:txBody>
                  <a:tcPr>
                    <a:solidFill>
                      <a:srgbClr val="FFFFFF"/>
                    </a:solidFill>
                  </a:tcPr>
                </a:tc>
                <a:tc>
                  <a:txBody>
                    <a:bodyPr/>
                    <a:lstStyle/>
                    <a:p>
                      <a:pPr>
                        <a:defRPr sz="1100">
                          <a:solidFill>
                            <a:srgbClr val="111827"/>
                          </a:solidFill>
                        </a:defRPr>
                      </a:pPr>
                      <a:r>
                        <a:t>234,918,495</a:t>
                      </a:r>
                    </a:p>
                  </a:txBody>
                  <a:tcPr>
                    <a:solidFill>
                      <a:srgbClr val="FFFFFF"/>
                    </a:solidFill>
                  </a:tcPr>
                </a:tc>
                <a:tc>
                  <a:txBody>
                    <a:bodyPr/>
                    <a:lstStyle/>
                    <a:p>
                      <a:pPr>
                        <a:defRPr sz="1100">
                          <a:solidFill>
                            <a:srgbClr val="111827"/>
                          </a:solidFill>
                        </a:defRPr>
                      </a:pPr>
                      <a:r>
                        <a:t>11.98%</a:t>
                      </a:r>
                    </a:p>
                  </a:txBody>
                  <a:tcPr>
                    <a:solidFill>
                      <a:srgbClr val="FFFFFF"/>
                    </a:solidFill>
                  </a:tcPr>
                </a:tc>
                <a:tc>
                  <a:txBody>
                    <a:bodyPr/>
                    <a:lstStyle/>
                    <a:p>
                      <a:pPr>
                        <a:defRPr sz="1100">
                          <a:solidFill>
                            <a:srgbClr val="111827"/>
                          </a:solidFill>
                        </a:defRPr>
                      </a:pPr>
                      <a:r>
                        <a:t>Soft-float addition &amp; integer-to-float conversion runtime</a:t>
                      </a:r>
                    </a:p>
                  </a:txBody>
                  <a:tcPr>
                    <a:solidFill>
                      <a:srgbClr val="FFFFFF"/>
                    </a:solidFill>
                  </a:tcPr>
                </a:tc>
                <a:extLst>
                  <a:ext uri="{0D108BD9-81ED-4DB2-BD59-A6C34878D82A}">
                    <a16:rowId xmlns:a16="http://schemas.microsoft.com/office/drawing/2014/main" val="10005"/>
                  </a:ext>
                </a:extLst>
              </a:tr>
              <a:tr h="692334">
                <a:tc>
                  <a:txBody>
                    <a:bodyPr/>
                    <a:lstStyle/>
                    <a:p>
                      <a:pPr>
                        <a:defRPr sz="1100" b="1">
                          <a:solidFill>
                            <a:srgbClr val="0F172A"/>
                          </a:solidFill>
                        </a:defRPr>
                      </a:pPr>
                      <a:r>
                        <a:t>powf / cosf / sinf</a:t>
                      </a:r>
                    </a:p>
                  </a:txBody>
                  <a:tcPr>
                    <a:solidFill>
                      <a:srgbClr val="EFF6FF"/>
                    </a:solidFill>
                  </a:tcPr>
                </a:tc>
                <a:tc>
                  <a:txBody>
                    <a:bodyPr/>
                    <a:lstStyle/>
                    <a:p>
                      <a:pPr>
                        <a:defRPr sz="1100">
                          <a:solidFill>
                            <a:srgbClr val="111827"/>
                          </a:solidFill>
                        </a:defRPr>
                      </a:pPr>
                      <a:r>
                        <a:t>1,359,465</a:t>
                      </a:r>
                    </a:p>
                  </a:txBody>
                  <a:tcPr>
                    <a:solidFill>
                      <a:srgbClr val="EFF6FF"/>
                    </a:solidFill>
                  </a:tcPr>
                </a:tc>
                <a:tc>
                  <a:txBody>
                    <a:bodyPr/>
                    <a:lstStyle/>
                    <a:p>
                      <a:pPr>
                        <a:defRPr sz="1100">
                          <a:solidFill>
                            <a:srgbClr val="111827"/>
                          </a:solidFill>
                        </a:defRPr>
                      </a:pPr>
                      <a:r>
                        <a:t>0.06%</a:t>
                      </a:r>
                    </a:p>
                  </a:txBody>
                  <a:tcPr>
                    <a:solidFill>
                      <a:srgbClr val="EFF6FF"/>
                    </a:solidFill>
                  </a:tcPr>
                </a:tc>
                <a:tc>
                  <a:txBody>
                    <a:bodyPr/>
                    <a:lstStyle/>
                    <a:p>
                      <a:pPr>
                        <a:defRPr sz="1100">
                          <a:solidFill>
                            <a:srgbClr val="111827"/>
                          </a:solidFill>
                        </a:defRPr>
                      </a:pPr>
                      <a:r>
                        <a:t>ELIMINATED from runtime pass via RoPE precomputation LUT!</a:t>
                      </a:r>
                    </a:p>
                  </a:txBody>
                  <a:tcPr>
                    <a:solidFill>
                      <a:srgbClr val="EFF6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418320" cy="822960"/>
          </a:xfrm>
          <a:prstGeom prst="rect">
            <a:avLst/>
          </a:prstGeom>
          <a:noFill/>
        </p:spPr>
        <p:txBody>
          <a:bodyPr wrap="square" lIns="0" tIns="0" rIns="0" bIns="0">
            <a:spAutoFit/>
          </a:bodyPr>
          <a:lstStyle/>
          <a:p>
            <a:pPr>
              <a:spcAft>
                <a:spcPts val="200"/>
              </a:spcAft>
              <a:defRPr sz="1000" b="1">
                <a:solidFill>
                  <a:srgbClr val="2563EB"/>
                </a:solidFill>
                <a:latin typeface="Calibri"/>
              </a:defRPr>
            </a:pPr>
            <a:r>
              <a:t>11. SCALING ANALYSIS</a:t>
            </a:r>
          </a:p>
          <a:p>
            <a:pPr>
              <a:defRPr sz="2200" b="1">
                <a:solidFill>
                  <a:srgbClr val="0F172A"/>
                </a:solidFill>
                <a:latin typeface="Georgia"/>
              </a:defRPr>
            </a:pPr>
            <a:r>
              <a:t>Scaling Analysis: Feasibility of LiteLlama-460M &amp; TinyLlama-1.1B</a:t>
            </a:r>
          </a:p>
        </p:txBody>
      </p:sp>
      <p:sp>
        <p:nvSpPr>
          <p:cNvPr id="3" name="Rounded Rectangle 2"/>
          <p:cNvSpPr/>
          <p:nvPr/>
        </p:nvSpPr>
        <p:spPr>
          <a:xfrm>
            <a:off x="10180015" y="365760"/>
            <a:ext cx="146304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t>PROJECT 304</a:t>
            </a:r>
          </a:p>
        </p:txBody>
      </p:sp>
      <p:sp>
        <p:nvSpPr>
          <p:cNvPr id="4" name="Rectangle 3"/>
          <p:cNvSpPr/>
          <p:nvPr/>
        </p:nvSpPr>
        <p:spPr>
          <a:xfrm>
            <a:off x="548640" y="1234440"/>
            <a:ext cx="1109441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48640" y="1463040"/>
          <a:ext cx="11094415" cy="484632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864815">
                  <a:extLst>
                    <a:ext uri="{9D8B030D-6E8A-4147-A177-3AD203B41FA5}">
                      <a16:colId xmlns:a16="http://schemas.microsoft.com/office/drawing/2014/main" val="20003"/>
                    </a:ext>
                  </a:extLst>
                </a:gridCol>
              </a:tblGrid>
              <a:tr h="807720">
                <a:tc>
                  <a:txBody>
                    <a:bodyPr/>
                    <a:lstStyle/>
                    <a:p>
                      <a:pPr>
                        <a:defRPr sz="1200" b="1">
                          <a:solidFill>
                            <a:srgbClr val="FFFFFF"/>
                          </a:solidFill>
                        </a:defRPr>
                      </a:pPr>
                      <a:r>
                        <a:t>Architectural Metric</a:t>
                      </a:r>
                    </a:p>
                  </a:txBody>
                  <a:tcPr>
                    <a:solidFill>
                      <a:srgbClr val="0F172A"/>
                    </a:solidFill>
                  </a:tcPr>
                </a:tc>
                <a:tc>
                  <a:txBody>
                    <a:bodyPr/>
                    <a:lstStyle/>
                    <a:p>
                      <a:pPr>
                        <a:defRPr sz="1200" b="1">
                          <a:solidFill>
                            <a:srgbClr val="FFFFFF"/>
                          </a:solidFill>
                        </a:defRPr>
                      </a:pPr>
                      <a:r>
                        <a:t>TinyStories-15M (Tested)</a:t>
                      </a:r>
                    </a:p>
                  </a:txBody>
                  <a:tcPr>
                    <a:solidFill>
                      <a:srgbClr val="0F172A"/>
                    </a:solidFill>
                  </a:tcPr>
                </a:tc>
                <a:tc>
                  <a:txBody>
                    <a:bodyPr/>
                    <a:lstStyle/>
                    <a:p>
                      <a:pPr>
                        <a:defRPr sz="1200" b="1">
                          <a:solidFill>
                            <a:srgbClr val="FFFFFF"/>
                          </a:solidFill>
                        </a:defRPr>
                      </a:pPr>
                      <a:r>
                        <a:rPr dirty="0"/>
                        <a:t>LiteLlama-460M-1T</a:t>
                      </a:r>
                    </a:p>
                  </a:txBody>
                  <a:tcPr>
                    <a:solidFill>
                      <a:srgbClr val="0F172A"/>
                    </a:solidFill>
                  </a:tcPr>
                </a:tc>
                <a:tc>
                  <a:txBody>
                    <a:bodyPr/>
                    <a:lstStyle/>
                    <a:p>
                      <a:pPr>
                        <a:defRPr sz="1200" b="1">
                          <a:solidFill>
                            <a:srgbClr val="FFFFFF"/>
                          </a:solidFill>
                        </a:defRPr>
                      </a:pPr>
                      <a:r>
                        <a:t>TinyLlama-1.1B-Chat</a:t>
                      </a:r>
                    </a:p>
                  </a:txBody>
                  <a:tcPr>
                    <a:solidFill>
                      <a:srgbClr val="0F172A"/>
                    </a:solidFill>
                  </a:tcPr>
                </a:tc>
                <a:extLst>
                  <a:ext uri="{0D108BD9-81ED-4DB2-BD59-A6C34878D82A}">
                    <a16:rowId xmlns:a16="http://schemas.microsoft.com/office/drawing/2014/main" val="10000"/>
                  </a:ext>
                </a:extLst>
              </a:tr>
              <a:tr h="807720">
                <a:tc>
                  <a:txBody>
                    <a:bodyPr/>
                    <a:lstStyle/>
                    <a:p>
                      <a:pPr>
                        <a:defRPr sz="1100" b="1">
                          <a:solidFill>
                            <a:srgbClr val="0F172A"/>
                          </a:solidFill>
                        </a:defRPr>
                      </a:pPr>
                      <a:r>
                        <a:t>Parameter Count / Layers</a:t>
                      </a:r>
                    </a:p>
                  </a:txBody>
                  <a:tcPr>
                    <a:solidFill>
                      <a:srgbClr val="FFFFFF"/>
                    </a:solidFill>
                  </a:tcPr>
                </a:tc>
                <a:tc>
                  <a:txBody>
                    <a:bodyPr/>
                    <a:lstStyle/>
                    <a:p>
                      <a:pPr>
                        <a:defRPr sz="1100">
                          <a:solidFill>
                            <a:srgbClr val="111827"/>
                          </a:solidFill>
                        </a:defRPr>
                      </a:pPr>
                      <a:r>
                        <a:t>15M Parameters / 6 Layers</a:t>
                      </a:r>
                    </a:p>
                  </a:txBody>
                  <a:tcPr>
                    <a:solidFill>
                      <a:srgbClr val="FFFFFF"/>
                    </a:solidFill>
                  </a:tcPr>
                </a:tc>
                <a:tc>
                  <a:txBody>
                    <a:bodyPr/>
                    <a:lstStyle/>
                    <a:p>
                      <a:pPr>
                        <a:defRPr sz="1100">
                          <a:solidFill>
                            <a:srgbClr val="111827"/>
                          </a:solidFill>
                        </a:defRPr>
                      </a:pPr>
                      <a:r>
                        <a:t>460M Parameters / 24 Layers</a:t>
                      </a:r>
                    </a:p>
                  </a:txBody>
                  <a:tcPr>
                    <a:solidFill>
                      <a:srgbClr val="FFFFFF"/>
                    </a:solidFill>
                  </a:tcPr>
                </a:tc>
                <a:tc>
                  <a:txBody>
                    <a:bodyPr/>
                    <a:lstStyle/>
                    <a:p>
                      <a:pPr>
                        <a:defRPr sz="1100">
                          <a:solidFill>
                            <a:srgbClr val="111827"/>
                          </a:solidFill>
                        </a:defRPr>
                      </a:pPr>
                      <a:r>
                        <a:t>1.10B Parameters / 22 Layers</a:t>
                      </a:r>
                    </a:p>
                  </a:txBody>
                  <a:tcPr>
                    <a:solidFill>
                      <a:srgbClr val="FFFFFF"/>
                    </a:solidFill>
                  </a:tcPr>
                </a:tc>
                <a:extLst>
                  <a:ext uri="{0D108BD9-81ED-4DB2-BD59-A6C34878D82A}">
                    <a16:rowId xmlns:a16="http://schemas.microsoft.com/office/drawing/2014/main" val="10001"/>
                  </a:ext>
                </a:extLst>
              </a:tr>
              <a:tr h="807720">
                <a:tc>
                  <a:txBody>
                    <a:bodyPr/>
                    <a:lstStyle/>
                    <a:p>
                      <a:pPr>
                        <a:defRPr sz="1100" b="1">
                          <a:solidFill>
                            <a:srgbClr val="0F172A"/>
                          </a:solidFill>
                        </a:defRPr>
                      </a:pPr>
                      <a:r>
                        <a:t>Embedding / Head Dim (D)</a:t>
                      </a:r>
                    </a:p>
                  </a:txBody>
                  <a:tcPr>
                    <a:solidFill>
                      <a:srgbClr val="EFF6FF"/>
                    </a:solidFill>
                  </a:tcPr>
                </a:tc>
                <a:tc>
                  <a:txBody>
                    <a:bodyPr/>
                    <a:lstStyle/>
                    <a:p>
                      <a:pPr>
                        <a:defRPr sz="1100">
                          <a:solidFill>
                            <a:srgbClr val="111827"/>
                          </a:solidFill>
                        </a:defRPr>
                      </a:pPr>
                      <a:r>
                        <a:t>dim=288 / D=48</a:t>
                      </a:r>
                    </a:p>
                  </a:txBody>
                  <a:tcPr>
                    <a:solidFill>
                      <a:srgbClr val="EFF6FF"/>
                    </a:solidFill>
                  </a:tcPr>
                </a:tc>
                <a:tc>
                  <a:txBody>
                    <a:bodyPr/>
                    <a:lstStyle/>
                    <a:p>
                      <a:pPr>
                        <a:defRPr sz="1100">
                          <a:solidFill>
                            <a:srgbClr val="111827"/>
                          </a:solidFill>
                        </a:defRPr>
                      </a:pPr>
                      <a:r>
                        <a:t>dim=1024 / D=64</a:t>
                      </a:r>
                    </a:p>
                  </a:txBody>
                  <a:tcPr>
                    <a:solidFill>
                      <a:srgbClr val="EFF6FF"/>
                    </a:solidFill>
                  </a:tcPr>
                </a:tc>
                <a:tc>
                  <a:txBody>
                    <a:bodyPr/>
                    <a:lstStyle/>
                    <a:p>
                      <a:pPr>
                        <a:defRPr sz="1100">
                          <a:solidFill>
                            <a:srgbClr val="111827"/>
                          </a:solidFill>
                        </a:defRPr>
                      </a:pPr>
                      <a:r>
                        <a:t>dim=2048 / D=64</a:t>
                      </a:r>
                    </a:p>
                  </a:txBody>
                  <a:tcPr>
                    <a:solidFill>
                      <a:srgbClr val="EFF6FF"/>
                    </a:solidFill>
                  </a:tcPr>
                </a:tc>
                <a:extLst>
                  <a:ext uri="{0D108BD9-81ED-4DB2-BD59-A6C34878D82A}">
                    <a16:rowId xmlns:a16="http://schemas.microsoft.com/office/drawing/2014/main" val="10002"/>
                  </a:ext>
                </a:extLst>
              </a:tr>
              <a:tr h="807720">
                <a:tc>
                  <a:txBody>
                    <a:bodyPr/>
                    <a:lstStyle/>
                    <a:p>
                      <a:pPr>
                        <a:defRPr sz="1100" b="1">
                          <a:solidFill>
                            <a:srgbClr val="0F172A"/>
                          </a:solidFill>
                        </a:defRPr>
                      </a:pPr>
                      <a:r>
                        <a:t>Q8_0 Checkpoint Size</a:t>
                      </a:r>
                    </a:p>
                  </a:txBody>
                  <a:tcPr>
                    <a:solidFill>
                      <a:srgbClr val="FFFFFF"/>
                    </a:solidFill>
                  </a:tcPr>
                </a:tc>
                <a:tc>
                  <a:txBody>
                    <a:bodyPr/>
                    <a:lstStyle/>
                    <a:p>
                      <a:pPr>
                        <a:defRPr sz="1100">
                          <a:solidFill>
                            <a:srgbClr val="111827"/>
                          </a:solidFill>
                        </a:defRPr>
                      </a:pPr>
                      <a:r>
                        <a:t>15.9 MB</a:t>
                      </a:r>
                    </a:p>
                  </a:txBody>
                  <a:tcPr>
                    <a:solidFill>
                      <a:srgbClr val="FFFFFF"/>
                    </a:solidFill>
                  </a:tcPr>
                </a:tc>
                <a:tc>
                  <a:txBody>
                    <a:bodyPr/>
                    <a:lstStyle/>
                    <a:p>
                      <a:pPr>
                        <a:defRPr sz="1100">
                          <a:solidFill>
                            <a:srgbClr val="111827"/>
                          </a:solidFill>
                        </a:defRPr>
                      </a:pPr>
                      <a:r>
                        <a:t>488 MB</a:t>
                      </a:r>
                    </a:p>
                  </a:txBody>
                  <a:tcPr>
                    <a:solidFill>
                      <a:srgbClr val="FFFFFF"/>
                    </a:solidFill>
                  </a:tcPr>
                </a:tc>
                <a:tc>
                  <a:txBody>
                    <a:bodyPr/>
                    <a:lstStyle/>
                    <a:p>
                      <a:pPr>
                        <a:defRPr sz="1100">
                          <a:solidFill>
                            <a:srgbClr val="111827"/>
                          </a:solidFill>
                        </a:defRPr>
                      </a:pPr>
                      <a:r>
                        <a:t>1,120 MB (1.12 GB)</a:t>
                      </a:r>
                    </a:p>
                  </a:txBody>
                  <a:tcPr>
                    <a:solidFill>
                      <a:srgbClr val="FFFFFF"/>
                    </a:solidFill>
                  </a:tcPr>
                </a:tc>
                <a:extLst>
                  <a:ext uri="{0D108BD9-81ED-4DB2-BD59-A6C34878D82A}">
                    <a16:rowId xmlns:a16="http://schemas.microsoft.com/office/drawing/2014/main" val="10003"/>
                  </a:ext>
                </a:extLst>
              </a:tr>
              <a:tr h="807720">
                <a:tc>
                  <a:txBody>
                    <a:bodyPr/>
                    <a:lstStyle/>
                    <a:p>
                      <a:pPr>
                        <a:defRPr sz="1100" b="1">
                          <a:solidFill>
                            <a:srgbClr val="0F172A"/>
                          </a:solidFill>
                        </a:defRPr>
                      </a:pPr>
                      <a:r>
                        <a:t>512 MB System RAM Status</a:t>
                      </a:r>
                    </a:p>
                  </a:txBody>
                  <a:tcPr>
                    <a:solidFill>
                      <a:srgbClr val="EFF6FF"/>
                    </a:solidFill>
                  </a:tcPr>
                </a:tc>
                <a:tc>
                  <a:txBody>
                    <a:bodyPr/>
                    <a:lstStyle/>
                    <a:p>
                      <a:pPr>
                        <a:defRPr sz="1100">
                          <a:solidFill>
                            <a:srgbClr val="111827"/>
                          </a:solidFill>
                        </a:defRPr>
                      </a:pPr>
                      <a:r>
                        <a:t>PASS (Safe Room)</a:t>
                      </a:r>
                    </a:p>
                  </a:txBody>
                  <a:tcPr>
                    <a:solidFill>
                      <a:srgbClr val="EFF6FF"/>
                    </a:solidFill>
                  </a:tcPr>
                </a:tc>
                <a:tc>
                  <a:txBody>
                    <a:bodyPr/>
                    <a:lstStyle/>
                    <a:p>
                      <a:pPr>
                        <a:defRPr sz="1100">
                          <a:solidFill>
                            <a:srgbClr val="111827"/>
                          </a:solidFill>
                        </a:defRPr>
                      </a:pPr>
                      <a:r>
                        <a:t>CRITICAL (Boundary - 24MB free)</a:t>
                      </a:r>
                    </a:p>
                  </a:txBody>
                  <a:tcPr>
                    <a:solidFill>
                      <a:srgbClr val="EFF6FF"/>
                    </a:solidFill>
                  </a:tcPr>
                </a:tc>
                <a:tc>
                  <a:txBody>
                    <a:bodyPr/>
                    <a:lstStyle/>
                    <a:p>
                      <a:pPr>
                        <a:defRPr sz="1100">
                          <a:solidFill>
                            <a:srgbClr val="111827"/>
                          </a:solidFill>
                        </a:defRPr>
                      </a:pPr>
                      <a:r>
                        <a:t>FAIL (Hard Out-of-Memory)</a:t>
                      </a:r>
                    </a:p>
                  </a:txBody>
                  <a:tcPr>
                    <a:solidFill>
                      <a:srgbClr val="EFF6FF"/>
                    </a:solidFill>
                  </a:tcPr>
                </a:tc>
                <a:extLst>
                  <a:ext uri="{0D108BD9-81ED-4DB2-BD59-A6C34878D82A}">
                    <a16:rowId xmlns:a16="http://schemas.microsoft.com/office/drawing/2014/main" val="10004"/>
                  </a:ext>
                </a:extLst>
              </a:tr>
              <a:tr h="807720">
                <a:tc>
                  <a:txBody>
                    <a:bodyPr/>
                    <a:lstStyle/>
                    <a:p>
                      <a:pPr>
                        <a:defRPr sz="1100" b="1">
                          <a:solidFill>
                            <a:srgbClr val="0F172A"/>
                          </a:solidFill>
                        </a:defRPr>
                      </a:pPr>
                      <a:r>
                        <a:t>TIE TQ_VACC Reg File (32)</a:t>
                      </a:r>
                    </a:p>
                  </a:txBody>
                  <a:tcPr>
                    <a:solidFill>
                      <a:srgbClr val="FFFFFF"/>
                    </a:solidFill>
                  </a:tcPr>
                </a:tc>
                <a:tc>
                  <a:txBody>
                    <a:bodyPr/>
                    <a:lstStyle/>
                    <a:p>
                      <a:pPr>
                        <a:defRPr sz="1100">
                          <a:solidFill>
                            <a:srgbClr val="111827"/>
                          </a:solidFill>
                        </a:defRPr>
                      </a:pPr>
                      <a:r>
                        <a:t>PASS (24/32 regs used)</a:t>
                      </a:r>
                    </a:p>
                  </a:txBody>
                  <a:tcPr>
                    <a:solidFill>
                      <a:srgbClr val="FFFFFF"/>
                    </a:solidFill>
                  </a:tcPr>
                </a:tc>
                <a:tc>
                  <a:txBody>
                    <a:bodyPr/>
                    <a:lstStyle/>
                    <a:p>
                      <a:pPr>
                        <a:defRPr sz="1100">
                          <a:solidFill>
                            <a:srgbClr val="111827"/>
                          </a:solidFill>
                        </a:defRPr>
                      </a:pPr>
                      <a:r>
                        <a:t>EXHAUSTION (32/32 used)</a:t>
                      </a:r>
                    </a:p>
                  </a:txBody>
                  <a:tcPr>
                    <a:solidFill>
                      <a:srgbClr val="FFFFFF"/>
                    </a:solidFill>
                  </a:tcPr>
                </a:tc>
                <a:tc>
                  <a:txBody>
                    <a:bodyPr/>
                    <a:lstStyle/>
                    <a:p>
                      <a:pPr>
                        <a:defRPr sz="1100">
                          <a:solidFill>
                            <a:srgbClr val="111827"/>
                          </a:solidFill>
                        </a:defRPr>
                      </a:pPr>
                      <a:r>
                        <a:rPr dirty="0"/>
                        <a:t>EXHAUSTION (32/32 used)</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418320" cy="822960"/>
          </a:xfrm>
          <a:prstGeom prst="rect">
            <a:avLst/>
          </a:prstGeom>
          <a:noFill/>
        </p:spPr>
        <p:txBody>
          <a:bodyPr wrap="square" lIns="0" tIns="0" rIns="0" bIns="0">
            <a:spAutoFit/>
          </a:bodyPr>
          <a:lstStyle/>
          <a:p>
            <a:pPr>
              <a:spcAft>
                <a:spcPts val="200"/>
              </a:spcAft>
              <a:defRPr sz="1000" b="1">
                <a:solidFill>
                  <a:srgbClr val="2563EB"/>
                </a:solidFill>
                <a:latin typeface="Calibri"/>
              </a:defRPr>
            </a:pPr>
            <a:r>
              <a:t>12. EVALUATION &amp; COMPARISON</a:t>
            </a:r>
          </a:p>
          <a:p>
            <a:pPr>
              <a:defRPr sz="2200" b="1">
                <a:solidFill>
                  <a:srgbClr val="0F172A"/>
                </a:solidFill>
                <a:latin typeface="Georgia"/>
              </a:defRPr>
            </a:pPr>
            <a:r>
              <a:t>Planning vs. Execution Matrix &amp; Comparative Analysis</a:t>
            </a:r>
          </a:p>
        </p:txBody>
      </p:sp>
      <p:sp>
        <p:nvSpPr>
          <p:cNvPr id="3" name="Rounded Rectangle 2"/>
          <p:cNvSpPr/>
          <p:nvPr/>
        </p:nvSpPr>
        <p:spPr>
          <a:xfrm>
            <a:off x="10180015" y="365760"/>
            <a:ext cx="146304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t>PROJECT 304</a:t>
            </a:r>
          </a:p>
        </p:txBody>
      </p:sp>
      <p:sp>
        <p:nvSpPr>
          <p:cNvPr id="4" name="Rectangle 3"/>
          <p:cNvSpPr/>
          <p:nvPr/>
        </p:nvSpPr>
        <p:spPr>
          <a:xfrm>
            <a:off x="548640" y="1234440"/>
            <a:ext cx="1109441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463040"/>
            <a:ext cx="5303520"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600" b="1">
                <a:solidFill>
                  <a:srgbClr val="0F172A"/>
                </a:solidFill>
                <a:latin typeface="Georgia"/>
              </a:defRPr>
            </a:pPr>
            <a:r>
              <a:t>Planning vs. Execution Matrix</a:t>
            </a:r>
          </a:p>
          <a:p>
            <a:pPr>
              <a:spcBef>
                <a:spcPts val="400"/>
              </a:spcBef>
              <a:defRPr sz="1100" b="1">
                <a:solidFill>
                  <a:srgbClr val="2563EB"/>
                </a:solidFill>
              </a:defRPr>
            </a:pPr>
            <a:r>
              <a:t>•  Hardware Scope: </a:t>
            </a:r>
            <a:r>
              <a:rPr b="0">
                <a:solidFill>
                  <a:srgbClr val="111827"/>
                </a:solidFill>
              </a:rPr>
              <a:t>Microsemi FPGA RTL → Cadence Xtensa ASIP Co-Design (ACHIEVED / EVOLVED)</a:t>
            </a:r>
          </a:p>
          <a:p>
            <a:pPr>
              <a:spcBef>
                <a:spcPts val="400"/>
              </a:spcBef>
              <a:defRPr sz="1100" b="1">
                <a:solidFill>
                  <a:srgbClr val="2563EB"/>
                </a:solidFill>
              </a:defRPr>
            </a:pPr>
            <a:r>
              <a:t>•  KV Compression Target: </a:t>
            </a:r>
            <a:r>
              <a:rPr b="0">
                <a:solidFill>
                  <a:srgbClr val="111827"/>
                </a:solidFill>
              </a:rPr>
              <a:t>&gt;= 5.0x → Verified 6.00x KV memory capacity reduction (384 B/token) (EXCEEDED)</a:t>
            </a:r>
          </a:p>
          <a:p>
            <a:pPr>
              <a:spcBef>
                <a:spcPts val="400"/>
              </a:spcBef>
              <a:defRPr sz="1100" b="1">
                <a:solidFill>
                  <a:srgbClr val="2563EB"/>
                </a:solidFill>
              </a:defRPr>
            </a:pPr>
            <a:r>
              <a:t>•  Soft-Float Removal: </a:t>
            </a:r>
            <a:r>
              <a:rPr b="0">
                <a:solidFill>
                  <a:srgbClr val="111827"/>
                </a:solidFill>
              </a:rPr>
              <a:t>Transcendentals eliminated; basic float ops reduced to 42.9% (PARTIAL / FPU CEILING)</a:t>
            </a:r>
          </a:p>
          <a:p>
            <a:pPr>
              <a:spcBef>
                <a:spcPts val="400"/>
              </a:spcBef>
              <a:defRPr sz="1100" b="1">
                <a:solidFill>
                  <a:srgbClr val="2563EB"/>
                </a:solidFill>
              </a:defRPr>
            </a:pPr>
            <a:r>
              <a:t>•  Speed Target: </a:t>
            </a:r>
            <a:r>
              <a:rPr b="0">
                <a:solidFill>
                  <a:srgbClr val="111827"/>
                </a:solidFill>
              </a:rPr>
              <a:t>&gt; 2.0 tok/s → Achieved projected ~5.10 tok/s @ 1.0 GHz (EXCEEDED)</a:t>
            </a:r>
          </a:p>
        </p:txBody>
      </p:sp>
      <p:sp>
        <p:nvSpPr>
          <p:cNvPr id="6" name="Rounded Rectangle 5"/>
          <p:cNvSpPr/>
          <p:nvPr/>
        </p:nvSpPr>
        <p:spPr>
          <a:xfrm>
            <a:off x="6309360" y="1463040"/>
            <a:ext cx="5303520" cy="484632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600" b="1">
                <a:solidFill>
                  <a:srgbClr val="0F172A"/>
                </a:solidFill>
                <a:latin typeface="Georgia"/>
              </a:defRPr>
            </a:pPr>
            <a:r>
              <a:rPr dirty="0"/>
              <a:t>Comparative Evaluation with Literature</a:t>
            </a:r>
          </a:p>
          <a:p>
            <a:pPr>
              <a:spcBef>
                <a:spcPts val="400"/>
              </a:spcBef>
              <a:defRPr sz="1100" b="1">
                <a:solidFill>
                  <a:srgbClr val="0F172A"/>
                </a:solidFill>
              </a:defRPr>
            </a:pPr>
            <a:r>
              <a:rPr dirty="0"/>
              <a:t>•  Uncompressed FP32 Baseline: </a:t>
            </a:r>
            <a:r>
              <a:rPr b="0" dirty="0">
                <a:solidFill>
                  <a:srgbClr val="111827"/>
                </a:solidFill>
              </a:rPr>
              <a:t>2,304 Bytes / token | 3.38 MB per 256 tokens | Baseline</a:t>
            </a:r>
          </a:p>
          <a:p>
            <a:pPr>
              <a:spcBef>
                <a:spcPts val="400"/>
              </a:spcBef>
              <a:defRPr sz="1100" b="1">
                <a:solidFill>
                  <a:srgbClr val="0F172A"/>
                </a:solidFill>
              </a:defRPr>
            </a:pPr>
            <a:r>
              <a:rPr dirty="0"/>
              <a:t>•  </a:t>
            </a:r>
            <a:r>
              <a:rPr dirty="0" err="1"/>
              <a:t>SmoothQuant</a:t>
            </a:r>
            <a:r>
              <a:rPr dirty="0"/>
              <a:t> (Xiao et al. 2023): </a:t>
            </a:r>
            <a:r>
              <a:rPr b="0" dirty="0">
                <a:solidFill>
                  <a:srgbClr val="111827"/>
                </a:solidFill>
              </a:rPr>
              <a:t>INT8 KV Precision | 768 Bytes / token | 3.00x Memory Savings</a:t>
            </a:r>
          </a:p>
          <a:p>
            <a:pPr>
              <a:spcBef>
                <a:spcPts val="400"/>
              </a:spcBef>
              <a:defRPr sz="1100" b="1">
                <a:solidFill>
                  <a:srgbClr val="0F172A"/>
                </a:solidFill>
              </a:defRPr>
            </a:pPr>
            <a:r>
              <a:rPr dirty="0"/>
              <a:t>•  KIVI / KV-Quant (Sheng et al. 2024): </a:t>
            </a:r>
            <a:r>
              <a:rPr b="0" dirty="0">
                <a:solidFill>
                  <a:srgbClr val="111827"/>
                </a:solidFill>
              </a:rPr>
              <a:t>4-Bit Per-Channel Quantization | ~400 Bytes / token | Requires Hardware FPU</a:t>
            </a:r>
          </a:p>
          <a:p>
            <a:pPr>
              <a:spcBef>
                <a:spcPts val="400"/>
              </a:spcBef>
              <a:defRPr sz="1100" b="1">
                <a:solidFill>
                  <a:srgbClr val="0F172A"/>
                </a:solidFill>
              </a:defRPr>
            </a:pPr>
            <a:r>
              <a:rPr dirty="0"/>
              <a:t>•  </a:t>
            </a:r>
            <a:r>
              <a:rPr dirty="0" err="1"/>
              <a:t>TurboQuant</a:t>
            </a:r>
            <a:r>
              <a:rPr dirty="0"/>
              <a:t> Xtensa (This Work): </a:t>
            </a:r>
            <a:r>
              <a:rPr b="0" dirty="0">
                <a:solidFill>
                  <a:srgbClr val="111827"/>
                </a:solidFill>
              </a:rPr>
              <a:t>4-Bit </a:t>
            </a:r>
            <a:r>
              <a:rPr b="0" dirty="0" err="1">
                <a:solidFill>
                  <a:srgbClr val="111827"/>
                </a:solidFill>
              </a:rPr>
              <a:t>TurboQuant</a:t>
            </a:r>
            <a:r>
              <a:rPr b="0" dirty="0">
                <a:solidFill>
                  <a:srgbClr val="111827"/>
                </a:solidFill>
              </a:rPr>
              <a:t>-PROD | 384 Bytes / token | 6.00x Capacity Reduction on FPU-less Integer Silicon via 256 gates of TIE logic</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418320" cy="822960"/>
          </a:xfrm>
          <a:prstGeom prst="rect">
            <a:avLst/>
          </a:prstGeom>
          <a:noFill/>
        </p:spPr>
        <p:txBody>
          <a:bodyPr wrap="square" lIns="0" tIns="0" rIns="0" bIns="0">
            <a:spAutoFit/>
          </a:bodyPr>
          <a:lstStyle/>
          <a:p>
            <a:pPr>
              <a:spcAft>
                <a:spcPts val="200"/>
              </a:spcAft>
              <a:defRPr sz="1000" b="1">
                <a:solidFill>
                  <a:srgbClr val="2563EB"/>
                </a:solidFill>
                <a:latin typeface="Calibri"/>
              </a:defRPr>
            </a:pPr>
            <a:r>
              <a:t>13. CONCLUSION</a:t>
            </a:r>
          </a:p>
          <a:p>
            <a:pPr>
              <a:defRPr sz="2200" b="1">
                <a:solidFill>
                  <a:srgbClr val="0F172A"/>
                </a:solidFill>
                <a:latin typeface="Georgia"/>
              </a:defRPr>
            </a:pPr>
            <a:r>
              <a:t>Conclusion &amp; Core Engineering Contributions</a:t>
            </a:r>
          </a:p>
        </p:txBody>
      </p:sp>
      <p:sp>
        <p:nvSpPr>
          <p:cNvPr id="3" name="Rounded Rectangle 2"/>
          <p:cNvSpPr/>
          <p:nvPr/>
        </p:nvSpPr>
        <p:spPr>
          <a:xfrm>
            <a:off x="10180015" y="365760"/>
            <a:ext cx="1463040" cy="4114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100" b="1">
                <a:solidFill>
                  <a:srgbClr val="FFFFFF"/>
                </a:solidFill>
                <a:latin typeface="Calibri"/>
              </a:defRPr>
            </a:pPr>
            <a:r>
              <a:t>PROJECT 304</a:t>
            </a:r>
          </a:p>
        </p:txBody>
      </p:sp>
      <p:sp>
        <p:nvSpPr>
          <p:cNvPr id="4" name="Rectangle 3"/>
          <p:cNvSpPr/>
          <p:nvPr/>
        </p:nvSpPr>
        <p:spPr>
          <a:xfrm>
            <a:off x="548640" y="1234440"/>
            <a:ext cx="1109441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463040"/>
            <a:ext cx="11094415" cy="48463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wrap="square" lIns="365760" tIns="365760" rIns="365760" bIns="365760" rtlCol="0" anchor="ctr"/>
          <a:lstStyle/>
          <a:p>
            <a:pPr algn="ctr">
              <a:spcAft>
                <a:spcPts val="1000"/>
              </a:spcAft>
              <a:defRPr sz="1200" b="1">
                <a:solidFill>
                  <a:srgbClr val="2563EB"/>
                </a:solidFill>
                <a:latin typeface="Calibri"/>
              </a:defRPr>
            </a:pPr>
            <a:r>
              <a:t>SUMMARY OF PROJECT 304 DELIVERABLES</a:t>
            </a:r>
          </a:p>
          <a:p>
            <a:pPr>
              <a:spcBef>
                <a:spcPts val="800"/>
              </a:spcBef>
              <a:defRPr sz="1400" b="1">
                <a:solidFill>
                  <a:srgbClr val="38BDF8"/>
                </a:solidFill>
              </a:defRPr>
            </a:pPr>
            <a:r>
              <a:t>✔  Verified 6.00x KV Memory Compression: </a:t>
            </a:r>
            <a:r>
              <a:rPr b="0">
                <a:solidFill>
                  <a:srgbClr val="F8FAFC"/>
                </a:solidFill>
              </a:rPr>
              <a:t>Compressed dynamic KV-cache from 3.38 MB down to 0.56 MB (384 B/token) using Google's TurboQuant algorithm in a bare-metal llama2.c engine.</a:t>
            </a:r>
          </a:p>
          <a:p>
            <a:pPr>
              <a:spcBef>
                <a:spcPts val="800"/>
              </a:spcBef>
              <a:defRPr sz="1400" b="1">
                <a:solidFill>
                  <a:srgbClr val="38BDF8"/>
                </a:solidFill>
              </a:defRPr>
            </a:pPr>
            <a:r>
              <a:t>✔  Custom Silicon TIE Extensions: </a:t>
            </a:r>
            <a:r>
              <a:rPr b="0">
                <a:solidFill>
                  <a:srgbClr val="F8FAFC"/>
                </a:solidFill>
              </a:rPr>
              <a:t>Synthesized 6 custom TIE hardware modules directly into the Xtensa CPU datapath, executing single-cycle centroid ROM lookups, dual MACs, and SIMD accumulators.</a:t>
            </a:r>
          </a:p>
          <a:p>
            <a:pPr>
              <a:spcBef>
                <a:spcPts val="800"/>
              </a:spcBef>
              <a:defRPr sz="1400" b="1">
                <a:solidFill>
                  <a:srgbClr val="38BDF8"/>
                </a:solidFill>
              </a:defRPr>
            </a:pPr>
            <a:r>
              <a:t>✔  Algorithmic Soft-Float Reduction: </a:t>
            </a:r>
            <a:r>
              <a:rPr b="0">
                <a:solidFill>
                  <a:srgbClr val="F8FAFC"/>
                </a:solidFill>
              </a:rPr>
              <a:t>Factored Value path mathematics outside temporal summation, precomputed RoPE LUTs, eliminated &gt;300k hardware divisions, and enforced Q12 headroom scaling.</a:t>
            </a:r>
          </a:p>
          <a:p>
            <a:pPr>
              <a:spcBef>
                <a:spcPts val="800"/>
              </a:spcBef>
              <a:defRPr sz="1400" b="1">
                <a:solidFill>
                  <a:srgbClr val="38BDF8"/>
                </a:solidFill>
              </a:defRPr>
            </a:pPr>
            <a:r>
              <a:t>✔  Quantifiable Performance Impact: </a:t>
            </a:r>
            <a:r>
              <a:rPr b="0">
                <a:solidFill>
                  <a:srgbClr val="F8FAFC"/>
                </a:solidFill>
              </a:rPr>
              <a:t>Reduced execution cycles by 49.3% (3.86B -&gt; 1.96B cycles / 10 tokens) and cut pipeline interlocks by 40.4%, achieving a projected throughput of ~5.10 tokens/sec at 1.0 GHz on FPU-less integer silicon.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D56E651-8D57-66A4-5508-A2EB31A94A85}"/>
              </a:ext>
            </a:extLst>
          </p:cNvPr>
          <p:cNvPicPr>
            <a:picLocks noChangeAspect="1"/>
          </p:cNvPicPr>
          <p:nvPr/>
        </p:nvPicPr>
        <p:blipFill>
          <a:blip r:embed="rId2"/>
          <a:stretch>
            <a:fillRect/>
          </a:stretch>
        </p:blipFill>
        <p:spPr>
          <a:xfrm>
            <a:off x="367990" y="165254"/>
            <a:ext cx="5441795" cy="6374936"/>
          </a:xfrm>
          <a:prstGeom prst="rect">
            <a:avLst/>
          </a:prstGeom>
        </p:spPr>
      </p:pic>
      <p:pic>
        <p:nvPicPr>
          <p:cNvPr id="11" name="Picture 10">
            <a:extLst>
              <a:ext uri="{FF2B5EF4-FFF2-40B4-BE49-F238E27FC236}">
                <a16:creationId xmlns:a16="http://schemas.microsoft.com/office/drawing/2014/main" id="{A04BF767-A12A-A06C-7123-AF3B511C62C4}"/>
              </a:ext>
            </a:extLst>
          </p:cNvPr>
          <p:cNvPicPr>
            <a:picLocks noChangeAspect="1"/>
          </p:cNvPicPr>
          <p:nvPr/>
        </p:nvPicPr>
        <p:blipFill>
          <a:blip r:embed="rId3"/>
          <a:stretch>
            <a:fillRect/>
          </a:stretch>
        </p:blipFill>
        <p:spPr>
          <a:xfrm>
            <a:off x="5969609" y="165254"/>
            <a:ext cx="6035039" cy="6374936"/>
          </a:xfrm>
          <a:prstGeom prst="rect">
            <a:avLst/>
          </a:prstGeom>
        </p:spPr>
      </p:pic>
    </p:spTree>
    <p:extLst>
      <p:ext uri="{BB962C8B-B14F-4D97-AF65-F5344CB8AC3E}">
        <p14:creationId xmlns:p14="http://schemas.microsoft.com/office/powerpoint/2010/main" val="32858075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51298D9-9A38-0201-DAFE-DB26342A5616}"/>
              </a:ext>
            </a:extLst>
          </p:cNvPr>
          <p:cNvGraphicFramePr>
            <a:graphicFrameLocks noGrp="1"/>
          </p:cNvGraphicFramePr>
          <p:nvPr>
            <p:extLst>
              <p:ext uri="{D42A27DB-BD31-4B8C-83A1-F6EECF244321}">
                <p14:modId xmlns:p14="http://schemas.microsoft.com/office/powerpoint/2010/main" val="1460815805"/>
              </p:ext>
            </p:extLst>
          </p:nvPr>
        </p:nvGraphicFramePr>
        <p:xfrm>
          <a:off x="267629" y="289933"/>
          <a:ext cx="11273886" cy="6375744"/>
        </p:xfrm>
        <a:graphic>
          <a:graphicData uri="http://schemas.openxmlformats.org/drawingml/2006/table">
            <a:tbl>
              <a:tblPr>
                <a:tableStyleId>{5C22544A-7EE6-4342-B048-85BDC9FD1C3A}</a:tableStyleId>
              </a:tblPr>
              <a:tblGrid>
                <a:gridCol w="1878981">
                  <a:extLst>
                    <a:ext uri="{9D8B030D-6E8A-4147-A177-3AD203B41FA5}">
                      <a16:colId xmlns:a16="http://schemas.microsoft.com/office/drawing/2014/main" val="3958747782"/>
                    </a:ext>
                  </a:extLst>
                </a:gridCol>
                <a:gridCol w="1878981">
                  <a:extLst>
                    <a:ext uri="{9D8B030D-6E8A-4147-A177-3AD203B41FA5}">
                      <a16:colId xmlns:a16="http://schemas.microsoft.com/office/drawing/2014/main" val="2033570793"/>
                    </a:ext>
                  </a:extLst>
                </a:gridCol>
                <a:gridCol w="1878981">
                  <a:extLst>
                    <a:ext uri="{9D8B030D-6E8A-4147-A177-3AD203B41FA5}">
                      <a16:colId xmlns:a16="http://schemas.microsoft.com/office/drawing/2014/main" val="2111854115"/>
                    </a:ext>
                  </a:extLst>
                </a:gridCol>
                <a:gridCol w="1878981">
                  <a:extLst>
                    <a:ext uri="{9D8B030D-6E8A-4147-A177-3AD203B41FA5}">
                      <a16:colId xmlns:a16="http://schemas.microsoft.com/office/drawing/2014/main" val="33921378"/>
                    </a:ext>
                  </a:extLst>
                </a:gridCol>
                <a:gridCol w="1878981">
                  <a:extLst>
                    <a:ext uri="{9D8B030D-6E8A-4147-A177-3AD203B41FA5}">
                      <a16:colId xmlns:a16="http://schemas.microsoft.com/office/drawing/2014/main" val="1647562894"/>
                    </a:ext>
                  </a:extLst>
                </a:gridCol>
                <a:gridCol w="1878981">
                  <a:extLst>
                    <a:ext uri="{9D8B030D-6E8A-4147-A177-3AD203B41FA5}">
                      <a16:colId xmlns:a16="http://schemas.microsoft.com/office/drawing/2014/main" val="3889180733"/>
                    </a:ext>
                  </a:extLst>
                </a:gridCol>
              </a:tblGrid>
              <a:tr h="347395">
                <a:tc>
                  <a:txBody>
                    <a:bodyPr/>
                    <a:lstStyle/>
                    <a:p>
                      <a:pPr>
                        <a:buNone/>
                      </a:pPr>
                      <a:r>
                        <a:rPr lang="en-IL" sz="1400"/>
                        <a:t>Instruction</a:t>
                      </a:r>
                    </a:p>
                  </a:txBody>
                  <a:tcPr marL="26940" marR="26940" marT="13470" marB="13470" anchor="ctr"/>
                </a:tc>
                <a:tc>
                  <a:txBody>
                    <a:bodyPr/>
                    <a:lstStyle/>
                    <a:p>
                      <a:pPr>
                        <a:buNone/>
                      </a:pPr>
                      <a:r>
                        <a:rPr lang="en-IL" sz="1400"/>
                        <a:t>Source File</a:t>
                      </a:r>
                    </a:p>
                  </a:txBody>
                  <a:tcPr marL="26940" marR="26940" marT="13470" marB="13470" anchor="ctr"/>
                </a:tc>
                <a:tc>
                  <a:txBody>
                    <a:bodyPr/>
                    <a:lstStyle/>
                    <a:p>
                      <a:pPr>
                        <a:buNone/>
                      </a:pPr>
                      <a:r>
                        <a:rPr lang="en-IL" sz="1400"/>
                        <a:t>Structural Inputs</a:t>
                      </a:r>
                    </a:p>
                  </a:txBody>
                  <a:tcPr marL="26940" marR="26940" marT="13470" marB="13470" anchor="ctr"/>
                </a:tc>
                <a:tc>
                  <a:txBody>
                    <a:bodyPr/>
                    <a:lstStyle/>
                    <a:p>
                      <a:pPr>
                        <a:buNone/>
                      </a:pPr>
                      <a:r>
                        <a:rPr lang="en-IL" sz="1400"/>
                        <a:t>Outputs / Modified State</a:t>
                      </a:r>
                    </a:p>
                  </a:txBody>
                  <a:tcPr marL="26940" marR="26940" marT="13470" marB="13470" anchor="ctr"/>
                </a:tc>
                <a:tc>
                  <a:txBody>
                    <a:bodyPr/>
                    <a:lstStyle/>
                    <a:p>
                      <a:pPr>
                        <a:buNone/>
                      </a:pPr>
                      <a:r>
                        <a:rPr lang="en-IL" sz="1400"/>
                        <a:t>Targeted Bottleneck</a:t>
                      </a:r>
                    </a:p>
                  </a:txBody>
                  <a:tcPr marL="26940" marR="26940" marT="13470" marB="13470" anchor="ctr"/>
                </a:tc>
                <a:tc>
                  <a:txBody>
                    <a:bodyPr/>
                    <a:lstStyle/>
                    <a:p>
                      <a:pPr>
                        <a:buNone/>
                      </a:pPr>
                      <a:r>
                        <a:rPr lang="en-IL" sz="1400"/>
                        <a:t>Cycles Saved per Invocation</a:t>
                      </a:r>
                    </a:p>
                  </a:txBody>
                  <a:tcPr marL="26940" marR="26940" marT="13470" marB="13470" anchor="ctr"/>
                </a:tc>
                <a:extLst>
                  <a:ext uri="{0D108BD9-81ED-4DB2-BD59-A6C34878D82A}">
                    <a16:rowId xmlns:a16="http://schemas.microsoft.com/office/drawing/2014/main" val="2582312450"/>
                  </a:ext>
                </a:extLst>
              </a:tr>
              <a:tr h="451613">
                <a:tc>
                  <a:txBody>
                    <a:bodyPr/>
                    <a:lstStyle/>
                    <a:p>
                      <a:pPr>
                        <a:buNone/>
                      </a:pPr>
                      <a:r>
                        <a:rPr lang="en-IL" sz="1400"/>
                        <a:t>TQ_GET_CENT</a:t>
                      </a:r>
                    </a:p>
                  </a:txBody>
                  <a:tcPr marL="26940" marR="26940" marT="13470" marB="13470" anchor="ctr"/>
                </a:tc>
                <a:tc>
                  <a:txBody>
                    <a:bodyPr/>
                    <a:lstStyle/>
                    <a:p>
                      <a:pPr>
                        <a:buNone/>
                      </a:pPr>
                      <a:r>
                        <a:rPr lang="en-IL" sz="1400"/>
                        <a:t>tq_cent_table.tie</a:t>
                      </a:r>
                    </a:p>
                  </a:txBody>
                  <a:tcPr marL="26940" marR="26940" marT="13470" marB="13470" anchor="ctr"/>
                </a:tc>
                <a:tc>
                  <a:txBody>
                    <a:bodyPr/>
                    <a:lstStyle/>
                    <a:p>
                      <a:pPr>
                        <a:buNone/>
                      </a:pPr>
                      <a:r>
                        <a:rPr lang="en-IL" sz="1400"/>
                        <a:t>[2:0] index; [15:0] Q15 centroid</a:t>
                      </a:r>
                    </a:p>
                  </a:txBody>
                  <a:tcPr marL="26940" marR="26940" marT="13470" marB="13470" anchor="ctr"/>
                </a:tc>
                <a:tc>
                  <a:txBody>
                    <a:bodyPr/>
                    <a:lstStyle/>
                    <a:p>
                      <a:pPr>
                        <a:buNone/>
                      </a:pPr>
                      <a:r>
                        <a:rPr lang="en-IL" sz="1400"/>
                        <a:t>—</a:t>
                      </a:r>
                    </a:p>
                  </a:txBody>
                  <a:tcPr marL="26940" marR="26940" marT="13470" marB="13470" anchor="ctr"/>
                </a:tc>
                <a:tc>
                  <a:txBody>
                    <a:bodyPr/>
                    <a:lstStyle/>
                    <a:p>
                      <a:pPr>
                        <a:buNone/>
                      </a:pPr>
                      <a:r>
                        <a:rPr lang="en-IL" sz="1400"/>
                        <a:t>Memory load latency; L1 cache pollution</a:t>
                      </a:r>
                    </a:p>
                  </a:txBody>
                  <a:tcPr marL="26940" marR="26940" marT="13470" marB="13470" anchor="ctr"/>
                </a:tc>
                <a:tc>
                  <a:txBody>
                    <a:bodyPr/>
                    <a:lstStyle/>
                    <a:p>
                      <a:pPr>
                        <a:buNone/>
                      </a:pPr>
                      <a:r>
                        <a:rPr lang="en-IL" sz="1400"/>
                        <a:t>2 cycles</a:t>
                      </a:r>
                    </a:p>
                  </a:txBody>
                  <a:tcPr marL="26940" marR="26940" marT="13470" marB="13470" anchor="ctr"/>
                </a:tc>
                <a:extLst>
                  <a:ext uri="{0D108BD9-81ED-4DB2-BD59-A6C34878D82A}">
                    <a16:rowId xmlns:a16="http://schemas.microsoft.com/office/drawing/2014/main" val="672781614"/>
                  </a:ext>
                </a:extLst>
              </a:tr>
              <a:tr h="347395">
                <a:tc>
                  <a:txBody>
                    <a:bodyPr/>
                    <a:lstStyle/>
                    <a:p>
                      <a:pPr>
                        <a:buNone/>
                      </a:pPr>
                      <a:r>
                        <a:rPr lang="en-IL" sz="1400"/>
                        <a:t>TQ_SACC_CLR</a:t>
                      </a:r>
                    </a:p>
                  </a:txBody>
                  <a:tcPr marL="26940" marR="26940" marT="13470" marB="13470" anchor="ctr"/>
                </a:tc>
                <a:tc>
                  <a:txBody>
                    <a:bodyPr/>
                    <a:lstStyle/>
                    <a:p>
                      <a:pPr>
                        <a:buNone/>
                      </a:pPr>
                      <a:r>
                        <a:rPr lang="en-IL" sz="1400"/>
                        <a:t>tq_tie_step1.tie</a:t>
                      </a:r>
                    </a:p>
                  </a:txBody>
                  <a:tcPr marL="26940" marR="26940" marT="13470" marB="13470" anchor="ctr"/>
                </a:tc>
                <a:tc>
                  <a:txBody>
                    <a:bodyPr/>
                    <a:lstStyle/>
                    <a:p>
                      <a:pPr>
                        <a:buNone/>
                      </a:pPr>
                      <a:r>
                        <a:rPr lang="en-IL" sz="1400"/>
                        <a:t>None</a:t>
                      </a:r>
                    </a:p>
                  </a:txBody>
                  <a:tcPr marL="26940" marR="26940" marT="13470" marB="13470" anchor="ctr"/>
                </a:tc>
                <a:tc>
                  <a:txBody>
                    <a:bodyPr/>
                    <a:lstStyle/>
                    <a:p>
                      <a:pPr>
                        <a:buNone/>
                      </a:pPr>
                      <a:r>
                        <a:rPr lang="en-IL" sz="1400"/>
                        <a:t>TQ_SACC = 32'b0</a:t>
                      </a:r>
                    </a:p>
                  </a:txBody>
                  <a:tcPr marL="26940" marR="26940" marT="13470" marB="13470" anchor="ctr"/>
                </a:tc>
                <a:tc>
                  <a:txBody>
                    <a:bodyPr/>
                    <a:lstStyle/>
                    <a:p>
                      <a:pPr>
                        <a:buNone/>
                      </a:pPr>
                      <a:r>
                        <a:rPr lang="en-IL" sz="1400"/>
                        <a:t>Accumulator register setup</a:t>
                      </a:r>
                    </a:p>
                  </a:txBody>
                  <a:tcPr marL="26940" marR="26940" marT="13470" marB="13470" anchor="ctr"/>
                </a:tc>
                <a:tc>
                  <a:txBody>
                    <a:bodyPr/>
                    <a:lstStyle/>
                    <a:p>
                      <a:pPr>
                        <a:buNone/>
                      </a:pPr>
                      <a:r>
                        <a:rPr lang="en-IL" sz="1400"/>
                        <a:t>1 cycle</a:t>
                      </a:r>
                    </a:p>
                  </a:txBody>
                  <a:tcPr marL="26940" marR="26940" marT="13470" marB="13470" anchor="ctr"/>
                </a:tc>
                <a:extLst>
                  <a:ext uri="{0D108BD9-81ED-4DB2-BD59-A6C34878D82A}">
                    <a16:rowId xmlns:a16="http://schemas.microsoft.com/office/drawing/2014/main" val="3418594416"/>
                  </a:ext>
                </a:extLst>
              </a:tr>
              <a:tr h="451613">
                <a:tc>
                  <a:txBody>
                    <a:bodyPr/>
                    <a:lstStyle/>
                    <a:p>
                      <a:pPr>
                        <a:buNone/>
                      </a:pPr>
                      <a:r>
                        <a:rPr lang="en-IL" sz="1400"/>
                        <a:t>TQ_SGN_LOAD</a:t>
                      </a:r>
                    </a:p>
                  </a:txBody>
                  <a:tcPr marL="26940" marR="26940" marT="13470" marB="13470" anchor="ctr"/>
                </a:tc>
                <a:tc>
                  <a:txBody>
                    <a:bodyPr/>
                    <a:lstStyle/>
                    <a:p>
                      <a:pPr>
                        <a:buNone/>
                      </a:pPr>
                      <a:r>
                        <a:rPr lang="en-IL" sz="1400"/>
                        <a:t>tq_tie_step1.tie</a:t>
                      </a:r>
                    </a:p>
                  </a:txBody>
                  <a:tcPr marL="26940" marR="26940" marT="13470" marB="13470" anchor="ctr"/>
                </a:tc>
                <a:tc>
                  <a:txBody>
                    <a:bodyPr/>
                    <a:lstStyle/>
                    <a:p>
                      <a:pPr>
                        <a:buNone/>
                      </a:pPr>
                      <a:r>
                        <a:rPr lang="en-IL" sz="1400"/>
                        <a:t>AR (32‑bit)</a:t>
                      </a:r>
                    </a:p>
                  </a:txBody>
                  <a:tcPr marL="26940" marR="26940" marT="13470" marB="13470" anchor="ctr"/>
                </a:tc>
                <a:tc>
                  <a:txBody>
                    <a:bodyPr/>
                    <a:lstStyle/>
                    <a:p>
                      <a:pPr>
                        <a:buNone/>
                      </a:pPr>
                      <a:r>
                        <a:rPr lang="en-IL" sz="1400"/>
                        <a:t>TQ_SGN_STATE</a:t>
                      </a:r>
                    </a:p>
                  </a:txBody>
                  <a:tcPr marL="26940" marR="26940" marT="13470" marB="13470" anchor="ctr"/>
                </a:tc>
                <a:tc>
                  <a:txBody>
                    <a:bodyPr/>
                    <a:lstStyle/>
                    <a:p>
                      <a:pPr>
                        <a:buNone/>
                      </a:pPr>
                      <a:r>
                        <a:rPr lang="en-IL" sz="1400"/>
                        <a:t>Sign streaming register pressure</a:t>
                      </a:r>
                    </a:p>
                  </a:txBody>
                  <a:tcPr marL="26940" marR="26940" marT="13470" marB="13470" anchor="ctr"/>
                </a:tc>
                <a:tc>
                  <a:txBody>
                    <a:bodyPr/>
                    <a:lstStyle/>
                    <a:p>
                      <a:pPr>
                        <a:buNone/>
                      </a:pPr>
                      <a:r>
                        <a:rPr lang="en-IL" sz="1400"/>
                        <a:t>2–3 cycles</a:t>
                      </a:r>
                    </a:p>
                  </a:txBody>
                  <a:tcPr marL="26940" marR="26940" marT="13470" marB="13470" anchor="ctr"/>
                </a:tc>
                <a:extLst>
                  <a:ext uri="{0D108BD9-81ED-4DB2-BD59-A6C34878D82A}">
                    <a16:rowId xmlns:a16="http://schemas.microsoft.com/office/drawing/2014/main" val="4136134239"/>
                  </a:ext>
                </a:extLst>
              </a:tr>
              <a:tr h="555831">
                <a:tc>
                  <a:txBody>
                    <a:bodyPr/>
                    <a:lstStyle/>
                    <a:p>
                      <a:pPr>
                        <a:buNone/>
                      </a:pPr>
                      <a:r>
                        <a:rPr lang="en-IL" sz="1400"/>
                        <a:t>TQ_SGNACC2</a:t>
                      </a:r>
                    </a:p>
                  </a:txBody>
                  <a:tcPr marL="26940" marR="26940" marT="13470" marB="13470" anchor="ctr"/>
                </a:tc>
                <a:tc>
                  <a:txBody>
                    <a:bodyPr/>
                    <a:lstStyle/>
                    <a:p>
                      <a:pPr>
                        <a:buNone/>
                      </a:pPr>
                      <a:r>
                        <a:rPr lang="en-IL" sz="1400"/>
                        <a:t>tq_tie_step1.tie</a:t>
                      </a:r>
                    </a:p>
                  </a:txBody>
                  <a:tcPr marL="26940" marR="26940" marT="13470" marB="13470" anchor="ctr"/>
                </a:tc>
                <a:tc>
                  <a:txBody>
                    <a:bodyPr/>
                    <a:lstStyle/>
                    <a:p>
                      <a:pPr>
                        <a:buNone/>
                      </a:pPr>
                      <a:r>
                        <a:rPr lang="en-IL" sz="1400"/>
                        <a:t>AR (2× Q15)</a:t>
                      </a:r>
                    </a:p>
                  </a:txBody>
                  <a:tcPr marL="26940" marR="26940" marT="13470" marB="13470" anchor="ctr"/>
                </a:tc>
                <a:tc>
                  <a:txBody>
                    <a:bodyPr/>
                    <a:lstStyle/>
                    <a:p>
                      <a:pPr>
                        <a:buNone/>
                      </a:pPr>
                      <a:r>
                        <a:rPr lang="en-IL" sz="1400"/>
                        <a:t>TQ_SACC; TQ_SGN_STATE</a:t>
                      </a:r>
                    </a:p>
                  </a:txBody>
                  <a:tcPr marL="26940" marR="26940" marT="13470" marB="13470" anchor="ctr"/>
                </a:tc>
                <a:tc>
                  <a:txBody>
                    <a:bodyPr/>
                    <a:lstStyle/>
                    <a:p>
                      <a:pPr>
                        <a:buNone/>
                      </a:pPr>
                      <a:r>
                        <a:rPr lang="en-IL" sz="1400"/>
                        <a:t>Branch mispredictions; conditional negations</a:t>
                      </a:r>
                    </a:p>
                  </a:txBody>
                  <a:tcPr marL="26940" marR="26940" marT="13470" marB="13470" anchor="ctr"/>
                </a:tc>
                <a:tc>
                  <a:txBody>
                    <a:bodyPr/>
                    <a:lstStyle/>
                    <a:p>
                      <a:pPr>
                        <a:buNone/>
                      </a:pPr>
                      <a:r>
                        <a:rPr lang="en-IL" sz="1400"/>
                        <a:t>9–13 cycles</a:t>
                      </a:r>
                    </a:p>
                  </a:txBody>
                  <a:tcPr marL="26940" marR="26940" marT="13470" marB="13470" anchor="ctr"/>
                </a:tc>
                <a:extLst>
                  <a:ext uri="{0D108BD9-81ED-4DB2-BD59-A6C34878D82A}">
                    <a16:rowId xmlns:a16="http://schemas.microsoft.com/office/drawing/2014/main" val="2500275015"/>
                  </a:ext>
                </a:extLst>
              </a:tr>
              <a:tr h="243176">
                <a:tc>
                  <a:txBody>
                    <a:bodyPr/>
                    <a:lstStyle/>
                    <a:p>
                      <a:pPr>
                        <a:buNone/>
                      </a:pPr>
                      <a:r>
                        <a:rPr lang="en-IL" sz="1400"/>
                        <a:t>TQ_SACC_RD</a:t>
                      </a:r>
                    </a:p>
                  </a:txBody>
                  <a:tcPr marL="26940" marR="26940" marT="13470" marB="13470" anchor="ctr"/>
                </a:tc>
                <a:tc>
                  <a:txBody>
                    <a:bodyPr/>
                    <a:lstStyle/>
                    <a:p>
                      <a:pPr>
                        <a:buNone/>
                      </a:pPr>
                      <a:r>
                        <a:rPr lang="en-IL" sz="1400"/>
                        <a:t>tq_tie_step1.tie</a:t>
                      </a:r>
                    </a:p>
                  </a:txBody>
                  <a:tcPr marL="26940" marR="26940" marT="13470" marB="13470" anchor="ctr"/>
                </a:tc>
                <a:tc>
                  <a:txBody>
                    <a:bodyPr/>
                    <a:lstStyle/>
                    <a:p>
                      <a:pPr>
                        <a:buNone/>
                      </a:pPr>
                      <a:r>
                        <a:rPr lang="en-IL" sz="1400"/>
                        <a:t>TQ_SACC</a:t>
                      </a:r>
                    </a:p>
                  </a:txBody>
                  <a:tcPr marL="26940" marR="26940" marT="13470" marB="13470" anchor="ctr"/>
                </a:tc>
                <a:tc>
                  <a:txBody>
                    <a:bodyPr/>
                    <a:lstStyle/>
                    <a:p>
                      <a:pPr>
                        <a:buNone/>
                      </a:pPr>
                      <a:r>
                        <a:rPr lang="en-IL" sz="1400"/>
                        <a:t>AR (32‑bit)</a:t>
                      </a:r>
                    </a:p>
                  </a:txBody>
                  <a:tcPr marL="26940" marR="26940" marT="13470" marB="13470" anchor="ctr"/>
                </a:tc>
                <a:tc>
                  <a:txBody>
                    <a:bodyPr/>
                    <a:lstStyle/>
                    <a:p>
                      <a:pPr>
                        <a:buNone/>
                      </a:pPr>
                      <a:r>
                        <a:rPr lang="en-IL" sz="1400"/>
                        <a:t>Accumulator extraction</a:t>
                      </a:r>
                    </a:p>
                  </a:txBody>
                  <a:tcPr marL="26940" marR="26940" marT="13470" marB="13470" anchor="ctr"/>
                </a:tc>
                <a:tc>
                  <a:txBody>
                    <a:bodyPr/>
                    <a:lstStyle/>
                    <a:p>
                      <a:pPr>
                        <a:buNone/>
                      </a:pPr>
                      <a:r>
                        <a:rPr lang="en-IL" sz="1400"/>
                        <a:t>1 cycle</a:t>
                      </a:r>
                    </a:p>
                  </a:txBody>
                  <a:tcPr marL="26940" marR="26940" marT="13470" marB="13470" anchor="ctr"/>
                </a:tc>
                <a:extLst>
                  <a:ext uri="{0D108BD9-81ED-4DB2-BD59-A6C34878D82A}">
                    <a16:rowId xmlns:a16="http://schemas.microsoft.com/office/drawing/2014/main" val="1311611439"/>
                  </a:ext>
                </a:extLst>
              </a:tr>
              <a:tr h="451613">
                <a:tc>
                  <a:txBody>
                    <a:bodyPr/>
                    <a:lstStyle/>
                    <a:p>
                      <a:pPr>
                        <a:buNone/>
                      </a:pPr>
                      <a:r>
                        <a:rPr lang="en-IL" sz="1400"/>
                        <a:t>TQ_IDX_LOAD</a:t>
                      </a:r>
                    </a:p>
                  </a:txBody>
                  <a:tcPr marL="26940" marR="26940" marT="13470" marB="13470" anchor="ctr"/>
                </a:tc>
                <a:tc>
                  <a:txBody>
                    <a:bodyPr/>
                    <a:lstStyle/>
                    <a:p>
                      <a:pPr>
                        <a:buNone/>
                      </a:pPr>
                      <a:r>
                        <a:rPr lang="en-IL" sz="1400" dirty="0"/>
                        <a:t>tq_tie_step2.tie</a:t>
                      </a:r>
                    </a:p>
                  </a:txBody>
                  <a:tcPr marL="26940" marR="26940" marT="13470" marB="13470" anchor="ctr"/>
                </a:tc>
                <a:tc>
                  <a:txBody>
                    <a:bodyPr/>
                    <a:lstStyle/>
                    <a:p>
                      <a:pPr>
                        <a:buNone/>
                      </a:pPr>
                      <a:r>
                        <a:rPr lang="en-IL" sz="1400"/>
                        <a:t>AR (24‑bit)</a:t>
                      </a:r>
                    </a:p>
                  </a:txBody>
                  <a:tcPr marL="26940" marR="26940" marT="13470" marB="13470" anchor="ctr"/>
                </a:tc>
                <a:tc>
                  <a:txBody>
                    <a:bodyPr/>
                    <a:lstStyle/>
                    <a:p>
                      <a:pPr>
                        <a:buNone/>
                      </a:pPr>
                      <a:r>
                        <a:rPr lang="en-IL" sz="1400"/>
                        <a:t>TQ_IDX_STATE</a:t>
                      </a:r>
                    </a:p>
                  </a:txBody>
                  <a:tcPr marL="26940" marR="26940" marT="13470" marB="13470" anchor="ctr"/>
                </a:tc>
                <a:tc>
                  <a:txBody>
                    <a:bodyPr/>
                    <a:lstStyle/>
                    <a:p>
                      <a:pPr>
                        <a:buNone/>
                      </a:pPr>
                      <a:r>
                        <a:rPr lang="en-IL" sz="1400"/>
                        <a:t>Sub‑byte (3‑bit) bitmasking &amp; shift loops</a:t>
                      </a:r>
                    </a:p>
                  </a:txBody>
                  <a:tcPr marL="26940" marR="26940" marT="13470" marB="13470" anchor="ctr"/>
                </a:tc>
                <a:tc>
                  <a:txBody>
                    <a:bodyPr/>
                    <a:lstStyle/>
                    <a:p>
                      <a:pPr>
                        <a:buNone/>
                      </a:pPr>
                      <a:r>
                        <a:rPr lang="en-IL" sz="1400"/>
                        <a:t>15–23 cycles per 8 indices</a:t>
                      </a:r>
                    </a:p>
                  </a:txBody>
                  <a:tcPr marL="26940" marR="26940" marT="13470" marB="13470" anchor="ctr"/>
                </a:tc>
                <a:extLst>
                  <a:ext uri="{0D108BD9-81ED-4DB2-BD59-A6C34878D82A}">
                    <a16:rowId xmlns:a16="http://schemas.microsoft.com/office/drawing/2014/main" val="4282909788"/>
                  </a:ext>
                </a:extLst>
              </a:tr>
              <a:tr h="347395">
                <a:tc>
                  <a:txBody>
                    <a:bodyPr/>
                    <a:lstStyle/>
                    <a:p>
                      <a:pPr>
                        <a:buNone/>
                      </a:pPr>
                      <a:r>
                        <a:rPr lang="en-IL" sz="1400"/>
                        <a:t>TQ_ACC_CLR</a:t>
                      </a:r>
                    </a:p>
                  </a:txBody>
                  <a:tcPr marL="26940" marR="26940" marT="13470" marB="13470" anchor="ctr"/>
                </a:tc>
                <a:tc>
                  <a:txBody>
                    <a:bodyPr/>
                    <a:lstStyle/>
                    <a:p>
                      <a:pPr>
                        <a:buNone/>
                      </a:pPr>
                      <a:r>
                        <a:rPr lang="en-IL" sz="1400"/>
                        <a:t>tq_tie_step3.tie</a:t>
                      </a:r>
                    </a:p>
                  </a:txBody>
                  <a:tcPr marL="26940" marR="26940" marT="13470" marB="13470" anchor="ctr"/>
                </a:tc>
                <a:tc>
                  <a:txBody>
                    <a:bodyPr/>
                    <a:lstStyle/>
                    <a:p>
                      <a:pPr>
                        <a:buNone/>
                      </a:pPr>
                      <a:r>
                        <a:rPr lang="en-IL" sz="1400"/>
                        <a:t>None</a:t>
                      </a:r>
                    </a:p>
                  </a:txBody>
                  <a:tcPr marL="26940" marR="26940" marT="13470" marB="13470" anchor="ctr"/>
                </a:tc>
                <a:tc>
                  <a:txBody>
                    <a:bodyPr/>
                    <a:lstStyle/>
                    <a:p>
                      <a:pPr>
                        <a:buNone/>
                      </a:pPr>
                      <a:r>
                        <a:rPr lang="en-IL" sz="1400"/>
                        <a:t>TQ_ACC = 40'b0</a:t>
                      </a:r>
                    </a:p>
                  </a:txBody>
                  <a:tcPr marL="26940" marR="26940" marT="13470" marB="13470" anchor="ctr"/>
                </a:tc>
                <a:tc>
                  <a:txBody>
                    <a:bodyPr/>
                    <a:lstStyle/>
                    <a:p>
                      <a:pPr>
                        <a:buNone/>
                      </a:pPr>
                      <a:r>
                        <a:rPr lang="en-IL" sz="1400"/>
                        <a:t>40‑bit accumulator clear</a:t>
                      </a:r>
                    </a:p>
                  </a:txBody>
                  <a:tcPr marL="26940" marR="26940" marT="13470" marB="13470" anchor="ctr"/>
                </a:tc>
                <a:tc>
                  <a:txBody>
                    <a:bodyPr/>
                    <a:lstStyle/>
                    <a:p>
                      <a:pPr>
                        <a:buNone/>
                      </a:pPr>
                      <a:r>
                        <a:rPr lang="en-IL" sz="1400"/>
                        <a:t>1 cycle</a:t>
                      </a:r>
                    </a:p>
                  </a:txBody>
                  <a:tcPr marL="26940" marR="26940" marT="13470" marB="13470" anchor="ctr"/>
                </a:tc>
                <a:extLst>
                  <a:ext uri="{0D108BD9-81ED-4DB2-BD59-A6C34878D82A}">
                    <a16:rowId xmlns:a16="http://schemas.microsoft.com/office/drawing/2014/main" val="110474729"/>
                  </a:ext>
                </a:extLst>
              </a:tr>
              <a:tr h="347395">
                <a:tc>
                  <a:txBody>
                    <a:bodyPr/>
                    <a:lstStyle/>
                    <a:p>
                      <a:pPr>
                        <a:buNone/>
                      </a:pPr>
                      <a:r>
                        <a:rPr lang="en-IL" sz="1400"/>
                        <a:t>TQ_DECMAC2</a:t>
                      </a:r>
                    </a:p>
                  </a:txBody>
                  <a:tcPr marL="26940" marR="26940" marT="13470" marB="13470" anchor="ctr"/>
                </a:tc>
                <a:tc>
                  <a:txBody>
                    <a:bodyPr/>
                    <a:lstStyle/>
                    <a:p>
                      <a:pPr>
                        <a:buNone/>
                      </a:pPr>
                      <a:r>
                        <a:rPr lang="en-IL" sz="1400"/>
                        <a:t>tq_tie_step3.tie</a:t>
                      </a:r>
                    </a:p>
                  </a:txBody>
                  <a:tcPr marL="26940" marR="26940" marT="13470" marB="13470" anchor="ctr"/>
                </a:tc>
                <a:tc>
                  <a:txBody>
                    <a:bodyPr/>
                    <a:lstStyle/>
                    <a:p>
                      <a:pPr>
                        <a:buNone/>
                      </a:pPr>
                      <a:r>
                        <a:rPr lang="en-IL" sz="1400"/>
                        <a:t>AR (2× Q15)</a:t>
                      </a:r>
                    </a:p>
                  </a:txBody>
                  <a:tcPr marL="26940" marR="26940" marT="13470" marB="13470" anchor="ctr"/>
                </a:tc>
                <a:tc>
                  <a:txBody>
                    <a:bodyPr/>
                    <a:lstStyle/>
                    <a:p>
                      <a:pPr>
                        <a:buNone/>
                      </a:pPr>
                      <a:r>
                        <a:rPr lang="en-IL" sz="1400"/>
                        <a:t>TQ_ACC; TQ_IDX_STATE</a:t>
                      </a:r>
                    </a:p>
                  </a:txBody>
                  <a:tcPr marL="26940" marR="26940" marT="13470" marB="13470" anchor="ctr"/>
                </a:tc>
                <a:tc>
                  <a:txBody>
                    <a:bodyPr/>
                    <a:lstStyle/>
                    <a:p>
                      <a:pPr>
                        <a:buNone/>
                      </a:pPr>
                      <a:r>
                        <a:rPr lang="en-IL" sz="1400"/>
                        <a:t>Unpacking; 2× loads; 2× MACs</a:t>
                      </a:r>
                    </a:p>
                  </a:txBody>
                  <a:tcPr marL="26940" marR="26940" marT="13470" marB="13470" anchor="ctr"/>
                </a:tc>
                <a:tc>
                  <a:txBody>
                    <a:bodyPr/>
                    <a:lstStyle/>
                    <a:p>
                      <a:pPr>
                        <a:buNone/>
                      </a:pPr>
                      <a:r>
                        <a:rPr lang="en-IL" sz="1400"/>
                        <a:t>17–24 cycles per 2 dims</a:t>
                      </a:r>
                    </a:p>
                  </a:txBody>
                  <a:tcPr marL="26940" marR="26940" marT="13470" marB="13470" anchor="ctr"/>
                </a:tc>
                <a:extLst>
                  <a:ext uri="{0D108BD9-81ED-4DB2-BD59-A6C34878D82A}">
                    <a16:rowId xmlns:a16="http://schemas.microsoft.com/office/drawing/2014/main" val="1974375738"/>
                  </a:ext>
                </a:extLst>
              </a:tr>
              <a:tr h="555831">
                <a:tc>
                  <a:txBody>
                    <a:bodyPr/>
                    <a:lstStyle/>
                    <a:p>
                      <a:pPr>
                        <a:buNone/>
                      </a:pPr>
                      <a:r>
                        <a:rPr lang="en-IL" sz="1400"/>
                        <a:t>TQ_ACC_RD</a:t>
                      </a:r>
                    </a:p>
                  </a:txBody>
                  <a:tcPr marL="26940" marR="26940" marT="13470" marB="13470" anchor="ctr"/>
                </a:tc>
                <a:tc>
                  <a:txBody>
                    <a:bodyPr/>
                    <a:lstStyle/>
                    <a:p>
                      <a:pPr>
                        <a:buNone/>
                      </a:pPr>
                      <a:r>
                        <a:rPr lang="en-IL" sz="1400"/>
                        <a:t>tq_tie_step3.tie</a:t>
                      </a:r>
                    </a:p>
                  </a:txBody>
                  <a:tcPr marL="26940" marR="26940" marT="13470" marB="13470" anchor="ctr"/>
                </a:tc>
                <a:tc>
                  <a:txBody>
                    <a:bodyPr/>
                    <a:lstStyle/>
                    <a:p>
                      <a:pPr>
                        <a:buNone/>
                      </a:pPr>
                      <a:r>
                        <a:rPr lang="en-IL" sz="1400"/>
                        <a:t>TQ_ACC</a:t>
                      </a:r>
                    </a:p>
                  </a:txBody>
                  <a:tcPr marL="26940" marR="26940" marT="13470" marB="13470" anchor="ctr"/>
                </a:tc>
                <a:tc>
                  <a:txBody>
                    <a:bodyPr/>
                    <a:lstStyle/>
                    <a:p>
                      <a:pPr>
                        <a:buNone/>
                      </a:pPr>
                      <a:r>
                        <a:rPr lang="en-IL" sz="1400"/>
                        <a:t>AR (32‑bit)</a:t>
                      </a:r>
                    </a:p>
                  </a:txBody>
                  <a:tcPr marL="26940" marR="26940" marT="13470" marB="13470" anchor="ctr"/>
                </a:tc>
                <a:tc>
                  <a:txBody>
                    <a:bodyPr/>
                    <a:lstStyle/>
                    <a:p>
                      <a:pPr>
                        <a:buNone/>
                      </a:pPr>
                      <a:r>
                        <a:rPr lang="en-IL" sz="1400"/>
                        <a:t>40→32 conversion; Q15 normalization</a:t>
                      </a:r>
                    </a:p>
                  </a:txBody>
                  <a:tcPr marL="26940" marR="26940" marT="13470" marB="13470" anchor="ctr"/>
                </a:tc>
                <a:tc>
                  <a:txBody>
                    <a:bodyPr/>
                    <a:lstStyle/>
                    <a:p>
                      <a:pPr>
                        <a:buNone/>
                      </a:pPr>
                      <a:r>
                        <a:rPr lang="en-IL" sz="1400"/>
                        <a:t>2–3 cycles</a:t>
                      </a:r>
                    </a:p>
                  </a:txBody>
                  <a:tcPr marL="26940" marR="26940" marT="13470" marB="13470" anchor="ctr"/>
                </a:tc>
                <a:extLst>
                  <a:ext uri="{0D108BD9-81ED-4DB2-BD59-A6C34878D82A}">
                    <a16:rowId xmlns:a16="http://schemas.microsoft.com/office/drawing/2014/main" val="494532745"/>
                  </a:ext>
                </a:extLst>
              </a:tr>
              <a:tr h="347395">
                <a:tc>
                  <a:txBody>
                    <a:bodyPr/>
                    <a:lstStyle/>
                    <a:p>
                      <a:pPr>
                        <a:buNone/>
                      </a:pPr>
                      <a:r>
                        <a:rPr lang="en-IL" sz="1400"/>
                        <a:t>TQ_VACC_CLR</a:t>
                      </a:r>
                    </a:p>
                  </a:txBody>
                  <a:tcPr marL="26940" marR="26940" marT="13470" marB="13470" anchor="ctr"/>
                </a:tc>
                <a:tc>
                  <a:txBody>
                    <a:bodyPr/>
                    <a:lstStyle/>
                    <a:p>
                      <a:pPr>
                        <a:buNone/>
                      </a:pPr>
                      <a:r>
                        <a:rPr lang="en-IL" sz="1400"/>
                        <a:t>tq_tie_step4.tie</a:t>
                      </a:r>
                    </a:p>
                  </a:txBody>
                  <a:tcPr marL="26940" marR="26940" marT="13470" marB="13470" anchor="ctr"/>
                </a:tc>
                <a:tc>
                  <a:txBody>
                    <a:bodyPr/>
                    <a:lstStyle/>
                    <a:p>
                      <a:pPr>
                        <a:buNone/>
                      </a:pPr>
                      <a:r>
                        <a:rPr lang="en-IL" sz="1400"/>
                        <a:t>None</a:t>
                      </a:r>
                    </a:p>
                  </a:txBody>
                  <a:tcPr marL="26940" marR="26940" marT="13470" marB="13470" anchor="ctr"/>
                </a:tc>
                <a:tc>
                  <a:txBody>
                    <a:bodyPr/>
                    <a:lstStyle/>
                    <a:p>
                      <a:pPr>
                        <a:buNone/>
                      </a:pPr>
                      <a:r>
                        <a:rPr lang="en-IL" sz="1400"/>
                        <a:t>TQ_VACC = 64'b0</a:t>
                      </a:r>
                    </a:p>
                  </a:txBody>
                  <a:tcPr marL="26940" marR="26940" marT="13470" marB="13470" anchor="ctr"/>
                </a:tc>
                <a:tc>
                  <a:txBody>
                    <a:bodyPr/>
                    <a:lstStyle/>
                    <a:p>
                      <a:pPr>
                        <a:buNone/>
                      </a:pPr>
                      <a:r>
                        <a:rPr lang="en-IL" sz="1400" dirty="0"/>
                        <a:t>Vector register zeroing</a:t>
                      </a:r>
                    </a:p>
                  </a:txBody>
                  <a:tcPr marL="26940" marR="26940" marT="13470" marB="13470" anchor="ctr"/>
                </a:tc>
                <a:tc>
                  <a:txBody>
                    <a:bodyPr/>
                    <a:lstStyle/>
                    <a:p>
                      <a:pPr>
                        <a:buNone/>
                      </a:pPr>
                      <a:r>
                        <a:rPr lang="en-IL" sz="1400"/>
                        <a:t>1 cycle</a:t>
                      </a:r>
                    </a:p>
                  </a:txBody>
                  <a:tcPr marL="26940" marR="26940" marT="13470" marB="13470" anchor="ctr"/>
                </a:tc>
                <a:extLst>
                  <a:ext uri="{0D108BD9-81ED-4DB2-BD59-A6C34878D82A}">
                    <a16:rowId xmlns:a16="http://schemas.microsoft.com/office/drawing/2014/main" val="129544589"/>
                  </a:ext>
                </a:extLst>
              </a:tr>
              <a:tr h="347395">
                <a:tc>
                  <a:txBody>
                    <a:bodyPr/>
                    <a:lstStyle/>
                    <a:p>
                      <a:pPr>
                        <a:buNone/>
                      </a:pPr>
                      <a:r>
                        <a:rPr lang="en-IL" sz="1400"/>
                        <a:t>TQ_SCALEACC2</a:t>
                      </a:r>
                    </a:p>
                  </a:txBody>
                  <a:tcPr marL="26940" marR="26940" marT="13470" marB="13470" anchor="ctr"/>
                </a:tc>
                <a:tc>
                  <a:txBody>
                    <a:bodyPr/>
                    <a:lstStyle/>
                    <a:p>
                      <a:pPr>
                        <a:buNone/>
                      </a:pPr>
                      <a:r>
                        <a:rPr lang="en-IL" sz="1400"/>
                        <a:t>tq_tie_step4.tie</a:t>
                      </a:r>
                    </a:p>
                  </a:txBody>
                  <a:tcPr marL="26940" marR="26940" marT="13470" marB="13470" anchor="ctr"/>
                </a:tc>
                <a:tc>
                  <a:txBody>
                    <a:bodyPr/>
                    <a:lstStyle/>
                    <a:p>
                      <a:pPr>
                        <a:buNone/>
                      </a:pPr>
                      <a:r>
                        <a:rPr lang="en-IL" sz="1400"/>
                        <a:t>AR (Q15); AR (indices)</a:t>
                      </a:r>
                    </a:p>
                  </a:txBody>
                  <a:tcPr marL="26940" marR="26940" marT="13470" marB="13470" anchor="ctr"/>
                </a:tc>
                <a:tc>
                  <a:txBody>
                    <a:bodyPr/>
                    <a:lstStyle/>
                    <a:p>
                      <a:pPr>
                        <a:buNone/>
                      </a:pPr>
                      <a:r>
                        <a:rPr lang="en-IL" sz="1400"/>
                        <a:t>TQ_VACC (64‑bit)</a:t>
                      </a:r>
                    </a:p>
                  </a:txBody>
                  <a:tcPr marL="26940" marR="26940" marT="13470" marB="13470" anchor="ctr"/>
                </a:tc>
                <a:tc>
                  <a:txBody>
                    <a:bodyPr/>
                    <a:lstStyle/>
                    <a:p>
                      <a:pPr>
                        <a:buNone/>
                      </a:pPr>
                      <a:r>
                        <a:rPr lang="en-IL" sz="1400"/>
                        <a:t>Dual lookup; rounding; SIMD add</a:t>
                      </a:r>
                    </a:p>
                  </a:txBody>
                  <a:tcPr marL="26940" marR="26940" marT="13470" marB="13470" anchor="ctr"/>
                </a:tc>
                <a:tc>
                  <a:txBody>
                    <a:bodyPr/>
                    <a:lstStyle/>
                    <a:p>
                      <a:pPr>
                        <a:buNone/>
                      </a:pPr>
                      <a:r>
                        <a:rPr lang="en-IL" sz="1400"/>
                        <a:t>15–19 cycles per 2 dims</a:t>
                      </a:r>
                    </a:p>
                  </a:txBody>
                  <a:tcPr marL="26940" marR="26940" marT="13470" marB="13470" anchor="ctr"/>
                </a:tc>
                <a:extLst>
                  <a:ext uri="{0D108BD9-81ED-4DB2-BD59-A6C34878D82A}">
                    <a16:rowId xmlns:a16="http://schemas.microsoft.com/office/drawing/2014/main" val="3708456282"/>
                  </a:ext>
                </a:extLst>
              </a:tr>
              <a:tr h="243176">
                <a:tc>
                  <a:txBody>
                    <a:bodyPr/>
                    <a:lstStyle/>
                    <a:p>
                      <a:pPr>
                        <a:buNone/>
                      </a:pPr>
                      <a:r>
                        <a:rPr lang="en-IL" sz="1400"/>
                        <a:t>TQ_VACC_RD0/1</a:t>
                      </a:r>
                    </a:p>
                  </a:txBody>
                  <a:tcPr marL="26940" marR="26940" marT="13470" marB="13470" anchor="ctr"/>
                </a:tc>
                <a:tc>
                  <a:txBody>
                    <a:bodyPr/>
                    <a:lstStyle/>
                    <a:p>
                      <a:pPr>
                        <a:buNone/>
                      </a:pPr>
                      <a:r>
                        <a:rPr lang="en-IL" sz="1400"/>
                        <a:t>tq_tie_step4.tie</a:t>
                      </a:r>
                    </a:p>
                  </a:txBody>
                  <a:tcPr marL="26940" marR="26940" marT="13470" marB="13470" anchor="ctr"/>
                </a:tc>
                <a:tc>
                  <a:txBody>
                    <a:bodyPr/>
                    <a:lstStyle/>
                    <a:p>
                      <a:pPr>
                        <a:buNone/>
                      </a:pPr>
                      <a:r>
                        <a:rPr lang="en-IL" sz="1400"/>
                        <a:t>TQ_VACC</a:t>
                      </a:r>
                    </a:p>
                  </a:txBody>
                  <a:tcPr marL="26940" marR="26940" marT="13470" marB="13470" anchor="ctr"/>
                </a:tc>
                <a:tc>
                  <a:txBody>
                    <a:bodyPr/>
                    <a:lstStyle/>
                    <a:p>
                      <a:pPr>
                        <a:buNone/>
                      </a:pPr>
                      <a:r>
                        <a:rPr lang="en-IL" sz="1400"/>
                        <a:t>AR (32‑bit)</a:t>
                      </a:r>
                    </a:p>
                  </a:txBody>
                  <a:tcPr marL="26940" marR="26940" marT="13470" marB="13470" anchor="ctr"/>
                </a:tc>
                <a:tc>
                  <a:txBody>
                    <a:bodyPr/>
                    <a:lstStyle/>
                    <a:p>
                      <a:pPr>
                        <a:buNone/>
                      </a:pPr>
                      <a:r>
                        <a:rPr lang="en-IL" sz="1400"/>
                        <a:t>Vector slicing</a:t>
                      </a:r>
                    </a:p>
                  </a:txBody>
                  <a:tcPr marL="26940" marR="26940" marT="13470" marB="13470" anchor="ctr"/>
                </a:tc>
                <a:tc>
                  <a:txBody>
                    <a:bodyPr/>
                    <a:lstStyle/>
                    <a:p>
                      <a:pPr>
                        <a:buNone/>
                      </a:pPr>
                      <a:r>
                        <a:rPr lang="en-IL" sz="1400"/>
                        <a:t>1 cycle per word</a:t>
                      </a:r>
                    </a:p>
                  </a:txBody>
                  <a:tcPr marL="26940" marR="26940" marT="13470" marB="13470" anchor="ctr"/>
                </a:tc>
                <a:extLst>
                  <a:ext uri="{0D108BD9-81ED-4DB2-BD59-A6C34878D82A}">
                    <a16:rowId xmlns:a16="http://schemas.microsoft.com/office/drawing/2014/main" val="2050073465"/>
                  </a:ext>
                </a:extLst>
              </a:tr>
              <a:tr h="347395">
                <a:tc>
                  <a:txBody>
                    <a:bodyPr/>
                    <a:lstStyle/>
                    <a:p>
                      <a:pPr>
                        <a:buNone/>
                      </a:pPr>
                      <a:r>
                        <a:rPr lang="en-IL" sz="1400"/>
                        <a:t>Q15MAC2</a:t>
                      </a:r>
                    </a:p>
                  </a:txBody>
                  <a:tcPr marL="26940" marR="26940" marT="13470" marB="13470" anchor="ctr"/>
                </a:tc>
                <a:tc>
                  <a:txBody>
                    <a:bodyPr/>
                    <a:lstStyle/>
                    <a:p>
                      <a:pPr>
                        <a:buNone/>
                      </a:pPr>
                      <a:r>
                        <a:rPr lang="en-IL" sz="1400"/>
                        <a:t>tq_tie_q15mac2.tie</a:t>
                      </a:r>
                    </a:p>
                  </a:txBody>
                  <a:tcPr marL="26940" marR="26940" marT="13470" marB="13470" anchor="ctr"/>
                </a:tc>
                <a:tc>
                  <a:txBody>
                    <a:bodyPr/>
                    <a:lstStyle/>
                    <a:p>
                      <a:pPr>
                        <a:buNone/>
                      </a:pPr>
                      <a:r>
                        <a:rPr lang="en-IL" sz="1400"/>
                        <a:t>2× AR (packed 16‑bit)</a:t>
                      </a:r>
                    </a:p>
                  </a:txBody>
                  <a:tcPr marL="26940" marR="26940" marT="13470" marB="13470" anchor="ctr"/>
                </a:tc>
                <a:tc>
                  <a:txBody>
                    <a:bodyPr/>
                    <a:lstStyle/>
                    <a:p>
                      <a:pPr>
                        <a:buNone/>
                      </a:pPr>
                      <a:r>
                        <a:rPr lang="en-IL" sz="1400"/>
                        <a:t>AR (32‑bit)</a:t>
                      </a:r>
                    </a:p>
                  </a:txBody>
                  <a:tcPr marL="26940" marR="26940" marT="13470" marB="13470" anchor="ctr"/>
                </a:tc>
                <a:tc>
                  <a:txBody>
                    <a:bodyPr/>
                    <a:lstStyle/>
                    <a:p>
                      <a:pPr>
                        <a:buNone/>
                      </a:pPr>
                      <a:r>
                        <a:rPr lang="en-IL" sz="1400"/>
                        <a:t>Dual 16‑bit multiply &amp; accumulate</a:t>
                      </a:r>
                    </a:p>
                  </a:txBody>
                  <a:tcPr marL="26940" marR="26940" marT="13470" marB="13470" anchor="ctr"/>
                </a:tc>
                <a:tc>
                  <a:txBody>
                    <a:bodyPr/>
                    <a:lstStyle/>
                    <a:p>
                      <a:pPr>
                        <a:buNone/>
                      </a:pPr>
                      <a:r>
                        <a:rPr lang="en-IL" sz="1400"/>
                        <a:t>5–7 cycles</a:t>
                      </a:r>
                    </a:p>
                  </a:txBody>
                  <a:tcPr marL="26940" marR="26940" marT="13470" marB="13470" anchor="ctr"/>
                </a:tc>
                <a:extLst>
                  <a:ext uri="{0D108BD9-81ED-4DB2-BD59-A6C34878D82A}">
                    <a16:rowId xmlns:a16="http://schemas.microsoft.com/office/drawing/2014/main" val="780399531"/>
                  </a:ext>
                </a:extLst>
              </a:tr>
              <a:tr h="451613">
                <a:tc>
                  <a:txBody>
                    <a:bodyPr/>
                    <a:lstStyle/>
                    <a:p>
                      <a:pPr>
                        <a:buNone/>
                      </a:pPr>
                      <a:r>
                        <a:rPr lang="en-IL" sz="1400"/>
                        <a:t>SDOT4</a:t>
                      </a:r>
                    </a:p>
                  </a:txBody>
                  <a:tcPr marL="26940" marR="26940" marT="13470" marB="13470" anchor="ctr"/>
                </a:tc>
                <a:tc>
                  <a:txBody>
                    <a:bodyPr/>
                    <a:lstStyle/>
                    <a:p>
                      <a:pPr>
                        <a:buNone/>
                      </a:pPr>
                      <a:r>
                        <a:rPr lang="en-IL" sz="1400"/>
                        <a:t>tq_tie_sdot4.tie</a:t>
                      </a:r>
                    </a:p>
                  </a:txBody>
                  <a:tcPr marL="26940" marR="26940" marT="13470" marB="13470" anchor="ctr"/>
                </a:tc>
                <a:tc>
                  <a:txBody>
                    <a:bodyPr/>
                    <a:lstStyle/>
                    <a:p>
                      <a:pPr>
                        <a:buNone/>
                      </a:pPr>
                      <a:r>
                        <a:rPr lang="en-IL" sz="1400"/>
                        <a:t>2× AR (packed INT8)</a:t>
                      </a:r>
                    </a:p>
                  </a:txBody>
                  <a:tcPr marL="26940" marR="26940" marT="13470" marB="13470" anchor="ctr"/>
                </a:tc>
                <a:tc>
                  <a:txBody>
                    <a:bodyPr/>
                    <a:lstStyle/>
                    <a:p>
                      <a:pPr>
                        <a:buNone/>
                      </a:pPr>
                      <a:r>
                        <a:rPr lang="en-IL" sz="1400"/>
                        <a:t>AR (32‑bit)</a:t>
                      </a:r>
                    </a:p>
                  </a:txBody>
                  <a:tcPr marL="26940" marR="26940" marT="13470" marB="13470" anchor="ctr"/>
                </a:tc>
                <a:tc>
                  <a:txBody>
                    <a:bodyPr/>
                    <a:lstStyle/>
                    <a:p>
                      <a:pPr>
                        <a:buNone/>
                      </a:pPr>
                      <a:r>
                        <a:rPr lang="en-IL" sz="1400"/>
                        <a:t>4× INT8 loads; unpack; 4× MACs</a:t>
                      </a:r>
                    </a:p>
                  </a:txBody>
                  <a:tcPr marL="26940" marR="26940" marT="13470" marB="13470" anchor="ctr"/>
                </a:tc>
                <a:tc>
                  <a:txBody>
                    <a:bodyPr/>
                    <a:lstStyle/>
                    <a:p>
                      <a:pPr>
                        <a:buNone/>
                      </a:pPr>
                      <a:r>
                        <a:rPr lang="en-IL" sz="1400" dirty="0"/>
                        <a:t>15–21 cycles</a:t>
                      </a:r>
                    </a:p>
                  </a:txBody>
                  <a:tcPr marL="26940" marR="26940" marT="13470" marB="13470" anchor="ctr"/>
                </a:tc>
                <a:extLst>
                  <a:ext uri="{0D108BD9-81ED-4DB2-BD59-A6C34878D82A}">
                    <a16:rowId xmlns:a16="http://schemas.microsoft.com/office/drawing/2014/main" val="374286919"/>
                  </a:ext>
                </a:extLst>
              </a:tr>
            </a:tbl>
          </a:graphicData>
        </a:graphic>
      </p:graphicFrame>
    </p:spTree>
    <p:extLst>
      <p:ext uri="{BB962C8B-B14F-4D97-AF65-F5344CB8AC3E}">
        <p14:creationId xmlns:p14="http://schemas.microsoft.com/office/powerpoint/2010/main" val="41663098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E1D3B-A83A-5B06-1A73-ED858FCB3F2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97B2D34-C6B9-0D23-2673-7BB230038CEC}"/>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8011905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0CB0B-C43A-8C54-3945-563FB42F26F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C00507A-30CF-B5C3-6C1E-2313E00A1490}"/>
              </a:ext>
            </a:extLst>
          </p:cNvPr>
          <p:cNvPicPr>
            <a:picLocks noChangeAspect="1"/>
          </p:cNvPicPr>
          <p:nvPr/>
        </p:nvPicPr>
        <p:blipFill>
          <a:blip r:embed="rId2"/>
          <a:stretch>
            <a:fillRect/>
          </a:stretch>
        </p:blipFill>
        <p:spPr>
          <a:xfrm>
            <a:off x="0" y="-5865"/>
            <a:ext cx="12191999" cy="6863865"/>
          </a:xfrm>
          <a:prstGeom prst="rect">
            <a:avLst/>
          </a:prstGeom>
        </p:spPr>
      </p:pic>
    </p:spTree>
    <p:extLst>
      <p:ext uri="{BB962C8B-B14F-4D97-AF65-F5344CB8AC3E}">
        <p14:creationId xmlns:p14="http://schemas.microsoft.com/office/powerpoint/2010/main" val="41749394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4D74DE-D4DB-7DE9-9AF9-E35372973EC4}"/>
              </a:ext>
            </a:extLst>
          </p:cNvPr>
          <p:cNvPicPr>
            <a:picLocks noChangeAspect="1"/>
          </p:cNvPicPr>
          <p:nvPr/>
        </p:nvPicPr>
        <p:blipFill>
          <a:blip r:embed="rId2"/>
          <a:stretch>
            <a:fillRect/>
          </a:stretch>
        </p:blipFill>
        <p:spPr>
          <a:xfrm>
            <a:off x="1" y="-251"/>
            <a:ext cx="12192000" cy="6858251"/>
          </a:xfrm>
          <a:prstGeom prst="rect">
            <a:avLst/>
          </a:prstGeom>
        </p:spPr>
      </p:pic>
    </p:spTree>
    <p:extLst>
      <p:ext uri="{BB962C8B-B14F-4D97-AF65-F5344CB8AC3E}">
        <p14:creationId xmlns:p14="http://schemas.microsoft.com/office/powerpoint/2010/main" val="10161368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B537AC-E837-B5F3-A296-138BBF5C110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2675842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2169B5-5E28-854D-BF51-455DAFB7F57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757041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40002A-3C0A-42F4-FA17-44373F39F13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280703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E72694-4E98-7B79-569F-561E04FAC927}"/>
              </a:ext>
            </a:extLst>
          </p:cNvPr>
          <p:cNvPicPr>
            <a:picLocks noChangeAspect="1"/>
          </p:cNvPicPr>
          <p:nvPr/>
        </p:nvPicPr>
        <p:blipFill>
          <a:blip r:embed="rId2"/>
          <a:stretch>
            <a:fillRect/>
          </a:stretch>
        </p:blipFill>
        <p:spPr>
          <a:xfrm>
            <a:off x="1" y="518"/>
            <a:ext cx="12192000" cy="6857481"/>
          </a:xfrm>
          <a:prstGeom prst="rect">
            <a:avLst/>
          </a:prstGeom>
        </p:spPr>
      </p:pic>
    </p:spTree>
    <p:extLst>
      <p:ext uri="{BB962C8B-B14F-4D97-AF65-F5344CB8AC3E}">
        <p14:creationId xmlns:p14="http://schemas.microsoft.com/office/powerpoint/2010/main" val="6621315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1129E9-46B8-9434-AF10-0559B8851ACE}"/>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17610491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B332C0-2635-B630-7323-DAFFB87CD1AE}"/>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24305848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B70773-0D9F-520D-74AC-1D056CD76415}"/>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35148480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5F1AF8-186D-8838-87A5-4DAB695ABFF5}"/>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23937431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5612C4-0DA0-34BE-4502-F8E594FA5B9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366513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90CDBC-56B0-38E6-E95E-FB4EFAAC5EB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6397393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50FFB1-57B2-F2C5-899C-FE4069B22D8F}"/>
              </a:ext>
            </a:extLst>
          </p:cNvPr>
          <p:cNvPicPr>
            <a:picLocks noChangeAspect="1"/>
          </p:cNvPicPr>
          <p:nvPr/>
        </p:nvPicPr>
        <p:blipFill>
          <a:blip r:embed="rId2"/>
          <a:stretch>
            <a:fillRect/>
          </a:stretch>
        </p:blipFill>
        <p:spPr>
          <a:xfrm>
            <a:off x="0" y="-415"/>
            <a:ext cx="12191999" cy="6858415"/>
          </a:xfrm>
          <a:prstGeom prst="rect">
            <a:avLst/>
          </a:prstGeom>
        </p:spPr>
      </p:pic>
    </p:spTree>
    <p:extLst>
      <p:ext uri="{BB962C8B-B14F-4D97-AF65-F5344CB8AC3E}">
        <p14:creationId xmlns:p14="http://schemas.microsoft.com/office/powerpoint/2010/main" val="7842428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2107</TotalTime>
  <Words>7759</Words>
  <Application>Microsoft Office PowerPoint</Application>
  <PresentationFormat>Widescreen</PresentationFormat>
  <Paragraphs>767</Paragraphs>
  <Slides>44</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Aptos</vt:lpstr>
      <vt:lpstr>Arial</vt:lpstr>
      <vt:lpstr>Calibri</vt:lpstr>
      <vt:lpstr>Cambria</vt:lpstr>
      <vt:lpstr>Cambria Math</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Yoav Sheinberg</cp:lastModifiedBy>
  <cp:revision>17</cp:revision>
  <dcterms:created xsi:type="dcterms:W3CDTF">2013-01-27T09:14:16Z</dcterms:created>
  <dcterms:modified xsi:type="dcterms:W3CDTF">2026-09-27T17:37:25Z</dcterms:modified>
  <cp:category/>
</cp:coreProperties>
</file>